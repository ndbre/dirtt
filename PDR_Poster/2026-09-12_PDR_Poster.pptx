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291840" y="5387342"/>
            <a:ext cx="37307520" cy="11460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486400" y="17289782"/>
            <a:ext cx="32918400" cy="7947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/>
            </a:lvl1pPr>
            <a:lvl2pPr lvl="1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2pPr>
            <a:lvl3pPr lvl="2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3pPr>
            <a:lvl4pPr lvl="3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4pPr>
            <a:lvl5pPr lvl="4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5pPr>
            <a:lvl6pPr lvl="5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6pPr>
            <a:lvl7pPr lvl="6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7pPr>
            <a:lvl8pPr lvl="7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8pPr>
            <a:lvl9pPr lvl="8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994662" y="8206749"/>
            <a:ext cx="37856160" cy="13693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994662" y="22029429"/>
            <a:ext cx="3785616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9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864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0175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222199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23237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3023242" y="8069582"/>
            <a:ext cx="18568032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b="1" sz="1152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023242" y="12024360"/>
            <a:ext cx="18568032" cy="176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22219922" y="8069582"/>
            <a:ext cx="18659477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b="1" sz="1152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22219922" y="12024360"/>
            <a:ext cx="18659477" cy="176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20396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5360"/>
            </a:lvl1pPr>
            <a:lvl2pPr indent="-108204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40"/>
            </a:lvl2pPr>
            <a:lvl3pPr indent="-96012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3pPr>
            <a:lvl4pPr indent="-8382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4pPr>
            <a:lvl5pPr indent="-8382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5pPr>
            <a:lvl6pPr indent="-8382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6pPr>
            <a:lvl7pPr indent="-8382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7pPr>
            <a:lvl8pPr indent="-8382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8pPr>
            <a:lvl9pPr indent="-8382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1502389" y="278131"/>
            <a:ext cx="20886422" cy="3785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2193251" y="10968991"/>
            <a:ext cx="27896822" cy="946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2990851" y="1779271"/>
            <a:ext cx="27896822" cy="2784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b="0" i="0" sz="211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082040" lvl="0" marL="457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b="0" i="0" sz="13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60120" lvl="1" marL="914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b="0" i="0" sz="11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77240" lvl="3" marL="1828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77240" lvl="4" marL="22860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77240" lvl="5" marL="2743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77240" lvl="6" marL="3200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77240" lvl="7" marL="3657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77240" lvl="8" marL="4114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ers.usda.gov/amber-waves/2022/may/farmers-report-soil-related-resource-concerns-on-about-half-of-soybean-wheat-cotton-and-oat-fields" TargetMode="External"/><Relationship Id="rId10" Type="http://schemas.openxmlformats.org/officeDocument/2006/relationships/hyperlink" Target="http://ers.usda.gov" TargetMode="External"/><Relationship Id="rId13" Type="http://schemas.openxmlformats.org/officeDocument/2006/relationships/image" Target="../media/image2.jpg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hyperlink" Target="https://www.ers.usda.gov/data-products/ag-and-food-statistics-charting-the-essentials/agricultural-trade" TargetMode="External"/><Relationship Id="rId15" Type="http://schemas.openxmlformats.org/officeDocument/2006/relationships/image" Target="../media/image8.jpg"/><Relationship Id="rId14" Type="http://schemas.openxmlformats.org/officeDocument/2006/relationships/image" Target="../media/image5.png"/><Relationship Id="rId17" Type="http://schemas.openxmlformats.org/officeDocument/2006/relationships/image" Target="../media/image6.png"/><Relationship Id="rId16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hyperlink" Target="http://un.org" TargetMode="External"/><Relationship Id="rId7" Type="http://schemas.openxmlformats.org/officeDocument/2006/relationships/hyperlink" Target="https://www.un.org/en/chronicle/article/losing-25000-hunger-every-day" TargetMode="External"/><Relationship Id="rId8" Type="http://schemas.openxmlformats.org/officeDocument/2006/relationships/hyperlink" Target="http://ers.usda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7200" y="501444"/>
            <a:ext cx="42976800" cy="5486400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D.I.R.T.T. by Dirty Dawgs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Nolan Brechtel (Project Manager), George Utz (Chief Scientist), 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 Belew, Zachary Morrow, Rebecca Ueltschey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Electrical and Computer Engineering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Mississippi State University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04391" y="7602734"/>
            <a:ext cx="10928743" cy="2484515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SoilHawk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2146389" y="7693851"/>
            <a:ext cx="20242200" cy="24814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3083299" y="6387487"/>
            <a:ext cx="10405872" cy="2606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57199" y="6356556"/>
            <a:ext cx="10994503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 and Target User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457198" y="23645097"/>
            <a:ext cx="10961648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Competitive Advantages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66591" y="14729643"/>
            <a:ext cx="10985100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Previous Solutions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33101868" y="6356556"/>
            <a:ext cx="10387303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Broader Impact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2137104" y="6322251"/>
            <a:ext cx="20260794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Solution (Simple Infographic)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11665" y="8055422"/>
            <a:ext cx="98520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-"/>
            </a:pPr>
            <a:r>
              <a:rPr lang="en-US" sz="3600">
                <a:solidFill>
                  <a:schemeClr val="dk1"/>
                </a:solidFill>
              </a:rPr>
              <a:t>Approximately 25,000 people, including more than 10,000 children, die every day due to starvation [1]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-"/>
            </a:pPr>
            <a:r>
              <a:rPr lang="en-US" sz="3600">
                <a:solidFill>
                  <a:schemeClr val="dk1"/>
                </a:solidFill>
              </a:rPr>
              <a:t> Agricultural imports in the U.S. exceed its exports by $41 billion each year [2]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-"/>
            </a:pPr>
            <a:r>
              <a:rPr lang="en-US" sz="3600">
                <a:solidFill>
                  <a:schemeClr val="dk1"/>
                </a:solidFill>
              </a:rPr>
              <a:t>49% of U.S. crop fields struggle with poor health and resource concerns like nutrient imbalances [3]</a:t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37418" y="16352547"/>
            <a:ext cx="9852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D1725"/>
              </a:buClr>
              <a:buSzPts val="3600"/>
              <a:buChar char="●"/>
            </a:pPr>
            <a:r>
              <a:rPr b="1" lang="en-US" sz="3600">
                <a:solidFill>
                  <a:srgbClr val="5D1725"/>
                </a:solidFill>
              </a:rPr>
              <a:t>ROGO Soil Sampling Robot</a:t>
            </a:r>
            <a:endParaRPr b="1" sz="3600">
              <a:solidFill>
                <a:srgbClr val="5D1725"/>
              </a:solidFill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600"/>
              <a:buChar char="●"/>
            </a:pPr>
            <a:r>
              <a:rPr b="1" lang="en-US" sz="3600">
                <a:solidFill>
                  <a:srgbClr val="007FA3"/>
                </a:solidFill>
              </a:rPr>
              <a:t>Agrobot Lala </a:t>
            </a:r>
            <a:endParaRPr b="1" sz="3600">
              <a:solidFill>
                <a:srgbClr val="007FA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37418" y="25385409"/>
            <a:ext cx="98520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Inexpensive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Price is less than $1,000</a:t>
            </a:r>
            <a:endParaRPr sz="3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Small and Compact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Can easily be stored when out of use</a:t>
            </a:r>
            <a:endParaRPr sz="3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Solar Powered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No need for gas or any other power source</a:t>
            </a:r>
            <a:endParaRPr sz="3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Self-Contained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Can test soil </a:t>
            </a:r>
            <a:r>
              <a:rPr lang="en-US" sz="3800">
                <a:solidFill>
                  <a:schemeClr val="dk1"/>
                </a:solidFill>
              </a:rPr>
              <a:t>without needing to go to a set lab</a:t>
            </a:r>
            <a:endParaRPr sz="3800">
              <a:solidFill>
                <a:schemeClr val="dk1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3402135" y="8237541"/>
            <a:ext cx="9768300" cy="15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2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Customer Impact</a:t>
            </a:r>
            <a:endParaRPr b="1" sz="4000">
              <a:solidFill>
                <a:schemeClr val="dk1"/>
              </a:solidFill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Allows for testing both more quickly and around the clock</a:t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Broader Impact</a:t>
            </a:r>
            <a:endParaRPr b="1" sz="4000">
              <a:solidFill>
                <a:schemeClr val="dk1"/>
              </a:solidFill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Gives farmers the tools to make better food</a:t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Future Expansion</a:t>
            </a:r>
            <a:endParaRPr b="1" sz="4000">
              <a:solidFill>
                <a:schemeClr val="dk1"/>
              </a:solidFill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Swappable sensor to test for whatever users may want</a:t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-3887334" y="8593342"/>
            <a:ext cx="997527" cy="997527"/>
          </a:xfrm>
          <a:prstGeom prst="rect">
            <a:avLst/>
          </a:prstGeom>
          <a:solidFill>
            <a:srgbClr val="A943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-3887335" y="9895669"/>
            <a:ext cx="997527" cy="9975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-3887336" y="11197996"/>
            <a:ext cx="997527" cy="997527"/>
          </a:xfrm>
          <a:prstGeom prst="rect">
            <a:avLst/>
          </a:prstGeom>
          <a:solidFill>
            <a:srgbClr val="007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-3887336" y="12500323"/>
            <a:ext cx="997527" cy="997527"/>
          </a:xfrm>
          <a:prstGeom prst="rect">
            <a:avLst/>
          </a:prstGeom>
          <a:solidFill>
            <a:srgbClr val="8F9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-3887336" y="13802650"/>
            <a:ext cx="997527" cy="997527"/>
          </a:xfrm>
          <a:prstGeom prst="rect">
            <a:avLst/>
          </a:prstGeom>
          <a:solidFill>
            <a:srgbClr val="642F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-3887336" y="15102296"/>
            <a:ext cx="997527" cy="997527"/>
          </a:xfrm>
          <a:prstGeom prst="rect">
            <a:avLst/>
          </a:prstGeom>
          <a:solidFill>
            <a:srgbClr val="DAC7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-3887336" y="16401942"/>
            <a:ext cx="997527" cy="997527"/>
          </a:xfrm>
          <a:prstGeom prst="rect">
            <a:avLst/>
          </a:prstGeom>
          <a:solidFill>
            <a:srgbClr val="C1C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-3887336" y="17701588"/>
            <a:ext cx="997527" cy="997527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-3622801" y="19732200"/>
            <a:ext cx="457200" cy="4572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-5982570" y="21972926"/>
            <a:ext cx="517673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0.5” Square that can be </a:t>
            </a:r>
            <a:b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measuring </a:t>
            </a:r>
            <a:b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margins and spacing</a:t>
            </a:r>
            <a:endParaRPr/>
          </a:p>
        </p:txBody>
      </p:sp>
      <p:cxnSp>
        <p:nvCxnSpPr>
          <p:cNvPr id="108" name="Google Shape;108;p13"/>
          <p:cNvCxnSpPr>
            <a:stCxn id="107" idx="0"/>
          </p:cNvCxnSpPr>
          <p:nvPr/>
        </p:nvCxnSpPr>
        <p:spPr>
          <a:xfrm rot="10800000">
            <a:off x="-3394201" y="20409926"/>
            <a:ext cx="0" cy="15630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09" name="Google Shape;109;p13"/>
          <p:cNvSpPr txBox="1"/>
          <p:nvPr/>
        </p:nvSpPr>
        <p:spPr>
          <a:xfrm>
            <a:off x="-5425975" y="7602734"/>
            <a:ext cx="41848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Official MSU Colors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12137105" y="17195900"/>
            <a:ext cx="20242224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 Diagram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33083298" y="23835175"/>
            <a:ext cx="10461044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895" y="2359258"/>
            <a:ext cx="7961512" cy="1958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14605" y="943272"/>
            <a:ext cx="3949700" cy="4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701" y="17695861"/>
            <a:ext cx="4578518" cy="344365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007FA3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15" name="Google Shape;115;p13"/>
          <p:cNvSpPr txBox="1"/>
          <p:nvPr/>
        </p:nvSpPr>
        <p:spPr>
          <a:xfrm>
            <a:off x="33402125" y="25252300"/>
            <a:ext cx="9362100" cy="7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J. Holmes. “Losing 25,000 to Hunger Every Day.” </a:t>
            </a:r>
            <a:r>
              <a:rPr lang="en-US" sz="2900" u="sng">
                <a:solidFill>
                  <a:schemeClr val="hlink"/>
                </a:solidFill>
                <a:hlinkClick r:id="rId6"/>
              </a:rPr>
              <a:t>un.org</a:t>
            </a:r>
            <a:r>
              <a:rPr lang="en-US" sz="2900">
                <a:solidFill>
                  <a:schemeClr val="dk1"/>
                </a:solidFill>
              </a:rPr>
              <a:t>. Accessed: Sep. 9, 2026. [Online.] Available: </a:t>
            </a:r>
            <a:r>
              <a:rPr lang="en-US" sz="2900" u="sng">
                <a:solidFill>
                  <a:schemeClr val="hlink"/>
                </a:solidFill>
                <a:hlinkClick r:id="rId7"/>
              </a:rPr>
              <a:t>Losing 25,000 to Hunger Every Day | United Nations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J. Kaufman. “Ag and Food Statistics Charting the Essentials.” </a:t>
            </a:r>
            <a:r>
              <a:rPr lang="en-US" sz="2900" u="sng">
                <a:solidFill>
                  <a:schemeClr val="hlink"/>
                </a:solidFill>
                <a:hlinkClick r:id="rId8"/>
              </a:rPr>
              <a:t>ers.usda.gov</a:t>
            </a:r>
            <a:r>
              <a:rPr lang="en-US" sz="2900">
                <a:solidFill>
                  <a:schemeClr val="dk1"/>
                </a:solidFill>
              </a:rPr>
              <a:t>. Accessed: Sep. 9, 2026. [Online.] Available: </a:t>
            </a:r>
            <a:r>
              <a:rPr lang="en-US" sz="2900" u="sng">
                <a:solidFill>
                  <a:schemeClr val="hlink"/>
                </a:solidFill>
                <a:hlinkClick r:id="rId9"/>
              </a:rPr>
              <a:t>Ag and Food Statistics: Charting the Essentials - Agricultural Trade | Economic Research Service</a:t>
            </a: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A. B. Rosenberg and S. Wallander “Farmers Report Soil Related Resource Concerns on About Half of Soybean Wheat Cotton and Oat Fields.”</a:t>
            </a:r>
            <a:r>
              <a:rPr lang="en-US" sz="2900">
                <a:solidFill>
                  <a:schemeClr val="dk1"/>
                </a:solidFill>
              </a:rPr>
              <a:t> </a:t>
            </a:r>
            <a:r>
              <a:rPr lang="en-US" sz="2900" u="sng">
                <a:solidFill>
                  <a:schemeClr val="hlink"/>
                </a:solidFill>
                <a:hlinkClick r:id="rId10"/>
              </a:rPr>
              <a:t>ers.usda.gov</a:t>
            </a:r>
            <a:r>
              <a:rPr lang="en-US" sz="2900">
                <a:solidFill>
                  <a:schemeClr val="dk1"/>
                </a:solidFill>
              </a:rPr>
              <a:t>. Accessed: Sep. 9, 2026. [Online.] Available: </a:t>
            </a:r>
            <a:r>
              <a:rPr lang="en-US" sz="2900" u="sng">
                <a:solidFill>
                  <a:schemeClr val="hlink"/>
                </a:solidFill>
                <a:hlinkClick r:id="rId11"/>
              </a:rPr>
              <a:t>Farmers Report Soil-Related Resource Concerns on About Half of Soybean, Wheat, Cotton, and Oat Fields | Economic Research Service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746700" y="21376875"/>
            <a:ext cx="10387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5D1725"/>
              </a:buClr>
              <a:buSzPts val="3600"/>
              <a:buChar char="●"/>
            </a:pPr>
            <a:r>
              <a:rPr b="1" lang="en-US" sz="3600">
                <a:solidFill>
                  <a:srgbClr val="5D1725"/>
                </a:solidFill>
              </a:rPr>
              <a:t>Large, requires fuel to operate</a:t>
            </a:r>
            <a:endParaRPr b="1" sz="3600">
              <a:solidFill>
                <a:srgbClr val="5D1725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5D1725"/>
              </a:buClr>
              <a:buSzPts val="3600"/>
              <a:buChar char="●"/>
            </a:pPr>
            <a:r>
              <a:rPr b="1" lang="en-US" sz="3600">
                <a:solidFill>
                  <a:srgbClr val="5D1725"/>
                </a:solidFill>
              </a:rPr>
              <a:t>Expensive and is typically rented</a:t>
            </a:r>
            <a:endParaRPr b="1" sz="3600">
              <a:solidFill>
                <a:srgbClr val="5D1725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600"/>
              <a:buChar char="●"/>
            </a:pPr>
            <a:r>
              <a:rPr b="1" lang="en-US" sz="3600">
                <a:solidFill>
                  <a:srgbClr val="007FA3"/>
                </a:solidFill>
              </a:rPr>
              <a:t>Requires lab area set up to test soil</a:t>
            </a:r>
            <a:endParaRPr b="1" sz="3600">
              <a:solidFill>
                <a:srgbClr val="007FA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3600">
              <a:solidFill>
                <a:srgbClr val="5D1725"/>
              </a:solidFill>
            </a:endParaRPr>
          </a:p>
        </p:txBody>
      </p:sp>
      <p:pic>
        <p:nvPicPr>
          <p:cNvPr descr="Clock, watch, deadline, time management gray icon (Provided by Getty Images)" id="117" name="Google Shape;117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831675" y="10533550"/>
            <a:ext cx="2964301" cy="2964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ant   nature   leaf (Provided by Getty Images)" id="118" name="Google Shape;118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094925" y="16029300"/>
            <a:ext cx="2401198" cy="2401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3"/>
          <p:cNvPicPr preferRelativeResize="0"/>
          <p:nvPr/>
        </p:nvPicPr>
        <p:blipFill rotWithShape="1">
          <a:blip r:embed="rId14">
            <a:alphaModFix/>
          </a:blip>
          <a:srcRect b="0" l="9015" r="22010" t="0"/>
          <a:stretch/>
        </p:blipFill>
        <p:spPr>
          <a:xfrm>
            <a:off x="6441900" y="17695850"/>
            <a:ext cx="4578525" cy="344365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5D172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descr="the metal detector frame icon vector outline illustration (Provided by Getty Images)" id="120" name="Google Shape;120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6977613" y="20532775"/>
            <a:ext cx="2617252" cy="2617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title="DIRTT_Process_Diagram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938700" y="8002600"/>
            <a:ext cx="18607625" cy="88845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22" name="Google Shape;122;p13" title="DIRRT_System_Diagram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2570788" y="20189392"/>
            <a:ext cx="19360575" cy="11055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