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</p:sldIdLst>
  <p:sldSz cy="32918400" cx="438912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3291840" y="5387342"/>
            <a:ext cx="37307520" cy="1146048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5486400" y="17289782"/>
            <a:ext cx="32918400" cy="794765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/>
            </a:lvl1pPr>
            <a:lvl2pPr lvl="1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sz="9600"/>
            </a:lvl2pPr>
            <a:lvl3pPr lvl="2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sz="8640"/>
            </a:lvl3pPr>
            <a:lvl4pPr lvl="3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4pPr>
            <a:lvl5pPr lvl="4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5pPr>
            <a:lvl6pPr lvl="5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6pPr>
            <a:lvl7pPr lvl="6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7pPr>
            <a:lvl8pPr lvl="7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8pPr>
            <a:lvl9pPr lvl="8" algn="ctr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2994662" y="8206749"/>
            <a:ext cx="37856160" cy="136931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800"/>
              <a:buFont typeface="Calibri"/>
              <a:buNone/>
              <a:defRPr sz="28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2994662" y="22029429"/>
            <a:ext cx="3785616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sz="1152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9600"/>
              <a:buNone/>
              <a:defRPr sz="96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8640"/>
              <a:buNone/>
              <a:defRPr sz="864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rgbClr val="888888"/>
              </a:buClr>
              <a:buSzPts val="7680"/>
              <a:buNone/>
              <a:defRPr sz="768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30175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22219920" y="8763000"/>
            <a:ext cx="186537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3023237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3023242" y="8069582"/>
            <a:ext cx="18568032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b="1" sz="1152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3023242" y="12024360"/>
            <a:ext cx="18568032" cy="176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22219922" y="8069582"/>
            <a:ext cx="18659477" cy="395477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1520"/>
              <a:buNone/>
              <a:defRPr b="1" sz="1152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None/>
              <a:defRPr b="1" sz="960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None/>
              <a:defRPr b="1" sz="864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b="1" sz="768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22219922" y="12024360"/>
            <a:ext cx="18659477" cy="176860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20396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5360"/>
              <a:buChar char="•"/>
              <a:defRPr sz="15360"/>
            </a:lvl1pPr>
            <a:lvl2pPr indent="-108204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3440"/>
              <a:buChar char="•"/>
              <a:defRPr sz="13440"/>
            </a:lvl2pPr>
            <a:lvl3pPr indent="-96012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Char char="•"/>
              <a:defRPr sz="11520"/>
            </a:lvl3pPr>
            <a:lvl4pPr indent="-8382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4pPr>
            <a:lvl5pPr indent="-8382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5pPr>
            <a:lvl6pPr indent="-8382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6pPr>
            <a:lvl7pPr indent="-8382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7pPr>
            <a:lvl8pPr indent="-8382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8pPr>
            <a:lvl9pPr indent="-8382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Char char="•"/>
              <a:defRPr sz="96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3023237" y="2194560"/>
            <a:ext cx="14156054" cy="76809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360"/>
              <a:buFont typeface="Calibri"/>
              <a:buNone/>
              <a:defRPr sz="1536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8659477" y="4739647"/>
            <a:ext cx="22219920" cy="23393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3023237" y="9875520"/>
            <a:ext cx="14156054" cy="182956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7680"/>
              <a:buNone/>
              <a:defRPr sz="7680"/>
            </a:lvl1pPr>
            <a:lvl2pPr indent="-2286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720"/>
              <a:buNone/>
              <a:defRPr sz="6720"/>
            </a:lvl2pPr>
            <a:lvl3pPr indent="-2286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5760"/>
              <a:buNone/>
              <a:defRPr sz="5760"/>
            </a:lvl3pPr>
            <a:lvl4pPr indent="-2286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4pPr>
            <a:lvl5pPr indent="-2286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5pPr>
            <a:lvl6pPr indent="-2286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6pPr>
            <a:lvl7pPr indent="-2286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7pPr>
            <a:lvl8pPr indent="-2286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8pPr>
            <a:lvl9pPr indent="-2286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1502389" y="278131"/>
            <a:ext cx="20886422" cy="378561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22193251" y="10968991"/>
            <a:ext cx="27896822" cy="9464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2990851" y="1779271"/>
            <a:ext cx="27896822" cy="27843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017520" y="1752607"/>
            <a:ext cx="37856160" cy="6362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20"/>
              <a:buFont typeface="Calibri"/>
              <a:buNone/>
              <a:defRPr b="0" i="0" sz="211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017520" y="8763000"/>
            <a:ext cx="37856160" cy="208864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1082040" lvl="0" marL="457200" marR="0" rtl="0" algn="l">
              <a:lnSpc>
                <a:spcPct val="90000"/>
              </a:lnSpc>
              <a:spcBef>
                <a:spcPts val="4800"/>
              </a:spcBef>
              <a:spcAft>
                <a:spcPts val="0"/>
              </a:spcAft>
              <a:buClr>
                <a:schemeClr val="dk1"/>
              </a:buClr>
              <a:buSzPts val="13440"/>
              <a:buFont typeface="Arial"/>
              <a:buChar char="•"/>
              <a:defRPr b="0" i="0" sz="134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960120" lvl="1" marL="914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11520"/>
              <a:buFont typeface="Arial"/>
              <a:buChar char="•"/>
              <a:defRPr b="0" i="0" sz="1152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838200" lvl="2" marL="1371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Arial"/>
              <a:buChar char="•"/>
              <a:defRPr b="0" i="0" sz="9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777240" lvl="3" marL="1828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777240" lvl="4" marL="22860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777240" lvl="5" marL="27432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777240" lvl="6" marL="32004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777240" lvl="7" marL="36576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777240" lvl="8" marL="4114800" marR="0" rtl="0" algn="l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8640"/>
              <a:buFont typeface="Arial"/>
              <a:buChar char="•"/>
              <a:defRPr b="0" i="0" sz="864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01752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14538960" y="30510487"/>
            <a:ext cx="1481328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30998160" y="30510487"/>
            <a:ext cx="987552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576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hyperlink" Target="https://www.ers.usda.gov/amber-waves/2022/may/farmers-report-soil-related-resource-concerns-on-about-half-of-soybean-wheat-cotton-and-oat-fields" TargetMode="External"/><Relationship Id="rId10" Type="http://schemas.openxmlformats.org/officeDocument/2006/relationships/hyperlink" Target="http://ers.usda.gov" TargetMode="External"/><Relationship Id="rId13" Type="http://schemas.openxmlformats.org/officeDocument/2006/relationships/image" Target="../media/image7.png"/><Relationship Id="rId1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9" Type="http://schemas.openxmlformats.org/officeDocument/2006/relationships/hyperlink" Target="https://www.ers.usda.gov/data-products/ag-and-food-statistics-charting-the-essentials/agricultural-trade" TargetMode="External"/><Relationship Id="rId15" Type="http://schemas.openxmlformats.org/officeDocument/2006/relationships/image" Target="../media/image2.jpg"/><Relationship Id="rId14" Type="http://schemas.openxmlformats.org/officeDocument/2006/relationships/image" Target="../media/image8.jpg"/><Relationship Id="rId17" Type="http://schemas.openxmlformats.org/officeDocument/2006/relationships/image" Target="../media/image6.png"/><Relationship Id="rId16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hyperlink" Target="http://un.org" TargetMode="External"/><Relationship Id="rId7" Type="http://schemas.openxmlformats.org/officeDocument/2006/relationships/hyperlink" Target="https://www.un.org/en/chronicle/article/losing-25000-hunger-every-day" TargetMode="External"/><Relationship Id="rId8" Type="http://schemas.openxmlformats.org/officeDocument/2006/relationships/hyperlink" Target="http://ers.usda.gov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43891200" cy="32918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457200" y="501444"/>
            <a:ext cx="42976800" cy="5486400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D.I.R.T.T. by Dirty Dawgs</a:t>
            </a:r>
            <a:endParaRPr/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Nolan Brechtel (Project Manager), George Utz (Chief Scientist), 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4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Cara Belew, Zachary Morrow, Rebecca Ueltschey</a:t>
            </a:r>
            <a:endParaRPr b="1" i="0" sz="4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spcBef>
                <a:spcPts val="24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Department of Electrical and Computer Engineering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Mississippi State University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04391" y="7602734"/>
            <a:ext cx="10928743" cy="2484515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SoilHawk 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12146389" y="7693851"/>
            <a:ext cx="20242200" cy="248142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33083299" y="6387487"/>
            <a:ext cx="10405872" cy="260604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457199" y="6356556"/>
            <a:ext cx="10994503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Problem and Target User</a:t>
            </a:r>
            <a:endParaRPr/>
          </a:p>
        </p:txBody>
      </p:sp>
      <p:sp>
        <p:nvSpPr>
          <p:cNvPr id="90" name="Google Shape;90;p13"/>
          <p:cNvSpPr/>
          <p:nvPr/>
        </p:nvSpPr>
        <p:spPr>
          <a:xfrm>
            <a:off x="457198" y="23645097"/>
            <a:ext cx="10961648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Competitive Advantages</a:t>
            </a:r>
            <a:endParaRPr/>
          </a:p>
        </p:txBody>
      </p:sp>
      <p:sp>
        <p:nvSpPr>
          <p:cNvPr id="91" name="Google Shape;91;p13"/>
          <p:cNvSpPr/>
          <p:nvPr/>
        </p:nvSpPr>
        <p:spPr>
          <a:xfrm>
            <a:off x="466591" y="14729643"/>
            <a:ext cx="10985100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Previous Solutions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33101868" y="6356556"/>
            <a:ext cx="10387303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Broader Impact</a:t>
            </a:r>
            <a:endParaRPr/>
          </a:p>
        </p:txBody>
      </p:sp>
      <p:sp>
        <p:nvSpPr>
          <p:cNvPr id="93" name="Google Shape;93;p13"/>
          <p:cNvSpPr/>
          <p:nvPr/>
        </p:nvSpPr>
        <p:spPr>
          <a:xfrm>
            <a:off x="12137104" y="6322251"/>
            <a:ext cx="20260794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Solution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711665" y="8055422"/>
            <a:ext cx="9852000" cy="64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Approximately 25,000 people, including more than 10,000 children, die every day due to starvation [1]</a:t>
            </a:r>
            <a:endParaRPr sz="3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 Agricultural imports in the U.S. exceed its exports by $41 billion each year [2]</a:t>
            </a:r>
            <a:endParaRPr sz="3800"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-469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49% of U.S. crop fields struggle with poor health and resource concerns like nutrient imbalances [3]</a:t>
            </a:r>
            <a:endParaRPr sz="3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13"/>
          <p:cNvSpPr txBox="1"/>
          <p:nvPr/>
        </p:nvSpPr>
        <p:spPr>
          <a:xfrm>
            <a:off x="6378984" y="16502225"/>
            <a:ext cx="4184700" cy="674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5D1725"/>
              </a:buClr>
              <a:buSzPts val="3600"/>
              <a:buChar char="●"/>
            </a:pPr>
            <a:r>
              <a:rPr b="1" lang="en-US" sz="3600">
                <a:solidFill>
                  <a:srgbClr val="5D1725"/>
                </a:solidFill>
              </a:rPr>
              <a:t>ROGO Soil Sampling Robot</a:t>
            </a:r>
            <a:endParaRPr b="1" sz="3600">
              <a:solidFill>
                <a:srgbClr val="007FA3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5D1725"/>
              </a:buClr>
              <a:buSzPts val="3600"/>
              <a:buChar char="●"/>
            </a:pPr>
            <a:r>
              <a:rPr b="1" lang="en-US" sz="3600">
                <a:solidFill>
                  <a:srgbClr val="5D1725"/>
                </a:solidFill>
              </a:rPr>
              <a:t>Large, requires fuel to operate</a:t>
            </a:r>
            <a:endParaRPr b="1" sz="3600">
              <a:solidFill>
                <a:srgbClr val="5D1725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5D1725"/>
              </a:buClr>
              <a:buSzPts val="3600"/>
              <a:buChar char="●"/>
            </a:pPr>
            <a:r>
              <a:rPr b="1" lang="en-US" sz="3600">
                <a:solidFill>
                  <a:srgbClr val="5D1725"/>
                </a:solidFill>
              </a:rPr>
              <a:t>Expensive and is typically rented</a:t>
            </a:r>
            <a:endParaRPr b="1" sz="3600">
              <a:solidFill>
                <a:srgbClr val="5D1725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600"/>
              <a:buChar char="●"/>
            </a:pPr>
            <a:r>
              <a:rPr b="1" lang="en-US" sz="3600">
                <a:solidFill>
                  <a:srgbClr val="007FA3"/>
                </a:solidFill>
              </a:rPr>
              <a:t>Agrobot Lala</a:t>
            </a:r>
            <a:endParaRPr b="1" sz="3600">
              <a:solidFill>
                <a:srgbClr val="5D1725"/>
              </a:solidFill>
            </a:endParaRPr>
          </a:p>
          <a:p>
            <a:pPr indent="-457200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7FA3"/>
              </a:buClr>
              <a:buSzPts val="3600"/>
              <a:buChar char="●"/>
            </a:pPr>
            <a:r>
              <a:rPr b="1" lang="en-US" sz="3600">
                <a:solidFill>
                  <a:srgbClr val="007FA3"/>
                </a:solidFill>
              </a:rPr>
              <a:t>Requires lab area set up to test soil </a:t>
            </a:r>
            <a:endParaRPr b="1" sz="3600">
              <a:solidFill>
                <a:srgbClr val="007FA3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737418" y="25385409"/>
            <a:ext cx="98520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Inexpensive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Price is less than $1,000</a:t>
            </a:r>
            <a:endParaRPr sz="3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Small and Compact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Can easily be stored when out of use</a:t>
            </a:r>
            <a:endParaRPr sz="3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Solar Powered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No need for gas or any other power source</a:t>
            </a:r>
            <a:endParaRPr sz="3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800">
                <a:solidFill>
                  <a:schemeClr val="dk1"/>
                </a:solidFill>
              </a:rPr>
              <a:t>Self-Contained</a:t>
            </a:r>
            <a:endParaRPr b="1" sz="3800">
              <a:solidFill>
                <a:schemeClr val="dk1"/>
              </a:solidFill>
            </a:endParaRPr>
          </a:p>
          <a:p>
            <a:pPr indent="-4699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Char char="●"/>
            </a:pPr>
            <a:r>
              <a:rPr lang="en-US" sz="3800">
                <a:solidFill>
                  <a:schemeClr val="dk1"/>
                </a:solidFill>
              </a:rPr>
              <a:t>Can test soil </a:t>
            </a:r>
            <a:r>
              <a:rPr lang="en-US" sz="3800">
                <a:solidFill>
                  <a:schemeClr val="dk1"/>
                </a:solidFill>
              </a:rPr>
              <a:t>without needing to go to a set lab</a:t>
            </a:r>
            <a:endParaRPr sz="3800">
              <a:solidFill>
                <a:schemeClr val="dk1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33402135" y="8237541"/>
            <a:ext cx="9768300" cy="1597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82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Customer Impact</a:t>
            </a:r>
            <a:endParaRPr b="1" sz="4000">
              <a:solidFill>
                <a:schemeClr val="dk1"/>
              </a:solidFill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Allows for testing both more quickly and around the clock</a:t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Broader Impact</a:t>
            </a:r>
            <a:endParaRPr b="1" sz="4000">
              <a:solidFill>
                <a:schemeClr val="dk1"/>
              </a:solidFill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Gives farmers the tools to make more nutritious food </a:t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4000">
              <a:solidFill>
                <a:schemeClr val="dk1"/>
              </a:solidFill>
            </a:endParaRPr>
          </a:p>
          <a:p>
            <a:pPr indent="-482600" lvl="0" marL="4572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</a:pPr>
            <a:r>
              <a:rPr b="1" lang="en-US" sz="4000">
                <a:solidFill>
                  <a:schemeClr val="dk1"/>
                </a:solidFill>
              </a:rPr>
              <a:t>Future Expansion</a:t>
            </a:r>
            <a:endParaRPr b="1" sz="4000">
              <a:solidFill>
                <a:schemeClr val="dk1"/>
              </a:solidFill>
            </a:endParaRPr>
          </a:p>
          <a:p>
            <a:pPr indent="-457200" lvl="1" marL="9144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Swappable sensor to test for air pollution, noise pollution, poison, etc</a:t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98" name="Google Shape;98;p13"/>
          <p:cNvSpPr/>
          <p:nvPr/>
        </p:nvSpPr>
        <p:spPr>
          <a:xfrm>
            <a:off x="-3887334" y="8593342"/>
            <a:ext cx="997527" cy="997527"/>
          </a:xfrm>
          <a:prstGeom prst="rect">
            <a:avLst/>
          </a:prstGeom>
          <a:solidFill>
            <a:srgbClr val="A9431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3"/>
          <p:cNvSpPr/>
          <p:nvPr/>
        </p:nvSpPr>
        <p:spPr>
          <a:xfrm>
            <a:off x="-3887335" y="9895669"/>
            <a:ext cx="997527" cy="997527"/>
          </a:xfrm>
          <a:prstGeom prst="rect">
            <a:avLst/>
          </a:prstGeom>
          <a:solidFill>
            <a:srgbClr val="FFB8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/>
          <p:nvPr/>
        </p:nvSpPr>
        <p:spPr>
          <a:xfrm>
            <a:off x="-3887336" y="11197996"/>
            <a:ext cx="997527" cy="997527"/>
          </a:xfrm>
          <a:prstGeom prst="rect">
            <a:avLst/>
          </a:prstGeom>
          <a:solidFill>
            <a:srgbClr val="007FA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3"/>
          <p:cNvSpPr/>
          <p:nvPr/>
        </p:nvSpPr>
        <p:spPr>
          <a:xfrm>
            <a:off x="-3887336" y="12500323"/>
            <a:ext cx="997527" cy="997527"/>
          </a:xfrm>
          <a:prstGeom prst="rect">
            <a:avLst/>
          </a:prstGeom>
          <a:solidFill>
            <a:srgbClr val="8F99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/>
          <p:nvPr/>
        </p:nvSpPr>
        <p:spPr>
          <a:xfrm>
            <a:off x="-3887336" y="13802650"/>
            <a:ext cx="997527" cy="997527"/>
          </a:xfrm>
          <a:prstGeom prst="rect">
            <a:avLst/>
          </a:prstGeom>
          <a:solidFill>
            <a:srgbClr val="642F6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/>
          <p:nvPr/>
        </p:nvSpPr>
        <p:spPr>
          <a:xfrm>
            <a:off x="-3887336" y="15102296"/>
            <a:ext cx="997527" cy="997527"/>
          </a:xfrm>
          <a:prstGeom prst="rect">
            <a:avLst/>
          </a:prstGeom>
          <a:solidFill>
            <a:srgbClr val="DAC79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3"/>
          <p:cNvSpPr/>
          <p:nvPr/>
        </p:nvSpPr>
        <p:spPr>
          <a:xfrm>
            <a:off x="-3887336" y="16401942"/>
            <a:ext cx="997527" cy="997527"/>
          </a:xfrm>
          <a:prstGeom prst="rect">
            <a:avLst/>
          </a:prstGeom>
          <a:solidFill>
            <a:srgbClr val="C1C6C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/>
          <p:nvPr/>
        </p:nvSpPr>
        <p:spPr>
          <a:xfrm>
            <a:off x="-3887336" y="17701588"/>
            <a:ext cx="997527" cy="997527"/>
          </a:xfrm>
          <a:prstGeom prst="rect">
            <a:avLst/>
          </a:prstGeom>
          <a:solidFill>
            <a:srgbClr val="5D172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3"/>
          <p:cNvSpPr/>
          <p:nvPr/>
        </p:nvSpPr>
        <p:spPr>
          <a:xfrm>
            <a:off x="-3622801" y="19732200"/>
            <a:ext cx="457200" cy="457200"/>
          </a:xfrm>
          <a:prstGeom prst="rect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3"/>
          <p:cNvSpPr txBox="1"/>
          <p:nvPr/>
        </p:nvSpPr>
        <p:spPr>
          <a:xfrm>
            <a:off x="-5982570" y="21972926"/>
            <a:ext cx="5176738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0.5” Square that can be </a:t>
            </a:r>
            <a:b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used for measuring </a:t>
            </a:r>
            <a:b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margins and spacing</a:t>
            </a:r>
            <a:endParaRPr/>
          </a:p>
        </p:txBody>
      </p:sp>
      <p:cxnSp>
        <p:nvCxnSpPr>
          <p:cNvPr id="108" name="Google Shape;108;p13"/>
          <p:cNvCxnSpPr>
            <a:stCxn id="107" idx="0"/>
          </p:cNvCxnSpPr>
          <p:nvPr/>
        </p:nvCxnSpPr>
        <p:spPr>
          <a:xfrm rot="10800000">
            <a:off x="-3394201" y="20409926"/>
            <a:ext cx="0" cy="1563000"/>
          </a:xfrm>
          <a:prstGeom prst="straightConnector1">
            <a:avLst/>
          </a:prstGeom>
          <a:noFill/>
          <a:ln cap="flat" cmpd="sng" w="76200">
            <a:solidFill>
              <a:schemeClr val="accent1"/>
            </a:solidFill>
            <a:prstDash val="solid"/>
            <a:miter lim="8000"/>
            <a:headEnd len="sm" w="sm" type="none"/>
            <a:tailEnd len="med" w="med" type="triangle"/>
          </a:ln>
        </p:spPr>
      </p:cxnSp>
      <p:sp>
        <p:nvSpPr>
          <p:cNvPr id="109" name="Google Shape;109;p13"/>
          <p:cNvSpPr txBox="1"/>
          <p:nvPr/>
        </p:nvSpPr>
        <p:spPr>
          <a:xfrm>
            <a:off x="-5425975" y="7602734"/>
            <a:ext cx="418480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Official MSU Colors</a:t>
            </a:r>
            <a:endParaRPr/>
          </a:p>
        </p:txBody>
      </p:sp>
      <p:sp>
        <p:nvSpPr>
          <p:cNvPr id="110" name="Google Shape;110;p13"/>
          <p:cNvSpPr/>
          <p:nvPr/>
        </p:nvSpPr>
        <p:spPr>
          <a:xfrm>
            <a:off x="12137105" y="17195900"/>
            <a:ext cx="20242224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System Diagram</a:t>
            </a:r>
            <a:endParaRPr/>
          </a:p>
        </p:txBody>
      </p:sp>
      <p:sp>
        <p:nvSpPr>
          <p:cNvPr id="111" name="Google Shape;111;p13"/>
          <p:cNvSpPr/>
          <p:nvPr/>
        </p:nvSpPr>
        <p:spPr>
          <a:xfrm>
            <a:off x="33083298" y="23835175"/>
            <a:ext cx="10461044" cy="1371600"/>
          </a:xfrm>
          <a:prstGeom prst="rect">
            <a:avLst/>
          </a:prstGeom>
          <a:solidFill>
            <a:srgbClr val="5D1725"/>
          </a:solidFill>
          <a:ln cap="flat" cmpd="sng" w="12700">
            <a:solidFill>
              <a:srgbClr val="31538F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/>
          </a:p>
        </p:txBody>
      </p:sp>
      <p:pic>
        <p:nvPicPr>
          <p:cNvPr id="112" name="Google Shape;11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26895" y="2359258"/>
            <a:ext cx="7961512" cy="19587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814605" y="943272"/>
            <a:ext cx="3949700" cy="462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26901" y="19981161"/>
            <a:ext cx="4578518" cy="344365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007FA3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115" name="Google Shape;115;p13"/>
          <p:cNvSpPr txBox="1"/>
          <p:nvPr/>
        </p:nvSpPr>
        <p:spPr>
          <a:xfrm>
            <a:off x="33402125" y="25252300"/>
            <a:ext cx="9362100" cy="706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J. Holmes. “Losing 25,000 to Hunger Every Day.” </a:t>
            </a:r>
            <a:r>
              <a:rPr lang="en-US" sz="2900" u="sng">
                <a:solidFill>
                  <a:schemeClr val="hlink"/>
                </a:solidFill>
                <a:hlinkClick r:id="rId6"/>
              </a:rPr>
              <a:t>un.org</a:t>
            </a:r>
            <a:r>
              <a:rPr lang="en-US" sz="2900">
                <a:solidFill>
                  <a:schemeClr val="dk1"/>
                </a:solidFill>
              </a:rPr>
              <a:t>. Accessed: Sep. 9, 2026. [Online.] Available: </a:t>
            </a:r>
            <a:r>
              <a:rPr lang="en-US" sz="2900" u="sng">
                <a:solidFill>
                  <a:schemeClr val="hlink"/>
                </a:solidFill>
                <a:hlinkClick r:id="rId7"/>
              </a:rPr>
              <a:t>Losing 25,000 to Hunger Every Day | United Nations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J. Kaufman. “Ag and Food Statistics Charting the Essentials.” </a:t>
            </a:r>
            <a:r>
              <a:rPr lang="en-US" sz="2900" u="sng">
                <a:solidFill>
                  <a:schemeClr val="hlink"/>
                </a:solidFill>
                <a:hlinkClick r:id="rId8"/>
              </a:rPr>
              <a:t>ers.usda.gov</a:t>
            </a:r>
            <a:r>
              <a:rPr lang="en-US" sz="2900">
                <a:solidFill>
                  <a:schemeClr val="dk1"/>
                </a:solidFill>
              </a:rPr>
              <a:t>. Accessed: Sep. 9, 2026. [Online.] Available: </a:t>
            </a:r>
            <a:r>
              <a:rPr lang="en-US" sz="2900" u="sng">
                <a:solidFill>
                  <a:schemeClr val="hlink"/>
                </a:solidFill>
                <a:hlinkClick r:id="rId9"/>
              </a:rPr>
              <a:t>Ag and Food Statistics: Charting the Essentials - Agricultural Trade | Economic Research Service</a:t>
            </a:r>
            <a:r>
              <a:rPr lang="en-US" sz="2900">
                <a:solidFill>
                  <a:schemeClr val="dk1"/>
                </a:solidFill>
              </a:rPr>
              <a:t> </a:t>
            </a:r>
            <a:endParaRPr sz="2900">
              <a:solidFill>
                <a:schemeClr val="dk1"/>
              </a:solidFill>
            </a:endParaRPr>
          </a:p>
          <a:p>
            <a:pPr indent="-4127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900"/>
              <a:buAutoNum type="arabicPeriod"/>
            </a:pPr>
            <a:r>
              <a:rPr lang="en-US" sz="2900">
                <a:solidFill>
                  <a:schemeClr val="dk1"/>
                </a:solidFill>
              </a:rPr>
              <a:t>A. B. Rosenberg and S. Wallander “Farmers Report Soil Related Resource Concerns on About Half of Soybean Wheat Cotton and Oat Fields.”</a:t>
            </a:r>
            <a:r>
              <a:rPr lang="en-US" sz="2900">
                <a:solidFill>
                  <a:schemeClr val="dk1"/>
                </a:solidFill>
              </a:rPr>
              <a:t> </a:t>
            </a:r>
            <a:r>
              <a:rPr lang="en-US" sz="2900" u="sng">
                <a:solidFill>
                  <a:schemeClr val="hlink"/>
                </a:solidFill>
                <a:hlinkClick r:id="rId10"/>
              </a:rPr>
              <a:t>ers.usda.gov</a:t>
            </a:r>
            <a:r>
              <a:rPr lang="en-US" sz="2900">
                <a:solidFill>
                  <a:schemeClr val="dk1"/>
                </a:solidFill>
              </a:rPr>
              <a:t>. Accessed: Sep. 9, 2026. [Online.] Available: </a:t>
            </a:r>
            <a:r>
              <a:rPr lang="en-US" sz="2900" u="sng">
                <a:solidFill>
                  <a:schemeClr val="hlink"/>
                </a:solidFill>
                <a:hlinkClick r:id="rId11"/>
              </a:rPr>
              <a:t>Farmers Report Soil-Related Resource Concerns on About Half of Soybean, Wheat, Cotton, and Oat Fields | Economic Research Service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lock, watch, deadline, time management gray icon (Provided by Getty Images)" id="116" name="Google Shape;116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36644222" y="10257797"/>
            <a:ext cx="2877926" cy="28779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3"/>
          <p:cNvPicPr preferRelativeResize="0"/>
          <p:nvPr/>
        </p:nvPicPr>
        <p:blipFill rotWithShape="1">
          <a:blip r:embed="rId13">
            <a:alphaModFix/>
          </a:blip>
          <a:srcRect b="0" l="9015" r="22010" t="0"/>
          <a:stretch/>
        </p:blipFill>
        <p:spPr>
          <a:xfrm>
            <a:off x="1126900" y="16321550"/>
            <a:ext cx="4578525" cy="3443650"/>
          </a:xfrm>
          <a:prstGeom prst="rect">
            <a:avLst/>
          </a:prstGeom>
          <a:solidFill>
            <a:schemeClr val="lt1"/>
          </a:solidFill>
          <a:ln cap="flat" cmpd="sng" w="76200">
            <a:solidFill>
              <a:srgbClr val="5D1725"/>
            </a:solidFill>
            <a:prstDash val="solid"/>
            <a:miter lim="8000"/>
            <a:headEnd len="sm" w="sm" type="none"/>
            <a:tailEnd len="sm" w="sm" type="none"/>
          </a:ln>
        </p:spPr>
      </p:pic>
      <p:pic>
        <p:nvPicPr>
          <p:cNvPr descr="the metal detector frame icon vector outline illustration (Provided by Getty Images)" id="118" name="Google Shape;118;p1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36644225" y="20847525"/>
            <a:ext cx="2877926" cy="287790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lant   nature   leaf (Provided by Getty Images)" id="119" name="Google Shape;119;p1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6644224" y="15690636"/>
            <a:ext cx="2877926" cy="2877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3" title="1.png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2448088" y="19349446"/>
            <a:ext cx="19620250" cy="120740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3" title="2.png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12352368" y="7770928"/>
            <a:ext cx="19898301" cy="93478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