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sldIdLst>
    <p:sldId id="256" r:id="rId5"/>
    <p:sldId id="257" r:id="rId6"/>
    <p:sldId id="259" r:id="rId7"/>
    <p:sldId id="260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6C0D"/>
    <a:srgbClr val="F0AF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9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0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7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0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7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2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10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11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64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39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7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9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485AF1-F1B7-0D34-6D8B-E4936A377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7" t="9091" r="35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4416"/>
            <a:ext cx="12191999" cy="124358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C3525-DF39-B5AC-ED1D-34264A80E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68969"/>
            <a:ext cx="8183880" cy="9601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D.I.R.T.T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39EE4-F279-3D95-2187-EEACC2FC2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7245" y="5768969"/>
            <a:ext cx="3399681" cy="9559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600"/>
              <a:t>An affordable, autonomous robot that collects and analyzes soil samples across crop fields.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7AF49-4658-94CE-5E0A-A71B1CF7033A}"/>
              </a:ext>
            </a:extLst>
          </p:cNvPr>
          <p:cNvSpPr txBox="1"/>
          <p:nvPr/>
        </p:nvSpPr>
        <p:spPr>
          <a:xfrm>
            <a:off x="320039" y="6424213"/>
            <a:ext cx="5046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Digital Instrument for Remote Terrain Testing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65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898E94-B616-53FC-08D3-1A6FA0F1D9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3ED116-C4CE-9C9B-DD25-116667C05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3879523" cy="53267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0" dirty="0">
                <a:ln w="0"/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 Members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509C0B8-066E-4A85-BCDF-CA53A42D9F94}"/>
              </a:ext>
            </a:extLst>
          </p:cNvPr>
          <p:cNvSpPr/>
          <p:nvPr/>
        </p:nvSpPr>
        <p:spPr>
          <a:xfrm>
            <a:off x="4245356" y="1629954"/>
            <a:ext cx="3701288" cy="2229749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George Utz</a:t>
            </a:r>
          </a:p>
          <a:p>
            <a:pPr algn="ctr"/>
            <a:r>
              <a:rPr lang="en-US" sz="13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Chief Scientist | Power &amp; Charging Lead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489890C-EB42-03E7-BCCE-E2A39E2EBECA}"/>
              </a:ext>
            </a:extLst>
          </p:cNvPr>
          <p:cNvSpPr/>
          <p:nvPr/>
        </p:nvSpPr>
        <p:spPr>
          <a:xfrm>
            <a:off x="337312" y="1629953"/>
            <a:ext cx="3701288" cy="2229749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Nolan Brechtel</a:t>
            </a:r>
          </a:p>
          <a:p>
            <a:pPr algn="ctr"/>
            <a:r>
              <a:rPr lang="en-US" sz="13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 Manager | Navigation Lead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2A25DD7-74BB-271D-DF03-E9CCFCE72566}"/>
              </a:ext>
            </a:extLst>
          </p:cNvPr>
          <p:cNvSpPr/>
          <p:nvPr/>
        </p:nvSpPr>
        <p:spPr>
          <a:xfrm>
            <a:off x="8153400" y="1629952"/>
            <a:ext cx="3701288" cy="2229749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Cara Belew</a:t>
            </a:r>
          </a:p>
          <a:p>
            <a:pPr algn="ctr"/>
            <a:r>
              <a:rPr lang="en-US" sz="13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Backup &amp; Control Lead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2908C9D-1B47-E7B2-F65B-E34ECDDFC701}"/>
              </a:ext>
            </a:extLst>
          </p:cNvPr>
          <p:cNvSpPr/>
          <p:nvPr/>
        </p:nvSpPr>
        <p:spPr>
          <a:xfrm>
            <a:off x="4245356" y="4079611"/>
            <a:ext cx="3701288" cy="2229749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Rebecca Ueltschey</a:t>
            </a:r>
          </a:p>
          <a:p>
            <a:pPr algn="ctr"/>
            <a:r>
              <a:rPr lang="en-US" sz="13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Drivetrain Lead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BB05BA5-A726-0F55-50AB-2D6E9637A6BD}"/>
              </a:ext>
            </a:extLst>
          </p:cNvPr>
          <p:cNvSpPr/>
          <p:nvPr/>
        </p:nvSpPr>
        <p:spPr>
          <a:xfrm>
            <a:off x="337312" y="4079610"/>
            <a:ext cx="3701288" cy="2229749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Zachary Morrow</a:t>
            </a:r>
          </a:p>
          <a:p>
            <a:pPr algn="ctr"/>
            <a:r>
              <a:rPr lang="en-US" sz="13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Soil Testing Lead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9B1ADC5-BA7E-5FB6-8BC8-FBEC9930A269}"/>
              </a:ext>
            </a:extLst>
          </p:cNvPr>
          <p:cNvSpPr/>
          <p:nvPr/>
        </p:nvSpPr>
        <p:spPr>
          <a:xfrm>
            <a:off x="8153400" y="4079609"/>
            <a:ext cx="3701288" cy="2229749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Dr. Chrsitopher Hudson</a:t>
            </a:r>
          </a:p>
          <a:p>
            <a:pPr algn="ctr"/>
            <a:r>
              <a:rPr lang="en-US" sz="13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Faculty Advisor</a:t>
            </a:r>
          </a:p>
        </p:txBody>
      </p:sp>
    </p:spTree>
    <p:extLst>
      <p:ext uri="{BB962C8B-B14F-4D97-AF65-F5344CB8AC3E}">
        <p14:creationId xmlns:p14="http://schemas.microsoft.com/office/powerpoint/2010/main" val="2784864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2C5C8-17B6-4E1B-1FFD-A7A96AB4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D6E67A-7BD4-D5CE-8637-E042F1B00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5BB4BD-54BC-4B07-F8F9-E6652722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599" y="590368"/>
            <a:ext cx="3879523" cy="53267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0" dirty="0">
                <a:ln w="0"/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Problem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D35DFDA-4487-38A6-4862-1C6C4E439F91}"/>
              </a:ext>
            </a:extLst>
          </p:cNvPr>
          <p:cNvSpPr/>
          <p:nvPr/>
        </p:nvSpPr>
        <p:spPr>
          <a:xfrm>
            <a:off x="337312" y="1629953"/>
            <a:ext cx="5134098" cy="467940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25,000</a:t>
            </a:r>
          </a:p>
          <a:p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$41B</a:t>
            </a:r>
          </a:p>
          <a:p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49%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B8234-71B9-EEB0-22E9-87D8293DB7C8}"/>
              </a:ext>
            </a:extLst>
          </p:cNvPr>
          <p:cNvSpPr txBox="1"/>
          <p:nvPr/>
        </p:nvSpPr>
        <p:spPr>
          <a:xfrm>
            <a:off x="2038662" y="2111102"/>
            <a:ext cx="343274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people die from every day, including more than 10,000 children [1]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BA9CF-5887-F28B-2C02-AC9584AF1A4C}"/>
              </a:ext>
            </a:extLst>
          </p:cNvPr>
          <p:cNvSpPr txBox="1"/>
          <p:nvPr/>
        </p:nvSpPr>
        <p:spPr>
          <a:xfrm>
            <a:off x="2038662" y="3567499"/>
            <a:ext cx="343274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gap between U.S. agricultural imports and exports each [2]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67A9B-B96D-863E-8789-457078AD3206}"/>
              </a:ext>
            </a:extLst>
          </p:cNvPr>
          <p:cNvSpPr txBox="1"/>
          <p:nvPr/>
        </p:nvSpPr>
        <p:spPr>
          <a:xfrm>
            <a:off x="2038662" y="4762469"/>
            <a:ext cx="343274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of U.S. crop fields show poor health or nutrient      imbalance [3]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C1B2C44-735B-0B5E-EB34-26618E20041C}"/>
              </a:ext>
            </a:extLst>
          </p:cNvPr>
          <p:cNvSpPr txBox="1">
            <a:spLocks/>
          </p:cNvSpPr>
          <p:nvPr/>
        </p:nvSpPr>
        <p:spPr>
          <a:xfrm>
            <a:off x="7347879" y="561103"/>
            <a:ext cx="3879523" cy="561939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>
                <a:ln w="0"/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Who We Help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1856C0-C796-C67B-6F10-B0DF0B10A755}"/>
              </a:ext>
            </a:extLst>
          </p:cNvPr>
          <p:cNvSpPr/>
          <p:nvPr/>
        </p:nvSpPr>
        <p:spPr>
          <a:xfrm>
            <a:off x="6720592" y="1600689"/>
            <a:ext cx="5134098" cy="467940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Agricultural Research Labs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 affordable, autonomous sampling to reduce technician hours in the field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Independent Farms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 reliable soil data without the high cost of existing robots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Field Technician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 to reduce repetitive, manual sampling work</a:t>
            </a:r>
          </a:p>
        </p:txBody>
      </p:sp>
    </p:spTree>
    <p:extLst>
      <p:ext uri="{BB962C8B-B14F-4D97-AF65-F5344CB8AC3E}">
        <p14:creationId xmlns:p14="http://schemas.microsoft.com/office/powerpoint/2010/main" val="249700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79F2D-3324-6C4D-7668-1C69F475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C7DC4CF-D4D5-F9FF-DE98-9E5EA4671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24" y="635"/>
            <a:ext cx="12245724" cy="68960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7CEEE0-B98A-6829-009B-471548F4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599" y="590368"/>
            <a:ext cx="3879523" cy="532674"/>
          </a:xfrm>
          <a:prstGeom prst="roundRect">
            <a:avLst/>
          </a:prstGeom>
          <a:solidFill>
            <a:srgbClr val="A76C0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0" dirty="0">
                <a:ln w="0"/>
                <a:solidFill>
                  <a:schemeClr val="bg2">
                    <a:lumMod val="9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</a:t>
            </a:r>
            <a:r>
              <a:rPr lang="en-US" b="0" dirty="0">
                <a:ln w="0"/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E666E22-2788-8B50-E9F4-D53B4F56AA54}"/>
              </a:ext>
            </a:extLst>
          </p:cNvPr>
          <p:cNvSpPr/>
          <p:nvPr/>
        </p:nvSpPr>
        <p:spPr>
          <a:xfrm>
            <a:off x="337312" y="1629953"/>
            <a:ext cx="5134098" cy="4679407"/>
          </a:xfrm>
          <a:prstGeom prst="roundRect">
            <a:avLst/>
          </a:prstGeom>
          <a:solidFill>
            <a:srgbClr val="A76C0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bg2">
                    <a:lumMod val="90000"/>
                  </a:schemeClr>
                </a:solidFill>
              </a:rPr>
              <a:t>25,000</a:t>
            </a:r>
          </a:p>
          <a:p>
            <a:endParaRPr lang="en-US" sz="2800" dirty="0">
              <a:solidFill>
                <a:schemeClr val="bg2">
                  <a:lumMod val="90000"/>
                </a:schemeClr>
              </a:solidFill>
            </a:endParaRPr>
          </a:p>
          <a:p>
            <a:endParaRPr lang="en-US" sz="28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sz="2800" dirty="0">
                <a:solidFill>
                  <a:schemeClr val="bg2">
                    <a:lumMod val="90000"/>
                  </a:schemeClr>
                </a:solidFill>
              </a:rPr>
              <a:t>$41B</a:t>
            </a:r>
          </a:p>
          <a:p>
            <a:endParaRPr lang="en-US" sz="2800" dirty="0">
              <a:solidFill>
                <a:schemeClr val="bg2">
                  <a:lumMod val="90000"/>
                </a:schemeClr>
              </a:solidFill>
            </a:endParaRPr>
          </a:p>
          <a:p>
            <a:endParaRPr lang="en-US" sz="28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sz="2800" dirty="0">
                <a:solidFill>
                  <a:schemeClr val="bg2">
                    <a:lumMod val="90000"/>
                  </a:schemeClr>
                </a:solidFill>
              </a:rPr>
              <a:t>49%</a:t>
            </a:r>
          </a:p>
          <a:p>
            <a:pPr algn="ctr"/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3DDBBB-E922-FBFD-E753-A626C72F3BDA}"/>
              </a:ext>
            </a:extLst>
          </p:cNvPr>
          <p:cNvSpPr txBox="1"/>
          <p:nvPr/>
        </p:nvSpPr>
        <p:spPr>
          <a:xfrm>
            <a:off x="2038662" y="2111102"/>
            <a:ext cx="343274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people die from every day, including more than 10,000 children [1]</a:t>
            </a:r>
          </a:p>
          <a:p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B3AFD-AD67-E940-3830-3CDDD092DFDC}"/>
              </a:ext>
            </a:extLst>
          </p:cNvPr>
          <p:cNvSpPr txBox="1"/>
          <p:nvPr/>
        </p:nvSpPr>
        <p:spPr>
          <a:xfrm>
            <a:off x="2038662" y="3567499"/>
            <a:ext cx="343274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gap between U.S. agricultural imports and exports each [2]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2AB9C1-2E08-575A-3435-CD76333BDB33}"/>
              </a:ext>
            </a:extLst>
          </p:cNvPr>
          <p:cNvSpPr txBox="1"/>
          <p:nvPr/>
        </p:nvSpPr>
        <p:spPr>
          <a:xfrm>
            <a:off x="2038662" y="4762469"/>
            <a:ext cx="343274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of U.S. crop fields show poor health or nutrient      imbalance [3]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5290631-A746-658F-E589-B32F40F0106E}"/>
              </a:ext>
            </a:extLst>
          </p:cNvPr>
          <p:cNvSpPr txBox="1">
            <a:spLocks/>
          </p:cNvSpPr>
          <p:nvPr/>
        </p:nvSpPr>
        <p:spPr>
          <a:xfrm>
            <a:off x="7347879" y="561103"/>
            <a:ext cx="3879523" cy="561939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>
                <a:ln w="0"/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Who We Help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576719-48FB-B429-9F1E-E3B31989FE3F}"/>
              </a:ext>
            </a:extLst>
          </p:cNvPr>
          <p:cNvSpPr/>
          <p:nvPr/>
        </p:nvSpPr>
        <p:spPr>
          <a:xfrm>
            <a:off x="6720592" y="1600689"/>
            <a:ext cx="5134098" cy="4679407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Agricultural Research Labs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 affordable, autonomous sampling to reduce technician hours in the field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Independent Farms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 reliable soil data without the high cost of existing robots</a:t>
            </a: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Field Technician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 to reduce repetitive, manual sampling work</a:t>
            </a:r>
          </a:p>
        </p:txBody>
      </p:sp>
    </p:spTree>
    <p:extLst>
      <p:ext uri="{BB962C8B-B14F-4D97-AF65-F5344CB8AC3E}">
        <p14:creationId xmlns:p14="http://schemas.microsoft.com/office/powerpoint/2010/main" val="283179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19D95-E751-D520-C7C3-3500A8BD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974980-BF01-4177-1E45-E27855E61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0607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d4f9c4-691a-4cfc-8794-bcdaec4218e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68F44BA4F17D49BAFF7B0F13CB86EE" ma:contentTypeVersion="8" ma:contentTypeDescription="Create a new document." ma:contentTypeScope="" ma:versionID="cc9227049978749e4265c9a9d63e4b34">
  <xsd:schema xmlns:xsd="http://www.w3.org/2001/XMLSchema" xmlns:xs="http://www.w3.org/2001/XMLSchema" xmlns:p="http://schemas.microsoft.com/office/2006/metadata/properties" xmlns:ns3="9ad4f9c4-691a-4cfc-8794-bcdaec4218ec" xmlns:ns4="6a80222d-8d00-469b-8b0c-bd83c4235313" targetNamespace="http://schemas.microsoft.com/office/2006/metadata/properties" ma:root="true" ma:fieldsID="3b86bb83492e756446c4011ecfcaa867" ns3:_="" ns4:_="">
    <xsd:import namespace="9ad4f9c4-691a-4cfc-8794-bcdaec4218ec"/>
    <xsd:import namespace="6a80222d-8d00-469b-8b0c-bd83c423531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d4f9c4-691a-4cfc-8794-bcdaec4218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80222d-8d00-469b-8b0c-bd83c423531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DD6759-6322-4631-8DBD-EB30B20D96BF}">
  <ds:schemaRefs>
    <ds:schemaRef ds:uri="http://schemas.microsoft.com/office/infopath/2007/PartnerControls"/>
    <ds:schemaRef ds:uri="http://purl.org/dc/terms/"/>
    <ds:schemaRef ds:uri="http://www.w3.org/XML/1998/namespace"/>
    <ds:schemaRef ds:uri="http://purl.org/dc/elements/1.1/"/>
    <ds:schemaRef ds:uri="9ad4f9c4-691a-4cfc-8794-bcdaec4218ec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6a80222d-8d00-469b-8b0c-bd83c423531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9F438F2-7740-4AFA-9C7A-E6FAC7B8B9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CA3176-C66C-4516-9148-7A90100806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d4f9c4-691a-4cfc-8794-bcdaec4218ec"/>
    <ds:schemaRef ds:uri="6a80222d-8d00-469b-8b0c-bd83c42353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254</Words>
  <Application>Microsoft Office PowerPoint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VanillaVTI</vt:lpstr>
      <vt:lpstr>D.I.R.T.T</vt:lpstr>
      <vt:lpstr>Team Members</vt:lpstr>
      <vt:lpstr>The Problem</vt:lpstr>
      <vt:lpstr>The Problem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Nolan Brechtel</dc:creator>
  <cp:lastModifiedBy>Brechtel, Nolan</cp:lastModifiedBy>
  <cp:revision>5</cp:revision>
  <dcterms:created xsi:type="dcterms:W3CDTF">2026-09-08T20:57:57Z</dcterms:created>
  <dcterms:modified xsi:type="dcterms:W3CDTF">2026-09-13T00:19:38Z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0x010100DB68F44BA4F17D49BAFF7B0F13CB86EE</vt:lpwstr>
  </property>
</Properties>
</file>