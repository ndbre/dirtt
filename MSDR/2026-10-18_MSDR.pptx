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1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F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366" y="3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27933-67A5-46C8-A662-8565DDEC802D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9121D-AE8B-491C-9D1C-783D6A123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6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9121D-AE8B-491C-9D1C-783D6A123F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85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9121D-AE8B-491C-9D1C-783D6A123F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71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9121D-AE8B-491C-9D1C-783D6A123F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D3ECE3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D3ECE3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D3ECE3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30022" y="1678571"/>
            <a:ext cx="4906009" cy="429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D3ECE3"/>
                </a:solidFill>
                <a:latin typeface="Aptos Black"/>
                <a:cs typeface="Aptos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D3ECE3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55"/>
            <a:ext cx="12192114" cy="6858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614200"/>
            <a:ext cx="12192000" cy="1243330"/>
          </a:xfrm>
          <a:custGeom>
            <a:avLst/>
            <a:gdLst/>
            <a:ahLst/>
            <a:cxnLst/>
            <a:rect l="l" t="t" r="r" b="b"/>
            <a:pathLst>
              <a:path w="12192000" h="1243329">
                <a:moveTo>
                  <a:pt x="12191758" y="0"/>
                </a:moveTo>
                <a:lnTo>
                  <a:pt x="0" y="0"/>
                </a:lnTo>
                <a:lnTo>
                  <a:pt x="0" y="1243076"/>
                </a:lnTo>
                <a:lnTo>
                  <a:pt x="6095885" y="1243076"/>
                </a:lnTo>
                <a:lnTo>
                  <a:pt x="12191758" y="1243076"/>
                </a:lnTo>
                <a:lnTo>
                  <a:pt x="12191758" y="0"/>
                </a:lnTo>
                <a:close/>
              </a:path>
            </a:pathLst>
          </a:custGeom>
          <a:solidFill>
            <a:srgbClr val="000000">
              <a:alpha val="2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"/>
            <a:ext cx="12191758" cy="68576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1775" y="524789"/>
            <a:ext cx="10194798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D3ECE3"/>
                </a:solidFill>
                <a:latin typeface="Segoe UI Symbol"/>
                <a:cs typeface="Segoe UI 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2376" y="1367472"/>
            <a:ext cx="7710170" cy="2969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commons.wikimedia.org/wiki/File:Portrait_Placeholder.png" TargetMode="Externa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5892381"/>
            <a:ext cx="21482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45">
                <a:solidFill>
                  <a:srgbClr val="FFFFFF"/>
                </a:solidFill>
                <a:latin typeface="Aptos Black"/>
                <a:cs typeface="Aptos Black"/>
              </a:rPr>
              <a:t>D.I.R.T.T</a:t>
            </a:r>
            <a:endParaRPr sz="4000">
              <a:latin typeface="Aptos Black"/>
              <a:cs typeface="Aptos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303" y="6456133"/>
            <a:ext cx="4842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Digital</a:t>
            </a:r>
            <a:r>
              <a:rPr sz="1800" spc="1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Instrument</a:t>
            </a:r>
            <a:r>
              <a:rPr sz="1800" spc="1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for</a:t>
            </a:r>
            <a:r>
              <a:rPr sz="1800" spc="1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Remote</a:t>
            </a:r>
            <a:r>
              <a:rPr sz="1800" spc="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FFFFFF"/>
                </a:solidFill>
                <a:latin typeface="Segoe UI Symbol"/>
                <a:cs typeface="Segoe UI Symbol"/>
              </a:rPr>
              <a:t>Terrain</a:t>
            </a:r>
            <a:r>
              <a:rPr sz="1800" spc="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 spc="45">
                <a:solidFill>
                  <a:srgbClr val="FFFFFF"/>
                </a:solidFill>
                <a:latin typeface="Segoe UI Symbol"/>
                <a:cs typeface="Segoe UI Symbol"/>
              </a:rPr>
              <a:t>Testing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8184" y="5832911"/>
            <a:ext cx="3177540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 algn="r">
              <a:lnSpc>
                <a:spcPct val="109700"/>
              </a:lnSpc>
              <a:spcBef>
                <a:spcPts val="100"/>
              </a:spcBef>
            </a:pPr>
            <a:r>
              <a:rPr sz="1600" spc="10">
                <a:solidFill>
                  <a:srgbClr val="FFFFFF"/>
                </a:solidFill>
                <a:latin typeface="Segoe UI Symbol"/>
                <a:cs typeface="Segoe UI Symbol"/>
              </a:rPr>
              <a:t>An</a:t>
            </a:r>
            <a:r>
              <a:rPr sz="1600" spc="24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10">
                <a:solidFill>
                  <a:srgbClr val="FFFFFF"/>
                </a:solidFill>
                <a:latin typeface="Segoe UI Symbol"/>
                <a:cs typeface="Segoe UI Symbol"/>
              </a:rPr>
              <a:t>affordable,</a:t>
            </a:r>
            <a:r>
              <a:rPr sz="1600" spc="25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10">
                <a:solidFill>
                  <a:srgbClr val="FFFFFF"/>
                </a:solidFill>
                <a:latin typeface="Segoe UI Symbol"/>
                <a:cs typeface="Segoe UI Symbol"/>
              </a:rPr>
              <a:t>autonomous</a:t>
            </a:r>
            <a:r>
              <a:rPr sz="1600" spc="25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-20">
                <a:solidFill>
                  <a:srgbClr val="FFFFFF"/>
                </a:solidFill>
                <a:latin typeface="Segoe UI Symbol"/>
                <a:cs typeface="Segoe UI Symbol"/>
              </a:rPr>
              <a:t>robot </a:t>
            </a:r>
            <a:r>
              <a:rPr sz="1600">
                <a:solidFill>
                  <a:srgbClr val="FFFFFF"/>
                </a:solidFill>
                <a:latin typeface="Segoe UI Symbol"/>
                <a:cs typeface="Segoe UI Symbol"/>
              </a:rPr>
              <a:t>that</a:t>
            </a:r>
            <a:r>
              <a:rPr sz="1600" spc="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65">
                <a:solidFill>
                  <a:srgbClr val="FFFFFF"/>
                </a:solidFill>
                <a:latin typeface="Segoe UI Symbol"/>
                <a:cs typeface="Segoe UI Symbol"/>
              </a:rPr>
              <a:t>collects</a:t>
            </a:r>
            <a:r>
              <a:rPr sz="1600" spc="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FFFFFF"/>
                </a:solidFill>
                <a:latin typeface="Segoe UI Symbol"/>
                <a:cs typeface="Segoe UI Symbol"/>
              </a:rPr>
              <a:t>and</a:t>
            </a:r>
            <a:r>
              <a:rPr sz="1600" spc="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80">
                <a:solidFill>
                  <a:srgbClr val="FFFFFF"/>
                </a:solidFill>
                <a:latin typeface="Segoe UI Symbol"/>
                <a:cs typeface="Segoe UI Symbol"/>
              </a:rPr>
              <a:t>analyzes</a:t>
            </a:r>
            <a:r>
              <a:rPr sz="1600" spc="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-20">
                <a:solidFill>
                  <a:srgbClr val="FFFFFF"/>
                </a:solidFill>
                <a:latin typeface="Segoe UI Symbol"/>
                <a:cs typeface="Segoe UI Symbol"/>
              </a:rPr>
              <a:t>soil </a:t>
            </a:r>
            <a:r>
              <a:rPr sz="1600" spc="70">
                <a:solidFill>
                  <a:srgbClr val="FFFFFF"/>
                </a:solidFill>
                <a:latin typeface="Segoe UI Symbol"/>
                <a:cs typeface="Segoe UI Symbol"/>
              </a:rPr>
              <a:t>samples</a:t>
            </a:r>
            <a:r>
              <a:rPr sz="160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95">
                <a:solidFill>
                  <a:srgbClr val="FFFFFF"/>
                </a:solidFill>
                <a:latin typeface="Segoe UI Symbol"/>
                <a:cs typeface="Segoe UI Symbol"/>
              </a:rPr>
              <a:t>across</a:t>
            </a:r>
            <a:r>
              <a:rPr sz="1600" spc="2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FFFFFF"/>
                </a:solidFill>
                <a:latin typeface="Segoe UI Symbol"/>
                <a:cs typeface="Segoe UI Symbol"/>
              </a:rPr>
              <a:t>crop</a:t>
            </a:r>
            <a:r>
              <a:rPr sz="1600" spc="2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55">
                <a:solidFill>
                  <a:srgbClr val="FFFFFF"/>
                </a:solidFill>
                <a:latin typeface="Segoe UI Symbol"/>
                <a:cs typeface="Segoe UI Symbol"/>
              </a:rPr>
              <a:t>fields.</a:t>
            </a:r>
            <a:endParaRPr sz="16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879215" cy="532765"/>
          </a:xfrm>
          <a:custGeom>
            <a:avLst/>
            <a:gdLst/>
            <a:ahLst/>
            <a:cxnLst/>
            <a:rect l="l" t="t" r="r" b="b"/>
            <a:pathLst>
              <a:path w="3879215" h="532765">
                <a:moveTo>
                  <a:pt x="3878999" y="0"/>
                </a:moveTo>
                <a:lnTo>
                  <a:pt x="0" y="0"/>
                </a:lnTo>
                <a:lnTo>
                  <a:pt x="0" y="532434"/>
                </a:lnTo>
                <a:lnTo>
                  <a:pt x="1939670" y="532434"/>
                </a:lnTo>
                <a:lnTo>
                  <a:pt x="3878999" y="532434"/>
                </a:lnTo>
                <a:lnTo>
                  <a:pt x="387899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Team</a:t>
            </a:r>
            <a:r>
              <a:rPr spc="20" dirty="0"/>
              <a:t> </a:t>
            </a:r>
            <a:r>
              <a:rPr spc="114" dirty="0"/>
              <a:t>Members</a:t>
            </a:r>
          </a:p>
        </p:txBody>
      </p:sp>
      <p:sp>
        <p:nvSpPr>
          <p:cNvPr id="6" name="object 6"/>
          <p:cNvSpPr/>
          <p:nvPr/>
        </p:nvSpPr>
        <p:spPr>
          <a:xfrm>
            <a:off x="337324" y="1629714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76" y="3206"/>
                </a:lnTo>
                <a:lnTo>
                  <a:pt x="322692" y="3206"/>
                </a:lnTo>
                <a:lnTo>
                  <a:pt x="275393" y="12558"/>
                </a:lnTo>
                <a:lnTo>
                  <a:pt x="229459" y="28101"/>
                </a:lnTo>
                <a:lnTo>
                  <a:pt x="185750" y="49682"/>
                </a:lnTo>
                <a:lnTo>
                  <a:pt x="145253" y="76820"/>
                </a:lnTo>
                <a:lnTo>
                  <a:pt x="108804" y="108816"/>
                </a:lnTo>
                <a:lnTo>
                  <a:pt x="76808" y="145265"/>
                </a:lnTo>
                <a:lnTo>
                  <a:pt x="49669" y="185762"/>
                </a:lnTo>
                <a:lnTo>
                  <a:pt x="28241" y="229472"/>
                </a:lnTo>
                <a:lnTo>
                  <a:pt x="12685" y="275405"/>
                </a:lnTo>
                <a:lnTo>
                  <a:pt x="3204" y="322958"/>
                </a:lnTo>
                <a:lnTo>
                  <a:pt x="0" y="371525"/>
                </a:lnTo>
                <a:lnTo>
                  <a:pt x="0" y="1858327"/>
                </a:lnTo>
                <a:lnTo>
                  <a:pt x="3131" y="1906528"/>
                </a:lnTo>
                <a:lnTo>
                  <a:pt x="12480" y="1954083"/>
                </a:lnTo>
                <a:lnTo>
                  <a:pt x="27968" y="2000018"/>
                </a:lnTo>
                <a:lnTo>
                  <a:pt x="49669" y="2044090"/>
                </a:lnTo>
                <a:lnTo>
                  <a:pt x="76808" y="2084587"/>
                </a:lnTo>
                <a:lnTo>
                  <a:pt x="108804" y="2121036"/>
                </a:lnTo>
                <a:lnTo>
                  <a:pt x="145253" y="2153032"/>
                </a:lnTo>
                <a:lnTo>
                  <a:pt x="185750" y="2180170"/>
                </a:lnTo>
                <a:lnTo>
                  <a:pt x="229459" y="2201599"/>
                </a:lnTo>
                <a:lnTo>
                  <a:pt x="275393" y="2217154"/>
                </a:lnTo>
                <a:lnTo>
                  <a:pt x="322945" y="2226635"/>
                </a:lnTo>
                <a:lnTo>
                  <a:pt x="371513" y="2229840"/>
                </a:lnTo>
                <a:lnTo>
                  <a:pt x="3329635" y="2229485"/>
                </a:lnTo>
                <a:lnTo>
                  <a:pt x="3378202" y="2226329"/>
                </a:lnTo>
                <a:lnTo>
                  <a:pt x="3425755" y="2216931"/>
                </a:lnTo>
                <a:lnTo>
                  <a:pt x="3471688" y="2201388"/>
                </a:lnTo>
                <a:lnTo>
                  <a:pt x="3515398" y="2179802"/>
                </a:lnTo>
                <a:lnTo>
                  <a:pt x="3555895" y="2152671"/>
                </a:lnTo>
                <a:lnTo>
                  <a:pt x="3592344" y="2120677"/>
                </a:lnTo>
                <a:lnTo>
                  <a:pt x="3624340" y="2084226"/>
                </a:lnTo>
                <a:lnTo>
                  <a:pt x="3651478" y="2043722"/>
                </a:lnTo>
                <a:lnTo>
                  <a:pt x="3672909" y="2000018"/>
                </a:lnTo>
                <a:lnTo>
                  <a:pt x="3688345" y="1954447"/>
                </a:lnTo>
                <a:lnTo>
                  <a:pt x="3688468" y="1954083"/>
                </a:lnTo>
                <a:lnTo>
                  <a:pt x="3697880" y="1906894"/>
                </a:lnTo>
                <a:lnTo>
                  <a:pt x="3697954" y="1906528"/>
                </a:lnTo>
                <a:lnTo>
                  <a:pt x="3701136" y="1858327"/>
                </a:lnTo>
                <a:lnTo>
                  <a:pt x="3701161" y="1857959"/>
                </a:lnTo>
                <a:lnTo>
                  <a:pt x="3700792" y="371525"/>
                </a:lnTo>
                <a:lnTo>
                  <a:pt x="3697637" y="322958"/>
                </a:lnTo>
                <a:lnTo>
                  <a:pt x="3688238" y="275405"/>
                </a:lnTo>
                <a:lnTo>
                  <a:pt x="3672696" y="229472"/>
                </a:lnTo>
                <a:lnTo>
                  <a:pt x="3651110" y="185762"/>
                </a:lnTo>
                <a:lnTo>
                  <a:pt x="3623979" y="145265"/>
                </a:lnTo>
                <a:lnTo>
                  <a:pt x="3591985" y="108816"/>
                </a:lnTo>
                <a:lnTo>
                  <a:pt x="3555534" y="76820"/>
                </a:lnTo>
                <a:lnTo>
                  <a:pt x="3515029" y="49682"/>
                </a:lnTo>
                <a:lnTo>
                  <a:pt x="3471325" y="28251"/>
                </a:lnTo>
                <a:lnTo>
                  <a:pt x="3425393" y="12692"/>
                </a:lnTo>
                <a:lnTo>
                  <a:pt x="3377841" y="3206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830414" y="3220097"/>
            <a:ext cx="271526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D3ECE3"/>
                </a:solidFill>
                <a:latin typeface="Segoe UI Symbol"/>
                <a:cs typeface="Segoe UI Symbol"/>
              </a:rPr>
              <a:t>Nolan</a:t>
            </a:r>
            <a:r>
              <a:rPr sz="1800" spc="1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55">
                <a:solidFill>
                  <a:srgbClr val="D3ECE3"/>
                </a:solidFill>
                <a:latin typeface="Segoe UI Symbol"/>
                <a:cs typeface="Segoe UI Symbol"/>
              </a:rPr>
              <a:t>Brechtel</a:t>
            </a:r>
            <a:endParaRPr sz="18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</a:pP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Project</a:t>
            </a:r>
            <a:r>
              <a:rPr sz="1300" spc="2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Manager</a:t>
            </a:r>
            <a:r>
              <a:rPr sz="1300" spc="21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114">
                <a:solidFill>
                  <a:srgbClr val="A8DAC8"/>
                </a:solidFill>
                <a:latin typeface="Segoe UI Symbol"/>
                <a:cs typeface="Segoe UI Symbol"/>
              </a:rPr>
              <a:t>|</a:t>
            </a:r>
            <a:r>
              <a:rPr sz="1300" spc="20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Navigation</a:t>
            </a:r>
            <a:r>
              <a:rPr sz="1300" spc="19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Lead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45483" y="1629714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82" y="3206"/>
                </a:lnTo>
                <a:lnTo>
                  <a:pt x="322698" y="3206"/>
                </a:lnTo>
                <a:lnTo>
                  <a:pt x="275399" y="12558"/>
                </a:lnTo>
                <a:lnTo>
                  <a:pt x="229466" y="28101"/>
                </a:lnTo>
                <a:lnTo>
                  <a:pt x="185762" y="49682"/>
                </a:lnTo>
                <a:lnTo>
                  <a:pt x="145258" y="76820"/>
                </a:lnTo>
                <a:lnTo>
                  <a:pt x="108807" y="108816"/>
                </a:lnTo>
                <a:lnTo>
                  <a:pt x="76813" y="145265"/>
                </a:lnTo>
                <a:lnTo>
                  <a:pt x="49682" y="185762"/>
                </a:lnTo>
                <a:lnTo>
                  <a:pt x="28246" y="229472"/>
                </a:lnTo>
                <a:lnTo>
                  <a:pt x="12687" y="275405"/>
                </a:lnTo>
                <a:lnTo>
                  <a:pt x="3205" y="322958"/>
                </a:lnTo>
                <a:lnTo>
                  <a:pt x="0" y="371525"/>
                </a:lnTo>
                <a:lnTo>
                  <a:pt x="0" y="1858327"/>
                </a:lnTo>
                <a:lnTo>
                  <a:pt x="3131" y="1906528"/>
                </a:lnTo>
                <a:lnTo>
                  <a:pt x="3155" y="1906894"/>
                </a:lnTo>
                <a:lnTo>
                  <a:pt x="12482" y="1954083"/>
                </a:lnTo>
                <a:lnTo>
                  <a:pt x="12553" y="1954447"/>
                </a:lnTo>
                <a:lnTo>
                  <a:pt x="27973" y="2000018"/>
                </a:lnTo>
                <a:lnTo>
                  <a:pt x="49682" y="2044090"/>
                </a:lnTo>
                <a:lnTo>
                  <a:pt x="76813" y="2084587"/>
                </a:lnTo>
                <a:lnTo>
                  <a:pt x="108807" y="2121036"/>
                </a:lnTo>
                <a:lnTo>
                  <a:pt x="145258" y="2153032"/>
                </a:lnTo>
                <a:lnTo>
                  <a:pt x="185762" y="2180170"/>
                </a:lnTo>
                <a:lnTo>
                  <a:pt x="229466" y="2201599"/>
                </a:lnTo>
                <a:lnTo>
                  <a:pt x="275399" y="2217154"/>
                </a:lnTo>
                <a:lnTo>
                  <a:pt x="322951" y="2226635"/>
                </a:lnTo>
                <a:lnTo>
                  <a:pt x="371513" y="2229840"/>
                </a:lnTo>
                <a:lnTo>
                  <a:pt x="3329635" y="2229485"/>
                </a:lnTo>
                <a:lnTo>
                  <a:pt x="3378204" y="2226329"/>
                </a:lnTo>
                <a:lnTo>
                  <a:pt x="3425759" y="2216931"/>
                </a:lnTo>
                <a:lnTo>
                  <a:pt x="3471694" y="2201388"/>
                </a:lnTo>
                <a:lnTo>
                  <a:pt x="3515398" y="2179802"/>
                </a:lnTo>
                <a:lnTo>
                  <a:pt x="3555895" y="2152671"/>
                </a:lnTo>
                <a:lnTo>
                  <a:pt x="3592344" y="2120677"/>
                </a:lnTo>
                <a:lnTo>
                  <a:pt x="3624340" y="2084226"/>
                </a:lnTo>
                <a:lnTo>
                  <a:pt x="3651478" y="2043722"/>
                </a:lnTo>
                <a:lnTo>
                  <a:pt x="3672909" y="2000018"/>
                </a:lnTo>
                <a:lnTo>
                  <a:pt x="3688345" y="1954447"/>
                </a:lnTo>
                <a:lnTo>
                  <a:pt x="3688468" y="1954083"/>
                </a:lnTo>
                <a:lnTo>
                  <a:pt x="3697880" y="1906894"/>
                </a:lnTo>
                <a:lnTo>
                  <a:pt x="3697954" y="1906528"/>
                </a:lnTo>
                <a:lnTo>
                  <a:pt x="3701136" y="1858327"/>
                </a:lnTo>
                <a:lnTo>
                  <a:pt x="3701161" y="1857959"/>
                </a:lnTo>
                <a:lnTo>
                  <a:pt x="3700792" y="371525"/>
                </a:lnTo>
                <a:lnTo>
                  <a:pt x="3697637" y="322958"/>
                </a:lnTo>
                <a:lnTo>
                  <a:pt x="3688240" y="275405"/>
                </a:lnTo>
                <a:lnTo>
                  <a:pt x="3672701" y="229472"/>
                </a:lnTo>
                <a:lnTo>
                  <a:pt x="3651122" y="185762"/>
                </a:lnTo>
                <a:lnTo>
                  <a:pt x="3623984" y="145265"/>
                </a:lnTo>
                <a:lnTo>
                  <a:pt x="3591988" y="108816"/>
                </a:lnTo>
                <a:lnTo>
                  <a:pt x="3555539" y="76820"/>
                </a:lnTo>
                <a:lnTo>
                  <a:pt x="3515042" y="49682"/>
                </a:lnTo>
                <a:lnTo>
                  <a:pt x="3471333" y="28251"/>
                </a:lnTo>
                <a:lnTo>
                  <a:pt x="3425399" y="12692"/>
                </a:lnTo>
                <a:lnTo>
                  <a:pt x="3377846" y="3206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532299" y="3220097"/>
            <a:ext cx="312801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55">
                <a:solidFill>
                  <a:srgbClr val="D3ECE3"/>
                </a:solidFill>
                <a:latin typeface="Segoe UI Symbol"/>
                <a:cs typeface="Segoe UI Symbol"/>
              </a:rPr>
              <a:t>George</a:t>
            </a:r>
            <a:r>
              <a:rPr sz="1800" spc="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55">
                <a:solidFill>
                  <a:srgbClr val="D3ECE3"/>
                </a:solidFill>
                <a:latin typeface="Segoe UI Symbol"/>
                <a:cs typeface="Segoe UI Symbol"/>
              </a:rPr>
              <a:t>Utz</a:t>
            </a:r>
            <a:endParaRPr sz="18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</a:pP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Chief</a:t>
            </a:r>
            <a:r>
              <a:rPr sz="1300" spc="7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45">
                <a:solidFill>
                  <a:srgbClr val="A8DAC8"/>
                </a:solidFill>
                <a:latin typeface="Segoe UI Symbol"/>
                <a:cs typeface="Segoe UI Symbol"/>
              </a:rPr>
              <a:t>Scientist</a:t>
            </a:r>
            <a:r>
              <a:rPr sz="1300" spc="7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114">
                <a:solidFill>
                  <a:srgbClr val="A8DAC8"/>
                </a:solidFill>
                <a:latin typeface="Segoe UI Symbol"/>
                <a:cs typeface="Segoe UI Symbol"/>
              </a:rPr>
              <a:t>|</a:t>
            </a:r>
            <a:r>
              <a:rPr sz="1300" spc="6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Power</a:t>
            </a:r>
            <a:r>
              <a:rPr sz="1300" spc="7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-215">
                <a:solidFill>
                  <a:srgbClr val="A8DAC8"/>
                </a:solidFill>
                <a:latin typeface="Segoe UI Symbol"/>
                <a:cs typeface="Segoe UI Symbol"/>
              </a:rPr>
              <a:t>&amp;</a:t>
            </a:r>
            <a:r>
              <a:rPr sz="1300" spc="6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Charging</a:t>
            </a:r>
            <a:r>
              <a:rPr sz="1300" spc="7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0">
                <a:solidFill>
                  <a:srgbClr val="A8DAC8"/>
                </a:solidFill>
                <a:latin typeface="Segoe UI Symbol"/>
                <a:cs typeface="Segoe UI Symbol"/>
              </a:rPr>
              <a:t>Lead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53286" y="1629714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76" y="3206"/>
                </a:lnTo>
                <a:lnTo>
                  <a:pt x="322692" y="3206"/>
                </a:lnTo>
                <a:lnTo>
                  <a:pt x="275393" y="12558"/>
                </a:lnTo>
                <a:lnTo>
                  <a:pt x="229459" y="28101"/>
                </a:lnTo>
                <a:lnTo>
                  <a:pt x="185750" y="49682"/>
                </a:lnTo>
                <a:lnTo>
                  <a:pt x="145253" y="76820"/>
                </a:lnTo>
                <a:lnTo>
                  <a:pt x="108804" y="108816"/>
                </a:lnTo>
                <a:lnTo>
                  <a:pt x="76808" y="145265"/>
                </a:lnTo>
                <a:lnTo>
                  <a:pt x="49669" y="185762"/>
                </a:lnTo>
                <a:lnTo>
                  <a:pt x="28241" y="229472"/>
                </a:lnTo>
                <a:lnTo>
                  <a:pt x="12685" y="275405"/>
                </a:lnTo>
                <a:lnTo>
                  <a:pt x="3204" y="322958"/>
                </a:lnTo>
                <a:lnTo>
                  <a:pt x="0" y="371525"/>
                </a:lnTo>
                <a:lnTo>
                  <a:pt x="0" y="1858327"/>
                </a:lnTo>
                <a:lnTo>
                  <a:pt x="3131" y="1906528"/>
                </a:lnTo>
                <a:lnTo>
                  <a:pt x="3154" y="1906894"/>
                </a:lnTo>
                <a:lnTo>
                  <a:pt x="12480" y="1954083"/>
                </a:lnTo>
                <a:lnTo>
                  <a:pt x="12552" y="1954447"/>
                </a:lnTo>
                <a:lnTo>
                  <a:pt x="27968" y="2000018"/>
                </a:lnTo>
                <a:lnTo>
                  <a:pt x="28091" y="2000380"/>
                </a:lnTo>
                <a:lnTo>
                  <a:pt x="49669" y="2044090"/>
                </a:lnTo>
                <a:lnTo>
                  <a:pt x="76808" y="2084587"/>
                </a:lnTo>
                <a:lnTo>
                  <a:pt x="108804" y="2121036"/>
                </a:lnTo>
                <a:lnTo>
                  <a:pt x="145253" y="2153032"/>
                </a:lnTo>
                <a:lnTo>
                  <a:pt x="185750" y="2180170"/>
                </a:lnTo>
                <a:lnTo>
                  <a:pt x="229459" y="2201599"/>
                </a:lnTo>
                <a:lnTo>
                  <a:pt x="275393" y="2217154"/>
                </a:lnTo>
                <a:lnTo>
                  <a:pt x="322945" y="2226635"/>
                </a:lnTo>
                <a:lnTo>
                  <a:pt x="371513" y="2229840"/>
                </a:lnTo>
                <a:lnTo>
                  <a:pt x="3329635" y="2229485"/>
                </a:lnTo>
                <a:lnTo>
                  <a:pt x="3378202" y="2226329"/>
                </a:lnTo>
                <a:lnTo>
                  <a:pt x="3425755" y="2216931"/>
                </a:lnTo>
                <a:lnTo>
                  <a:pt x="3471688" y="2201388"/>
                </a:lnTo>
                <a:lnTo>
                  <a:pt x="3515398" y="2179802"/>
                </a:lnTo>
                <a:lnTo>
                  <a:pt x="3555895" y="2152671"/>
                </a:lnTo>
                <a:lnTo>
                  <a:pt x="3592344" y="2120677"/>
                </a:lnTo>
                <a:lnTo>
                  <a:pt x="3624340" y="2084226"/>
                </a:lnTo>
                <a:lnTo>
                  <a:pt x="3651478" y="2043722"/>
                </a:lnTo>
                <a:lnTo>
                  <a:pt x="3672907" y="2000018"/>
                </a:lnTo>
                <a:lnTo>
                  <a:pt x="3688339" y="1954447"/>
                </a:lnTo>
                <a:lnTo>
                  <a:pt x="3697870" y="1906894"/>
                </a:lnTo>
                <a:lnTo>
                  <a:pt x="3697943" y="1906528"/>
                </a:lnTo>
                <a:lnTo>
                  <a:pt x="3701123" y="1858327"/>
                </a:lnTo>
                <a:lnTo>
                  <a:pt x="3701148" y="1857959"/>
                </a:lnTo>
                <a:lnTo>
                  <a:pt x="3700792" y="371525"/>
                </a:lnTo>
                <a:lnTo>
                  <a:pt x="3697637" y="322958"/>
                </a:lnTo>
                <a:lnTo>
                  <a:pt x="3688238" y="275405"/>
                </a:lnTo>
                <a:lnTo>
                  <a:pt x="3672696" y="229472"/>
                </a:lnTo>
                <a:lnTo>
                  <a:pt x="3651110" y="185762"/>
                </a:lnTo>
                <a:lnTo>
                  <a:pt x="3623979" y="145265"/>
                </a:lnTo>
                <a:lnTo>
                  <a:pt x="3591985" y="108816"/>
                </a:lnTo>
                <a:lnTo>
                  <a:pt x="3555534" y="76820"/>
                </a:lnTo>
                <a:lnTo>
                  <a:pt x="3515029" y="49682"/>
                </a:lnTo>
                <a:lnTo>
                  <a:pt x="3471325" y="28251"/>
                </a:lnTo>
                <a:lnTo>
                  <a:pt x="3425393" y="12692"/>
                </a:lnTo>
                <a:lnTo>
                  <a:pt x="3377841" y="3206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899461" y="3220097"/>
            <a:ext cx="220916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100">
                <a:solidFill>
                  <a:srgbClr val="D3ECE3"/>
                </a:solidFill>
                <a:latin typeface="Segoe UI Symbol"/>
                <a:cs typeface="Segoe UI Symbol"/>
              </a:rPr>
              <a:t>Cara</a:t>
            </a:r>
            <a:r>
              <a:rPr sz="1800" spc="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80">
                <a:solidFill>
                  <a:srgbClr val="D3ECE3"/>
                </a:solidFill>
                <a:latin typeface="Segoe UI Symbol"/>
                <a:cs typeface="Segoe UI Symbol"/>
              </a:rPr>
              <a:t>Belew</a:t>
            </a:r>
            <a:endParaRPr sz="1800">
              <a:latin typeface="Segoe UI Symbol"/>
              <a:cs typeface="Segoe UI Symbol"/>
            </a:endParaRPr>
          </a:p>
          <a:p>
            <a:pPr algn="ctr">
              <a:lnSpc>
                <a:spcPct val="100000"/>
              </a:lnSpc>
            </a:pP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Data</a:t>
            </a:r>
            <a:r>
              <a:rPr sz="1300" spc="7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60">
                <a:solidFill>
                  <a:srgbClr val="A8DAC8"/>
                </a:solidFill>
                <a:latin typeface="Segoe UI Symbol"/>
                <a:cs typeface="Segoe UI Symbol"/>
              </a:rPr>
              <a:t>Backup</a:t>
            </a:r>
            <a:r>
              <a:rPr sz="1300" spc="8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-215">
                <a:solidFill>
                  <a:srgbClr val="A8DAC8"/>
                </a:solidFill>
                <a:latin typeface="Segoe UI Symbol"/>
                <a:cs typeface="Segoe UI Symbol"/>
              </a:rPr>
              <a:t>&amp;</a:t>
            </a:r>
            <a:r>
              <a:rPr sz="1300" spc="8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Control</a:t>
            </a:r>
            <a:r>
              <a:rPr sz="1300" spc="7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Lead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7324" y="4079163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76" y="3205"/>
                </a:lnTo>
                <a:lnTo>
                  <a:pt x="322692" y="3205"/>
                </a:lnTo>
                <a:lnTo>
                  <a:pt x="275393" y="12553"/>
                </a:lnTo>
                <a:lnTo>
                  <a:pt x="229459" y="28096"/>
                </a:lnTo>
                <a:lnTo>
                  <a:pt x="185750" y="49682"/>
                </a:lnTo>
                <a:lnTo>
                  <a:pt x="145253" y="76813"/>
                </a:lnTo>
                <a:lnTo>
                  <a:pt x="108804" y="108805"/>
                </a:lnTo>
                <a:lnTo>
                  <a:pt x="76808" y="145253"/>
                </a:lnTo>
                <a:lnTo>
                  <a:pt x="49669" y="185750"/>
                </a:lnTo>
                <a:lnTo>
                  <a:pt x="28241" y="229461"/>
                </a:lnTo>
                <a:lnTo>
                  <a:pt x="12685" y="275397"/>
                </a:lnTo>
                <a:lnTo>
                  <a:pt x="3204" y="322951"/>
                </a:lnTo>
                <a:lnTo>
                  <a:pt x="0" y="371513"/>
                </a:lnTo>
                <a:lnTo>
                  <a:pt x="0" y="1858314"/>
                </a:lnTo>
                <a:lnTo>
                  <a:pt x="3131" y="1906521"/>
                </a:lnTo>
                <a:lnTo>
                  <a:pt x="12481" y="1954074"/>
                </a:lnTo>
                <a:lnTo>
                  <a:pt x="27970" y="2000010"/>
                </a:lnTo>
                <a:lnTo>
                  <a:pt x="28091" y="2000368"/>
                </a:lnTo>
                <a:lnTo>
                  <a:pt x="49669" y="2044077"/>
                </a:lnTo>
                <a:lnTo>
                  <a:pt x="76808" y="2084574"/>
                </a:lnTo>
                <a:lnTo>
                  <a:pt x="108804" y="2121023"/>
                </a:lnTo>
                <a:lnTo>
                  <a:pt x="145253" y="2153019"/>
                </a:lnTo>
                <a:lnTo>
                  <a:pt x="185750" y="2180158"/>
                </a:lnTo>
                <a:lnTo>
                  <a:pt x="229459" y="2201588"/>
                </a:lnTo>
                <a:lnTo>
                  <a:pt x="275393" y="2217148"/>
                </a:lnTo>
                <a:lnTo>
                  <a:pt x="322945" y="2226633"/>
                </a:lnTo>
                <a:lnTo>
                  <a:pt x="371513" y="2229840"/>
                </a:lnTo>
                <a:lnTo>
                  <a:pt x="3329635" y="2229472"/>
                </a:lnTo>
                <a:lnTo>
                  <a:pt x="3378202" y="2226317"/>
                </a:lnTo>
                <a:lnTo>
                  <a:pt x="3425755" y="2216918"/>
                </a:lnTo>
                <a:lnTo>
                  <a:pt x="3471688" y="2201375"/>
                </a:lnTo>
                <a:lnTo>
                  <a:pt x="3515398" y="2179789"/>
                </a:lnTo>
                <a:lnTo>
                  <a:pt x="3555895" y="2152658"/>
                </a:lnTo>
                <a:lnTo>
                  <a:pt x="3592344" y="2120666"/>
                </a:lnTo>
                <a:lnTo>
                  <a:pt x="3624340" y="2084219"/>
                </a:lnTo>
                <a:lnTo>
                  <a:pt x="3651478" y="2043722"/>
                </a:lnTo>
                <a:lnTo>
                  <a:pt x="3672909" y="2000010"/>
                </a:lnTo>
                <a:lnTo>
                  <a:pt x="3688346" y="1954434"/>
                </a:lnTo>
                <a:lnTo>
                  <a:pt x="3697882" y="1906881"/>
                </a:lnTo>
                <a:lnTo>
                  <a:pt x="3701137" y="1858314"/>
                </a:lnTo>
                <a:lnTo>
                  <a:pt x="3701161" y="1857959"/>
                </a:lnTo>
                <a:lnTo>
                  <a:pt x="3700792" y="371513"/>
                </a:lnTo>
                <a:lnTo>
                  <a:pt x="3697637" y="322951"/>
                </a:lnTo>
                <a:lnTo>
                  <a:pt x="3688238" y="275397"/>
                </a:lnTo>
                <a:lnTo>
                  <a:pt x="3672696" y="229461"/>
                </a:lnTo>
                <a:lnTo>
                  <a:pt x="3651110" y="185750"/>
                </a:lnTo>
                <a:lnTo>
                  <a:pt x="3623979" y="145253"/>
                </a:lnTo>
                <a:lnTo>
                  <a:pt x="3591985" y="108805"/>
                </a:lnTo>
                <a:lnTo>
                  <a:pt x="3555534" y="76813"/>
                </a:lnTo>
                <a:lnTo>
                  <a:pt x="3515029" y="49682"/>
                </a:lnTo>
                <a:lnTo>
                  <a:pt x="3471325" y="28246"/>
                </a:lnTo>
                <a:lnTo>
                  <a:pt x="3425393" y="12687"/>
                </a:lnTo>
                <a:lnTo>
                  <a:pt x="3377841" y="3205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83296" y="5505919"/>
            <a:ext cx="1807210" cy="6496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800" spc="100">
                <a:solidFill>
                  <a:srgbClr val="D3ECE3"/>
                </a:solidFill>
                <a:latin typeface="Segoe UI Symbol"/>
                <a:cs typeface="Segoe UI Symbol"/>
              </a:rPr>
              <a:t>Zachary</a:t>
            </a:r>
            <a:r>
              <a:rPr sz="18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-10">
                <a:solidFill>
                  <a:srgbClr val="D3ECE3"/>
                </a:solidFill>
                <a:latin typeface="Segoe UI Symbol"/>
                <a:cs typeface="Segoe UI Symbol"/>
              </a:rPr>
              <a:t>Morrow</a:t>
            </a:r>
            <a:endParaRPr sz="1800">
              <a:latin typeface="Segoe UI Symbol"/>
              <a:cs typeface="Segoe UI Symbol"/>
            </a:endParaRPr>
          </a:p>
          <a:p>
            <a:pPr marR="53340" algn="ctr">
              <a:lnSpc>
                <a:spcPct val="100000"/>
              </a:lnSpc>
              <a:spcBef>
                <a:spcPts val="500"/>
              </a:spcBef>
            </a:pP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Soil</a:t>
            </a:r>
            <a:r>
              <a:rPr sz="1300" spc="2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Testing</a:t>
            </a:r>
            <a:r>
              <a:rPr sz="1300" spc="2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Lead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45483" y="4079163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81" y="3205"/>
                </a:lnTo>
                <a:lnTo>
                  <a:pt x="322698" y="3205"/>
                </a:lnTo>
                <a:lnTo>
                  <a:pt x="275399" y="12553"/>
                </a:lnTo>
                <a:lnTo>
                  <a:pt x="229466" y="28096"/>
                </a:lnTo>
                <a:lnTo>
                  <a:pt x="185762" y="49682"/>
                </a:lnTo>
                <a:lnTo>
                  <a:pt x="145258" y="76813"/>
                </a:lnTo>
                <a:lnTo>
                  <a:pt x="108807" y="108805"/>
                </a:lnTo>
                <a:lnTo>
                  <a:pt x="76813" y="145253"/>
                </a:lnTo>
                <a:lnTo>
                  <a:pt x="49682" y="185750"/>
                </a:lnTo>
                <a:lnTo>
                  <a:pt x="28246" y="229461"/>
                </a:lnTo>
                <a:lnTo>
                  <a:pt x="12687" y="275397"/>
                </a:lnTo>
                <a:lnTo>
                  <a:pt x="3205" y="322951"/>
                </a:lnTo>
                <a:lnTo>
                  <a:pt x="0" y="371513"/>
                </a:lnTo>
                <a:lnTo>
                  <a:pt x="0" y="1858314"/>
                </a:lnTo>
                <a:lnTo>
                  <a:pt x="3131" y="1906521"/>
                </a:lnTo>
                <a:lnTo>
                  <a:pt x="3155" y="1906881"/>
                </a:lnTo>
                <a:lnTo>
                  <a:pt x="12482" y="1954074"/>
                </a:lnTo>
                <a:lnTo>
                  <a:pt x="12553" y="1954434"/>
                </a:lnTo>
                <a:lnTo>
                  <a:pt x="27975" y="2000010"/>
                </a:lnTo>
                <a:lnTo>
                  <a:pt x="49682" y="2044077"/>
                </a:lnTo>
                <a:lnTo>
                  <a:pt x="76813" y="2084574"/>
                </a:lnTo>
                <a:lnTo>
                  <a:pt x="108807" y="2121023"/>
                </a:lnTo>
                <a:lnTo>
                  <a:pt x="145258" y="2153019"/>
                </a:lnTo>
                <a:lnTo>
                  <a:pt x="185762" y="2180158"/>
                </a:lnTo>
                <a:lnTo>
                  <a:pt x="229466" y="2201588"/>
                </a:lnTo>
                <a:lnTo>
                  <a:pt x="275399" y="2217148"/>
                </a:lnTo>
                <a:lnTo>
                  <a:pt x="322951" y="2226633"/>
                </a:lnTo>
                <a:lnTo>
                  <a:pt x="371513" y="2229840"/>
                </a:lnTo>
                <a:lnTo>
                  <a:pt x="3329635" y="2229472"/>
                </a:lnTo>
                <a:lnTo>
                  <a:pt x="3378204" y="2226317"/>
                </a:lnTo>
                <a:lnTo>
                  <a:pt x="3425759" y="2216918"/>
                </a:lnTo>
                <a:lnTo>
                  <a:pt x="3471694" y="2201375"/>
                </a:lnTo>
                <a:lnTo>
                  <a:pt x="3515398" y="2179789"/>
                </a:lnTo>
                <a:lnTo>
                  <a:pt x="3555895" y="2152658"/>
                </a:lnTo>
                <a:lnTo>
                  <a:pt x="3592344" y="2120666"/>
                </a:lnTo>
                <a:lnTo>
                  <a:pt x="3624340" y="2084219"/>
                </a:lnTo>
                <a:lnTo>
                  <a:pt x="3651478" y="2043722"/>
                </a:lnTo>
                <a:lnTo>
                  <a:pt x="3672909" y="2000010"/>
                </a:lnTo>
                <a:lnTo>
                  <a:pt x="3688346" y="1954434"/>
                </a:lnTo>
                <a:lnTo>
                  <a:pt x="3697882" y="1906881"/>
                </a:lnTo>
                <a:lnTo>
                  <a:pt x="3697954" y="1906521"/>
                </a:lnTo>
                <a:lnTo>
                  <a:pt x="3701137" y="1858314"/>
                </a:lnTo>
                <a:lnTo>
                  <a:pt x="3701161" y="1857959"/>
                </a:lnTo>
                <a:lnTo>
                  <a:pt x="3700792" y="371513"/>
                </a:lnTo>
                <a:lnTo>
                  <a:pt x="3697637" y="322951"/>
                </a:lnTo>
                <a:lnTo>
                  <a:pt x="3688240" y="275397"/>
                </a:lnTo>
                <a:lnTo>
                  <a:pt x="3672701" y="229461"/>
                </a:lnTo>
                <a:lnTo>
                  <a:pt x="3651122" y="185750"/>
                </a:lnTo>
                <a:lnTo>
                  <a:pt x="3623984" y="145253"/>
                </a:lnTo>
                <a:lnTo>
                  <a:pt x="3591988" y="108805"/>
                </a:lnTo>
                <a:lnTo>
                  <a:pt x="3555539" y="76813"/>
                </a:lnTo>
                <a:lnTo>
                  <a:pt x="3515042" y="49682"/>
                </a:lnTo>
                <a:lnTo>
                  <a:pt x="3471333" y="28246"/>
                </a:lnTo>
                <a:lnTo>
                  <a:pt x="3425399" y="12687"/>
                </a:lnTo>
                <a:lnTo>
                  <a:pt x="3377846" y="3205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5041341" y="5669533"/>
            <a:ext cx="210756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100">
                <a:solidFill>
                  <a:srgbClr val="D3ECE3"/>
                </a:solidFill>
                <a:latin typeface="Segoe UI Symbol"/>
                <a:cs typeface="Segoe UI Symbol"/>
              </a:rPr>
              <a:t>Rebecca</a:t>
            </a:r>
            <a:r>
              <a:rPr sz="18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75">
                <a:solidFill>
                  <a:srgbClr val="D3ECE3"/>
                </a:solidFill>
                <a:latin typeface="Segoe UI Symbol"/>
                <a:cs typeface="Segoe UI Symbol"/>
              </a:rPr>
              <a:t>Ueltschey</a:t>
            </a:r>
            <a:endParaRPr sz="1800">
              <a:latin typeface="Segoe UI Symbol"/>
              <a:cs typeface="Segoe UI Symbol"/>
            </a:endParaRPr>
          </a:p>
          <a:p>
            <a:pPr marL="1905" algn="ctr">
              <a:lnSpc>
                <a:spcPct val="100000"/>
              </a:lnSpc>
            </a:pPr>
            <a:r>
              <a:rPr sz="1300">
                <a:solidFill>
                  <a:srgbClr val="A8DAC8"/>
                </a:solidFill>
                <a:latin typeface="Segoe UI Symbol"/>
                <a:cs typeface="Segoe UI Symbol"/>
              </a:rPr>
              <a:t>Drivetrain</a:t>
            </a:r>
            <a:r>
              <a:rPr sz="1300" spc="30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55">
                <a:solidFill>
                  <a:srgbClr val="A8DAC8"/>
                </a:solidFill>
                <a:latin typeface="Segoe UI Symbol"/>
                <a:cs typeface="Segoe UI Symbol"/>
              </a:rPr>
              <a:t>Lead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53286" y="4079163"/>
            <a:ext cx="3701415" cy="2230120"/>
          </a:xfrm>
          <a:custGeom>
            <a:avLst/>
            <a:gdLst/>
            <a:ahLst/>
            <a:cxnLst/>
            <a:rect l="l" t="t" r="r" b="b"/>
            <a:pathLst>
              <a:path w="3701415" h="2230120">
                <a:moveTo>
                  <a:pt x="3329279" y="0"/>
                </a:moveTo>
                <a:lnTo>
                  <a:pt x="371513" y="0"/>
                </a:lnTo>
                <a:lnTo>
                  <a:pt x="322176" y="3205"/>
                </a:lnTo>
                <a:lnTo>
                  <a:pt x="322692" y="3205"/>
                </a:lnTo>
                <a:lnTo>
                  <a:pt x="275393" y="12553"/>
                </a:lnTo>
                <a:lnTo>
                  <a:pt x="229459" y="28096"/>
                </a:lnTo>
                <a:lnTo>
                  <a:pt x="185750" y="49682"/>
                </a:lnTo>
                <a:lnTo>
                  <a:pt x="145253" y="76813"/>
                </a:lnTo>
                <a:lnTo>
                  <a:pt x="108804" y="108805"/>
                </a:lnTo>
                <a:lnTo>
                  <a:pt x="76808" y="145253"/>
                </a:lnTo>
                <a:lnTo>
                  <a:pt x="49669" y="185750"/>
                </a:lnTo>
                <a:lnTo>
                  <a:pt x="28241" y="229461"/>
                </a:lnTo>
                <a:lnTo>
                  <a:pt x="12685" y="275397"/>
                </a:lnTo>
                <a:lnTo>
                  <a:pt x="3204" y="322951"/>
                </a:lnTo>
                <a:lnTo>
                  <a:pt x="0" y="371513"/>
                </a:lnTo>
                <a:lnTo>
                  <a:pt x="0" y="1858314"/>
                </a:lnTo>
                <a:lnTo>
                  <a:pt x="3131" y="1906521"/>
                </a:lnTo>
                <a:lnTo>
                  <a:pt x="3154" y="1906881"/>
                </a:lnTo>
                <a:lnTo>
                  <a:pt x="12481" y="1954074"/>
                </a:lnTo>
                <a:lnTo>
                  <a:pt x="12552" y="1954434"/>
                </a:lnTo>
                <a:lnTo>
                  <a:pt x="27970" y="2000010"/>
                </a:lnTo>
                <a:lnTo>
                  <a:pt x="28091" y="2000368"/>
                </a:lnTo>
                <a:lnTo>
                  <a:pt x="49669" y="2044077"/>
                </a:lnTo>
                <a:lnTo>
                  <a:pt x="76808" y="2084574"/>
                </a:lnTo>
                <a:lnTo>
                  <a:pt x="108804" y="2121023"/>
                </a:lnTo>
                <a:lnTo>
                  <a:pt x="145253" y="2153019"/>
                </a:lnTo>
                <a:lnTo>
                  <a:pt x="185750" y="2180158"/>
                </a:lnTo>
                <a:lnTo>
                  <a:pt x="229459" y="2201588"/>
                </a:lnTo>
                <a:lnTo>
                  <a:pt x="275393" y="2217148"/>
                </a:lnTo>
                <a:lnTo>
                  <a:pt x="322945" y="2226633"/>
                </a:lnTo>
                <a:lnTo>
                  <a:pt x="371513" y="2229840"/>
                </a:lnTo>
                <a:lnTo>
                  <a:pt x="3329635" y="2229472"/>
                </a:lnTo>
                <a:lnTo>
                  <a:pt x="3378202" y="2226317"/>
                </a:lnTo>
                <a:lnTo>
                  <a:pt x="3425755" y="2216918"/>
                </a:lnTo>
                <a:lnTo>
                  <a:pt x="3471688" y="2201375"/>
                </a:lnTo>
                <a:lnTo>
                  <a:pt x="3515398" y="2179789"/>
                </a:lnTo>
                <a:lnTo>
                  <a:pt x="3555895" y="2152658"/>
                </a:lnTo>
                <a:lnTo>
                  <a:pt x="3592344" y="2120666"/>
                </a:lnTo>
                <a:lnTo>
                  <a:pt x="3624340" y="2084219"/>
                </a:lnTo>
                <a:lnTo>
                  <a:pt x="3651478" y="2043722"/>
                </a:lnTo>
                <a:lnTo>
                  <a:pt x="3672907" y="2000010"/>
                </a:lnTo>
                <a:lnTo>
                  <a:pt x="3688340" y="1954434"/>
                </a:lnTo>
                <a:lnTo>
                  <a:pt x="3688462" y="1954074"/>
                </a:lnTo>
                <a:lnTo>
                  <a:pt x="3697871" y="1906881"/>
                </a:lnTo>
                <a:lnTo>
                  <a:pt x="3697943" y="1906521"/>
                </a:lnTo>
                <a:lnTo>
                  <a:pt x="3701124" y="1858314"/>
                </a:lnTo>
                <a:lnTo>
                  <a:pt x="3700792" y="371513"/>
                </a:lnTo>
                <a:lnTo>
                  <a:pt x="3697637" y="322951"/>
                </a:lnTo>
                <a:lnTo>
                  <a:pt x="3688238" y="275397"/>
                </a:lnTo>
                <a:lnTo>
                  <a:pt x="3672696" y="229461"/>
                </a:lnTo>
                <a:lnTo>
                  <a:pt x="3651110" y="185750"/>
                </a:lnTo>
                <a:lnTo>
                  <a:pt x="3623979" y="145253"/>
                </a:lnTo>
                <a:lnTo>
                  <a:pt x="3591985" y="108805"/>
                </a:lnTo>
                <a:lnTo>
                  <a:pt x="3555534" y="76813"/>
                </a:lnTo>
                <a:lnTo>
                  <a:pt x="3515029" y="49682"/>
                </a:lnTo>
                <a:lnTo>
                  <a:pt x="3471325" y="28246"/>
                </a:lnTo>
                <a:lnTo>
                  <a:pt x="3425393" y="12687"/>
                </a:lnTo>
                <a:lnTo>
                  <a:pt x="3377841" y="3205"/>
                </a:lnTo>
                <a:lnTo>
                  <a:pt x="332927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720543" y="5669533"/>
            <a:ext cx="2562860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D3ECE3"/>
                </a:solidFill>
                <a:latin typeface="Segoe UI Symbol"/>
                <a:cs typeface="Segoe UI Symbol"/>
              </a:rPr>
              <a:t>Dr.</a:t>
            </a:r>
            <a:r>
              <a:rPr sz="18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D3ECE3"/>
                </a:solidFill>
                <a:latin typeface="Segoe UI Symbol"/>
                <a:cs typeface="Segoe UI Symbol"/>
              </a:rPr>
              <a:t>Christopher </a:t>
            </a:r>
            <a:r>
              <a:rPr sz="1800" spc="45">
                <a:solidFill>
                  <a:srgbClr val="D3ECE3"/>
                </a:solidFill>
                <a:latin typeface="Segoe UI Symbol"/>
                <a:cs typeface="Segoe UI Symbol"/>
              </a:rPr>
              <a:t>Hudson</a:t>
            </a:r>
            <a:endParaRPr sz="1800">
              <a:latin typeface="Segoe UI Symbol"/>
              <a:cs typeface="Segoe UI Symbol"/>
            </a:endParaRPr>
          </a:p>
          <a:p>
            <a:pPr marL="3175" algn="ctr">
              <a:lnSpc>
                <a:spcPct val="100000"/>
              </a:lnSpc>
            </a:pPr>
            <a:r>
              <a:rPr sz="1300" spc="60">
                <a:solidFill>
                  <a:srgbClr val="A8DAC8"/>
                </a:solidFill>
                <a:latin typeface="Segoe UI Symbol"/>
                <a:cs typeface="Segoe UI Symbol"/>
              </a:rPr>
              <a:t>Faculty</a:t>
            </a:r>
            <a:r>
              <a:rPr sz="1300" spc="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300" spc="40">
                <a:solidFill>
                  <a:srgbClr val="A8DAC8"/>
                </a:solidFill>
                <a:latin typeface="Segoe UI Symbol"/>
                <a:cs typeface="Segoe UI Symbol"/>
              </a:rPr>
              <a:t>Advisor</a:t>
            </a:r>
            <a:endParaRPr sz="1300">
              <a:latin typeface="Segoe UI Symbol"/>
              <a:cs typeface="Segoe UI Symbol"/>
            </a:endParaRPr>
          </a:p>
        </p:txBody>
      </p:sp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1ACF6B6-41A9-5890-16EE-2116BFA70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3" t="6188" r="18974" b="24143"/>
          <a:stretch>
            <a:fillRect/>
          </a:stretch>
        </p:blipFill>
        <p:spPr>
          <a:xfrm>
            <a:off x="1592981" y="4270460"/>
            <a:ext cx="1279720" cy="1377502"/>
          </a:xfrm>
          <a:prstGeom prst="rect">
            <a:avLst/>
          </a:prstGeom>
        </p:spPr>
      </p:pic>
      <p:pic>
        <p:nvPicPr>
          <p:cNvPr id="17" name="Picture 16" descr="The image shows a person with curly hair dressed in a suit and wearing a patterned tie.&#10;&#10;AI-generated content may be incorrect.">
            <a:extLst>
              <a:ext uri="{FF2B5EF4-FFF2-40B4-BE49-F238E27FC236}">
                <a16:creationId xmlns:a16="http://schemas.microsoft.com/office/drawing/2014/main" id="{01ED5BC3-C847-E278-715B-F3BDFF1EE7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93" t="8594" r="17071" b="21759"/>
          <a:stretch>
            <a:fillRect/>
          </a:stretch>
        </p:blipFill>
        <p:spPr>
          <a:xfrm>
            <a:off x="5401356" y="1752245"/>
            <a:ext cx="1387533" cy="1467852"/>
          </a:xfrm>
          <a:prstGeom prst="rect">
            <a:avLst/>
          </a:prstGeom>
        </p:spPr>
      </p:pic>
      <p:pic>
        <p:nvPicPr>
          <p:cNvPr id="20" name="Picture 19" descr="https://www.cse.msstate.edu/wp-content/uploads/Hudson_Image.jpg">
            <a:extLst>
              <a:ext uri="{FF2B5EF4-FFF2-40B4-BE49-F238E27FC236}">
                <a16:creationId xmlns:a16="http://schemas.microsoft.com/office/drawing/2014/main" id="{0556AA1E-684A-BCE4-E9FD-C60C78A161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14" t="9021" r="24562" b="47823"/>
          <a:stretch>
            <a:fillRect/>
          </a:stretch>
        </p:blipFill>
        <p:spPr>
          <a:xfrm>
            <a:off x="9443833" y="4165723"/>
            <a:ext cx="1210058" cy="1482239"/>
          </a:xfrm>
          <a:prstGeom prst="rect">
            <a:avLst/>
          </a:prstGeom>
        </p:spPr>
      </p:pic>
      <p:pic>
        <p:nvPicPr>
          <p:cNvPr id="23" name="Picture 22" descr="File:Portrait Placeholder.png - Wikimedia Commons">
            <a:hlinkClick r:id="rId5"/>
            <a:extLst>
              <a:ext uri="{FF2B5EF4-FFF2-40B4-BE49-F238E27FC236}">
                <a16:creationId xmlns:a16="http://schemas.microsoft.com/office/drawing/2014/main" id="{630AE461-02BA-46B3-0ED2-CA3C5A08F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356" y="4165723"/>
            <a:ext cx="1463077" cy="1463077"/>
          </a:xfrm>
          <a:prstGeom prst="rect">
            <a:avLst/>
          </a:prstGeom>
        </p:spPr>
      </p:pic>
      <p:pic>
        <p:nvPicPr>
          <p:cNvPr id="28" name="Picture 27" descr="The image shows a person with dark hair wearing a black shirt.&#10;&#10;AI-generated content may be incorrect.">
            <a:extLst>
              <a:ext uri="{FF2B5EF4-FFF2-40B4-BE49-F238E27FC236}">
                <a16:creationId xmlns:a16="http://schemas.microsoft.com/office/drawing/2014/main" id="{5CF97D9B-420E-74EB-153F-2D65FE068D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696" t="7987" r="26727" b="43383"/>
          <a:stretch>
            <a:fillRect/>
          </a:stretch>
        </p:blipFill>
        <p:spPr>
          <a:xfrm>
            <a:off x="9372508" y="1793018"/>
            <a:ext cx="1162651" cy="1424965"/>
          </a:xfrm>
          <a:prstGeom prst="rect">
            <a:avLst/>
          </a:prstGeom>
        </p:spPr>
      </p:pic>
      <p:pic>
        <p:nvPicPr>
          <p:cNvPr id="30" name="Picture 29" descr="The image shows an individual dressed in a black suit and white shirt, wearing a black tie, against a neutral background.&#10;&#10;AI-generated content may be incorrect.">
            <a:extLst>
              <a:ext uri="{FF2B5EF4-FFF2-40B4-BE49-F238E27FC236}">
                <a16:creationId xmlns:a16="http://schemas.microsoft.com/office/drawing/2014/main" id="{7D6725C5-2421-7D60-4BEF-830FD21B22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401" t="10765" r="24580" b="40520"/>
          <a:stretch>
            <a:fillRect/>
          </a:stretch>
        </p:blipFill>
        <p:spPr>
          <a:xfrm>
            <a:off x="1691542" y="1829077"/>
            <a:ext cx="966466" cy="1335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37324" y="1629714"/>
            <a:ext cx="5133975" cy="4679315"/>
          </a:xfrm>
          <a:custGeom>
            <a:avLst/>
            <a:gdLst/>
            <a:ahLst/>
            <a:cxnLst/>
            <a:rect l="l" t="t" r="r" b="b"/>
            <a:pathLst>
              <a:path w="5133975" h="4679315">
                <a:moveTo>
                  <a:pt x="4353839" y="0"/>
                </a:moveTo>
                <a:lnTo>
                  <a:pt x="779754" y="0"/>
                </a:lnTo>
                <a:lnTo>
                  <a:pt x="728596" y="1680"/>
                </a:lnTo>
                <a:lnTo>
                  <a:pt x="677827" y="6694"/>
                </a:lnTo>
                <a:lnTo>
                  <a:pt x="627598" y="14999"/>
                </a:lnTo>
                <a:lnTo>
                  <a:pt x="578062" y="26552"/>
                </a:lnTo>
                <a:lnTo>
                  <a:pt x="529370" y="41312"/>
                </a:lnTo>
                <a:lnTo>
                  <a:pt x="481674" y="59235"/>
                </a:lnTo>
                <a:lnTo>
                  <a:pt x="435126" y="80281"/>
                </a:lnTo>
                <a:lnTo>
                  <a:pt x="389877" y="104406"/>
                </a:lnTo>
                <a:lnTo>
                  <a:pt x="346389" y="131454"/>
                </a:lnTo>
                <a:lnTo>
                  <a:pt x="304859" y="161214"/>
                </a:lnTo>
                <a:lnTo>
                  <a:pt x="265431" y="193565"/>
                </a:lnTo>
                <a:lnTo>
                  <a:pt x="228371" y="228245"/>
                </a:lnTo>
                <a:lnTo>
                  <a:pt x="193552" y="265386"/>
                </a:lnTo>
                <a:lnTo>
                  <a:pt x="161202" y="304779"/>
                </a:lnTo>
                <a:lnTo>
                  <a:pt x="131376" y="346423"/>
                </a:lnTo>
                <a:lnTo>
                  <a:pt x="104393" y="389889"/>
                </a:lnTo>
                <a:lnTo>
                  <a:pt x="80223" y="435138"/>
                </a:lnTo>
                <a:lnTo>
                  <a:pt x="59225" y="481537"/>
                </a:lnTo>
                <a:lnTo>
                  <a:pt x="41303" y="529227"/>
                </a:lnTo>
                <a:lnTo>
                  <a:pt x="26546" y="577942"/>
                </a:lnTo>
                <a:lnTo>
                  <a:pt x="14979" y="627611"/>
                </a:lnTo>
                <a:lnTo>
                  <a:pt x="6687" y="677840"/>
                </a:lnTo>
                <a:lnTo>
                  <a:pt x="1679" y="728609"/>
                </a:lnTo>
                <a:lnTo>
                  <a:pt x="0" y="779767"/>
                </a:lnTo>
                <a:lnTo>
                  <a:pt x="0" y="3899522"/>
                </a:lnTo>
                <a:lnTo>
                  <a:pt x="1668" y="3950339"/>
                </a:lnTo>
                <a:lnTo>
                  <a:pt x="1680" y="3950680"/>
                </a:lnTo>
                <a:lnTo>
                  <a:pt x="6662" y="4001143"/>
                </a:lnTo>
                <a:lnTo>
                  <a:pt x="6692" y="4001449"/>
                </a:lnTo>
                <a:lnTo>
                  <a:pt x="14951" y="4051416"/>
                </a:lnTo>
                <a:lnTo>
                  <a:pt x="26494" y="4100991"/>
                </a:lnTo>
                <a:lnTo>
                  <a:pt x="41243" y="4149706"/>
                </a:lnTo>
                <a:lnTo>
                  <a:pt x="59148" y="4197396"/>
                </a:lnTo>
                <a:lnTo>
                  <a:pt x="80154" y="4243897"/>
                </a:lnTo>
                <a:lnTo>
                  <a:pt x="104393" y="4289399"/>
                </a:lnTo>
                <a:lnTo>
                  <a:pt x="131427" y="4332866"/>
                </a:lnTo>
                <a:lnTo>
                  <a:pt x="161152" y="4374354"/>
                </a:lnTo>
                <a:lnTo>
                  <a:pt x="193459" y="4413741"/>
                </a:lnTo>
                <a:lnTo>
                  <a:pt x="228238" y="4450905"/>
                </a:lnTo>
                <a:lnTo>
                  <a:pt x="265379" y="4485723"/>
                </a:lnTo>
                <a:lnTo>
                  <a:pt x="304772" y="4518074"/>
                </a:lnTo>
                <a:lnTo>
                  <a:pt x="346308" y="4547835"/>
                </a:lnTo>
                <a:lnTo>
                  <a:pt x="389877" y="4574882"/>
                </a:lnTo>
                <a:lnTo>
                  <a:pt x="435024" y="4599008"/>
                </a:lnTo>
                <a:lnTo>
                  <a:pt x="481524" y="4620053"/>
                </a:lnTo>
                <a:lnTo>
                  <a:pt x="529214" y="4637977"/>
                </a:lnTo>
                <a:lnTo>
                  <a:pt x="577929" y="4652737"/>
                </a:lnTo>
                <a:lnTo>
                  <a:pt x="627505" y="4664290"/>
                </a:lnTo>
                <a:lnTo>
                  <a:pt x="677777" y="4672595"/>
                </a:lnTo>
                <a:lnTo>
                  <a:pt x="728582" y="4677608"/>
                </a:lnTo>
                <a:lnTo>
                  <a:pt x="779754" y="4679289"/>
                </a:lnTo>
                <a:lnTo>
                  <a:pt x="4354195" y="4678921"/>
                </a:lnTo>
                <a:lnTo>
                  <a:pt x="4405352" y="4677241"/>
                </a:lnTo>
                <a:lnTo>
                  <a:pt x="4456122" y="4672228"/>
                </a:lnTo>
                <a:lnTo>
                  <a:pt x="4506350" y="4663926"/>
                </a:lnTo>
                <a:lnTo>
                  <a:pt x="4555886" y="4652375"/>
                </a:lnTo>
                <a:lnTo>
                  <a:pt x="4604578" y="4637617"/>
                </a:lnTo>
                <a:lnTo>
                  <a:pt x="4652275" y="4619696"/>
                </a:lnTo>
                <a:lnTo>
                  <a:pt x="4698823" y="4598651"/>
                </a:lnTo>
                <a:lnTo>
                  <a:pt x="4744072" y="4574527"/>
                </a:lnTo>
                <a:lnTo>
                  <a:pt x="4787538" y="4547494"/>
                </a:lnTo>
                <a:lnTo>
                  <a:pt x="4829026" y="4517769"/>
                </a:lnTo>
                <a:lnTo>
                  <a:pt x="4868414" y="4485462"/>
                </a:lnTo>
                <a:lnTo>
                  <a:pt x="4905578" y="4450683"/>
                </a:lnTo>
                <a:lnTo>
                  <a:pt x="4940396" y="4413542"/>
                </a:lnTo>
                <a:lnTo>
                  <a:pt x="4972747" y="4374148"/>
                </a:lnTo>
                <a:lnTo>
                  <a:pt x="5002507" y="4332612"/>
                </a:lnTo>
                <a:lnTo>
                  <a:pt x="5029555" y="4289044"/>
                </a:lnTo>
                <a:lnTo>
                  <a:pt x="5053680" y="4243897"/>
                </a:lnTo>
                <a:lnTo>
                  <a:pt x="5074631" y="4197602"/>
                </a:lnTo>
                <a:lnTo>
                  <a:pt x="5074724" y="4197396"/>
                </a:lnTo>
                <a:lnTo>
                  <a:pt x="5092571" y="4149906"/>
                </a:lnTo>
                <a:lnTo>
                  <a:pt x="5092646" y="4149706"/>
                </a:lnTo>
                <a:lnTo>
                  <a:pt x="5107336" y="4101214"/>
                </a:lnTo>
                <a:lnTo>
                  <a:pt x="5118893" y="4051677"/>
                </a:lnTo>
                <a:lnTo>
                  <a:pt x="5127206" y="4001449"/>
                </a:lnTo>
                <a:lnTo>
                  <a:pt x="5132235" y="3950680"/>
                </a:lnTo>
                <a:lnTo>
                  <a:pt x="5133937" y="3899522"/>
                </a:lnTo>
                <a:lnTo>
                  <a:pt x="5133594" y="779767"/>
                </a:lnTo>
                <a:lnTo>
                  <a:pt x="5131913" y="728609"/>
                </a:lnTo>
                <a:lnTo>
                  <a:pt x="5126899" y="677840"/>
                </a:lnTo>
                <a:lnTo>
                  <a:pt x="5118595" y="627611"/>
                </a:lnTo>
                <a:lnTo>
                  <a:pt x="5107043" y="578075"/>
                </a:lnTo>
                <a:lnTo>
                  <a:pt x="5092284" y="529383"/>
                </a:lnTo>
                <a:lnTo>
                  <a:pt x="5074363" y="481687"/>
                </a:lnTo>
                <a:lnTo>
                  <a:pt x="5053320" y="435138"/>
                </a:lnTo>
                <a:lnTo>
                  <a:pt x="5029200" y="389889"/>
                </a:lnTo>
                <a:lnTo>
                  <a:pt x="5002166" y="346423"/>
                </a:lnTo>
                <a:lnTo>
                  <a:pt x="4972441" y="304935"/>
                </a:lnTo>
                <a:lnTo>
                  <a:pt x="4940134" y="265548"/>
                </a:lnTo>
                <a:lnTo>
                  <a:pt x="4905355" y="228384"/>
                </a:lnTo>
                <a:lnTo>
                  <a:pt x="4868214" y="193565"/>
                </a:lnTo>
                <a:lnTo>
                  <a:pt x="4828821" y="161214"/>
                </a:lnTo>
                <a:lnTo>
                  <a:pt x="4787285" y="131454"/>
                </a:lnTo>
                <a:lnTo>
                  <a:pt x="4743716" y="104406"/>
                </a:lnTo>
                <a:lnTo>
                  <a:pt x="4698569" y="80281"/>
                </a:lnTo>
                <a:lnTo>
                  <a:pt x="4652067" y="59235"/>
                </a:lnTo>
                <a:lnTo>
                  <a:pt x="4604376" y="41312"/>
                </a:lnTo>
                <a:lnTo>
                  <a:pt x="4555659" y="26552"/>
                </a:lnTo>
                <a:lnTo>
                  <a:pt x="4506083" y="14999"/>
                </a:lnTo>
                <a:lnTo>
                  <a:pt x="4455811" y="6694"/>
                </a:lnTo>
                <a:lnTo>
                  <a:pt x="4405008" y="1680"/>
                </a:lnTo>
                <a:lnTo>
                  <a:pt x="435383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861" y="2324785"/>
            <a:ext cx="12128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0">
                <a:solidFill>
                  <a:srgbClr val="D3ECE3"/>
                </a:solidFill>
                <a:latin typeface="Segoe UI Symbol"/>
                <a:cs typeface="Segoe UI Symbol"/>
              </a:rPr>
              <a:t>25,000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985" y="2286622"/>
            <a:ext cx="3223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people</a:t>
            </a:r>
            <a:r>
              <a:rPr sz="1800" spc="114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die</a:t>
            </a:r>
            <a:r>
              <a:rPr sz="1800" spc="1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95">
                <a:solidFill>
                  <a:srgbClr val="A8DAC8"/>
                </a:solidFill>
                <a:latin typeface="Segoe UI Symbol"/>
                <a:cs typeface="Segoe UI Symbol"/>
              </a:rPr>
              <a:t>every</a:t>
            </a:r>
            <a:r>
              <a:rPr sz="1800" spc="1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70">
                <a:solidFill>
                  <a:srgbClr val="A8DAC8"/>
                </a:solidFill>
                <a:latin typeface="Segoe UI Symbol"/>
                <a:cs typeface="Segoe UI Symbol"/>
              </a:rPr>
              <a:t>day</a:t>
            </a:r>
            <a:r>
              <a:rPr sz="1800" spc="10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-20">
                <a:solidFill>
                  <a:srgbClr val="A8DAC8"/>
                </a:solidFill>
                <a:latin typeface="Segoe UI Symbol"/>
                <a:cs typeface="Segoe UI Symbol"/>
              </a:rPr>
              <a:t>from </a:t>
            </a:r>
            <a:r>
              <a:rPr sz="1800" spc="50">
                <a:solidFill>
                  <a:srgbClr val="A8DAC8"/>
                </a:solidFill>
                <a:latin typeface="Segoe UI Symbol"/>
                <a:cs typeface="Segoe UI Symbol"/>
              </a:rPr>
              <a:t>hunger</a:t>
            </a:r>
            <a:r>
              <a:rPr sz="1800" spc="9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50">
                <a:solidFill>
                  <a:srgbClr val="A8DAC8"/>
                </a:solidFill>
                <a:latin typeface="Segoe UI Symbol"/>
                <a:cs typeface="Segoe UI Symbol"/>
              </a:rPr>
              <a:t>and</a:t>
            </a:r>
            <a:r>
              <a:rPr sz="1800" spc="10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related</a:t>
            </a:r>
            <a:r>
              <a:rPr sz="1800" spc="9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130">
                <a:solidFill>
                  <a:srgbClr val="A8DAC8"/>
                </a:solidFill>
                <a:latin typeface="Segoe UI Symbol"/>
                <a:cs typeface="Segoe UI Symbol"/>
              </a:rPr>
              <a:t>causes</a:t>
            </a:r>
            <a:r>
              <a:rPr sz="1800" spc="9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-25">
                <a:solidFill>
                  <a:srgbClr val="A8DAC8"/>
                </a:solidFill>
                <a:latin typeface="Segoe UI Symbol"/>
                <a:cs typeface="Segoe UI Symbol"/>
              </a:rPr>
              <a:t>[1]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861" y="3605669"/>
            <a:ext cx="11652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5">
                <a:solidFill>
                  <a:srgbClr val="D3ECE3"/>
                </a:solidFill>
                <a:latin typeface="Segoe UI Symbol"/>
                <a:cs typeface="Segoe UI Symbol"/>
              </a:rPr>
              <a:t>$41.5B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5985" y="3603497"/>
            <a:ext cx="2834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45">
                <a:solidFill>
                  <a:srgbClr val="A8DAC8"/>
                </a:solidFill>
                <a:latin typeface="Segoe UI Symbol"/>
                <a:cs typeface="Segoe UI Symbol"/>
              </a:rPr>
              <a:t>projected</a:t>
            </a:r>
            <a:r>
              <a:rPr sz="1800" spc="1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114">
                <a:solidFill>
                  <a:srgbClr val="A8DAC8"/>
                </a:solidFill>
                <a:latin typeface="Segoe UI Symbol"/>
                <a:cs typeface="Segoe UI Symbol"/>
              </a:rPr>
              <a:t>U.S.</a:t>
            </a:r>
            <a:r>
              <a:rPr sz="1800" spc="1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35">
                <a:solidFill>
                  <a:srgbClr val="A8DAC8"/>
                </a:solidFill>
                <a:latin typeface="Segoe UI Symbol"/>
                <a:cs typeface="Segoe UI Symbol"/>
              </a:rPr>
              <a:t>agricultural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trade</a:t>
            </a:r>
            <a:r>
              <a:rPr sz="1800" spc="9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A8DAC8"/>
                </a:solidFill>
                <a:latin typeface="Segoe UI Symbol"/>
                <a:cs typeface="Segoe UI Symbol"/>
              </a:rPr>
              <a:t>deficit,</a:t>
            </a:r>
            <a:r>
              <a:rPr sz="1800" spc="9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150">
                <a:solidFill>
                  <a:srgbClr val="A8DAC8"/>
                </a:solidFill>
                <a:latin typeface="Segoe UI Symbol"/>
                <a:cs typeface="Segoe UI Symbol"/>
              </a:rPr>
              <a:t>FY2026</a:t>
            </a:r>
            <a:r>
              <a:rPr sz="1800" spc="1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85">
                <a:solidFill>
                  <a:srgbClr val="A8DAC8"/>
                </a:solidFill>
                <a:latin typeface="Segoe UI Symbol"/>
                <a:cs typeface="Segoe UI Symbol"/>
              </a:rPr>
              <a:t>[2]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861" y="4886540"/>
            <a:ext cx="824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90">
                <a:solidFill>
                  <a:srgbClr val="D3ECE3"/>
                </a:solidFill>
                <a:latin typeface="Segoe UI Symbol"/>
                <a:cs typeface="Segoe UI Symbol"/>
              </a:rPr>
              <a:t>49%</a:t>
            </a:r>
            <a:endParaRPr sz="28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5985" y="4799774"/>
            <a:ext cx="31610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50">
                <a:solidFill>
                  <a:srgbClr val="A8DAC8"/>
                </a:solidFill>
                <a:latin typeface="Segoe UI Symbol"/>
                <a:cs typeface="Segoe UI Symbol"/>
              </a:rPr>
              <a:t>of</a:t>
            </a:r>
            <a:r>
              <a:rPr sz="1800" spc="2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114">
                <a:solidFill>
                  <a:srgbClr val="A8DAC8"/>
                </a:solidFill>
                <a:latin typeface="Segoe UI Symbol"/>
                <a:cs typeface="Segoe UI Symbol"/>
              </a:rPr>
              <a:t>U.S.</a:t>
            </a:r>
            <a:r>
              <a:rPr sz="1800" spc="2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A8DAC8"/>
                </a:solidFill>
                <a:latin typeface="Segoe UI Symbol"/>
                <a:cs typeface="Segoe UI Symbol"/>
              </a:rPr>
              <a:t>crop</a:t>
            </a:r>
            <a:r>
              <a:rPr sz="1800" spc="2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65">
                <a:solidFill>
                  <a:srgbClr val="A8DAC8"/>
                </a:solidFill>
                <a:latin typeface="Segoe UI Symbol"/>
                <a:cs typeface="Segoe UI Symbol"/>
              </a:rPr>
              <a:t>fields</a:t>
            </a:r>
            <a:r>
              <a:rPr sz="1800" spc="1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90">
                <a:solidFill>
                  <a:srgbClr val="A8DAC8"/>
                </a:solidFill>
                <a:latin typeface="Segoe UI Symbol"/>
                <a:cs typeface="Segoe UI Symbol"/>
              </a:rPr>
              <a:t>show</a:t>
            </a:r>
            <a:r>
              <a:rPr sz="1800" spc="2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-20">
                <a:solidFill>
                  <a:srgbClr val="A8DAC8"/>
                </a:solidFill>
                <a:latin typeface="Segoe UI Symbol"/>
                <a:cs typeface="Segoe UI Symbol"/>
              </a:rPr>
              <a:t>poor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health</a:t>
            </a:r>
            <a:r>
              <a:rPr sz="1800" spc="21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or</a:t>
            </a:r>
            <a:r>
              <a:rPr sz="1800" spc="19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A8DAC8"/>
                </a:solidFill>
                <a:latin typeface="Segoe UI Symbol"/>
                <a:cs typeface="Segoe UI Symbol"/>
              </a:rPr>
              <a:t>nutrient</a:t>
            </a:r>
            <a:r>
              <a:rPr sz="1800" spc="20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800" spc="50">
                <a:solidFill>
                  <a:srgbClr val="A8DAC8"/>
                </a:solidFill>
                <a:latin typeface="Segoe UI Symbol"/>
                <a:cs typeface="Segoe UI Symbol"/>
              </a:rPr>
              <a:t>imbalance </a:t>
            </a:r>
            <a:r>
              <a:rPr sz="1800" spc="95">
                <a:solidFill>
                  <a:srgbClr val="A8DAC8"/>
                </a:solidFill>
                <a:latin typeface="Segoe UI Symbol"/>
                <a:cs typeface="Segoe UI Symbol"/>
              </a:rPr>
              <a:t>[3]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20484" y="1600200"/>
            <a:ext cx="5133975" cy="4679315"/>
          </a:xfrm>
          <a:custGeom>
            <a:avLst/>
            <a:gdLst/>
            <a:ahLst/>
            <a:cxnLst/>
            <a:rect l="l" t="t" r="r" b="b"/>
            <a:pathLst>
              <a:path w="5133975" h="4679315">
                <a:moveTo>
                  <a:pt x="4353839" y="0"/>
                </a:moveTo>
                <a:lnTo>
                  <a:pt x="779754" y="0"/>
                </a:lnTo>
                <a:lnTo>
                  <a:pt x="728596" y="1680"/>
                </a:lnTo>
                <a:lnTo>
                  <a:pt x="677827" y="6694"/>
                </a:lnTo>
                <a:lnTo>
                  <a:pt x="627598" y="14998"/>
                </a:lnTo>
                <a:lnTo>
                  <a:pt x="578062" y="26550"/>
                </a:lnTo>
                <a:lnTo>
                  <a:pt x="529370" y="41309"/>
                </a:lnTo>
                <a:lnTo>
                  <a:pt x="481674" y="59230"/>
                </a:lnTo>
                <a:lnTo>
                  <a:pt x="435126" y="80273"/>
                </a:lnTo>
                <a:lnTo>
                  <a:pt x="389877" y="104394"/>
                </a:lnTo>
                <a:lnTo>
                  <a:pt x="346390" y="131441"/>
                </a:lnTo>
                <a:lnTo>
                  <a:pt x="304861" y="161202"/>
                </a:lnTo>
                <a:lnTo>
                  <a:pt x="265435" y="193552"/>
                </a:lnTo>
                <a:lnTo>
                  <a:pt x="228371" y="228238"/>
                </a:lnTo>
                <a:lnTo>
                  <a:pt x="193552" y="265379"/>
                </a:lnTo>
                <a:lnTo>
                  <a:pt x="161202" y="304772"/>
                </a:lnTo>
                <a:lnTo>
                  <a:pt x="131378" y="346410"/>
                </a:lnTo>
                <a:lnTo>
                  <a:pt x="104394" y="389877"/>
                </a:lnTo>
                <a:lnTo>
                  <a:pt x="80221" y="435130"/>
                </a:lnTo>
                <a:lnTo>
                  <a:pt x="59225" y="481526"/>
                </a:lnTo>
                <a:lnTo>
                  <a:pt x="41303" y="529217"/>
                </a:lnTo>
                <a:lnTo>
                  <a:pt x="26546" y="577934"/>
                </a:lnTo>
                <a:lnTo>
                  <a:pt x="14979" y="627607"/>
                </a:lnTo>
                <a:lnTo>
                  <a:pt x="6687" y="677834"/>
                </a:lnTo>
                <a:lnTo>
                  <a:pt x="1679" y="728600"/>
                </a:lnTo>
                <a:lnTo>
                  <a:pt x="0" y="779754"/>
                </a:lnTo>
                <a:lnTo>
                  <a:pt x="0" y="3899522"/>
                </a:lnTo>
                <a:lnTo>
                  <a:pt x="1668" y="3950327"/>
                </a:lnTo>
                <a:lnTo>
                  <a:pt x="1680" y="3950676"/>
                </a:lnTo>
                <a:lnTo>
                  <a:pt x="6661" y="4001133"/>
                </a:lnTo>
                <a:lnTo>
                  <a:pt x="6692" y="4001443"/>
                </a:lnTo>
                <a:lnTo>
                  <a:pt x="14951" y="4051407"/>
                </a:lnTo>
                <a:lnTo>
                  <a:pt x="14995" y="4051672"/>
                </a:lnTo>
                <a:lnTo>
                  <a:pt x="26493" y="4100985"/>
                </a:lnTo>
                <a:lnTo>
                  <a:pt x="26546" y="4101209"/>
                </a:lnTo>
                <a:lnTo>
                  <a:pt x="41242" y="4149702"/>
                </a:lnTo>
                <a:lnTo>
                  <a:pt x="41303" y="4149902"/>
                </a:lnTo>
                <a:lnTo>
                  <a:pt x="59147" y="4197394"/>
                </a:lnTo>
                <a:lnTo>
                  <a:pt x="59225" y="4197600"/>
                </a:lnTo>
                <a:lnTo>
                  <a:pt x="80154" y="4243896"/>
                </a:lnTo>
                <a:lnTo>
                  <a:pt x="104394" y="4289399"/>
                </a:lnTo>
                <a:lnTo>
                  <a:pt x="131427" y="4332866"/>
                </a:lnTo>
                <a:lnTo>
                  <a:pt x="161152" y="4374354"/>
                </a:lnTo>
                <a:lnTo>
                  <a:pt x="193459" y="4413741"/>
                </a:lnTo>
                <a:lnTo>
                  <a:pt x="228238" y="4450905"/>
                </a:lnTo>
                <a:lnTo>
                  <a:pt x="265379" y="4485723"/>
                </a:lnTo>
                <a:lnTo>
                  <a:pt x="304772" y="4518074"/>
                </a:lnTo>
                <a:lnTo>
                  <a:pt x="346308" y="4547835"/>
                </a:lnTo>
                <a:lnTo>
                  <a:pt x="389877" y="4574882"/>
                </a:lnTo>
                <a:lnTo>
                  <a:pt x="435024" y="4599007"/>
                </a:lnTo>
                <a:lnTo>
                  <a:pt x="481524" y="4620051"/>
                </a:lnTo>
                <a:lnTo>
                  <a:pt x="529214" y="4637973"/>
                </a:lnTo>
                <a:lnTo>
                  <a:pt x="577929" y="4652730"/>
                </a:lnTo>
                <a:lnTo>
                  <a:pt x="627505" y="4664281"/>
                </a:lnTo>
                <a:lnTo>
                  <a:pt x="677777" y="4672584"/>
                </a:lnTo>
                <a:lnTo>
                  <a:pt x="728582" y="4677596"/>
                </a:lnTo>
                <a:lnTo>
                  <a:pt x="779754" y="4679276"/>
                </a:lnTo>
                <a:lnTo>
                  <a:pt x="4354195" y="4678921"/>
                </a:lnTo>
                <a:lnTo>
                  <a:pt x="4405352" y="4677240"/>
                </a:lnTo>
                <a:lnTo>
                  <a:pt x="4456122" y="4672226"/>
                </a:lnTo>
                <a:lnTo>
                  <a:pt x="4506350" y="4663922"/>
                </a:lnTo>
                <a:lnTo>
                  <a:pt x="4555886" y="4652368"/>
                </a:lnTo>
                <a:lnTo>
                  <a:pt x="4604578" y="4637609"/>
                </a:lnTo>
                <a:lnTo>
                  <a:pt x="4652275" y="4619685"/>
                </a:lnTo>
                <a:lnTo>
                  <a:pt x="4698823" y="4598639"/>
                </a:lnTo>
                <a:lnTo>
                  <a:pt x="4744072" y="4574514"/>
                </a:lnTo>
                <a:lnTo>
                  <a:pt x="4787538" y="4547485"/>
                </a:lnTo>
                <a:lnTo>
                  <a:pt x="4829026" y="4517763"/>
                </a:lnTo>
                <a:lnTo>
                  <a:pt x="4868414" y="4485459"/>
                </a:lnTo>
                <a:lnTo>
                  <a:pt x="4905578" y="4450681"/>
                </a:lnTo>
                <a:lnTo>
                  <a:pt x="4940396" y="4413541"/>
                </a:lnTo>
                <a:lnTo>
                  <a:pt x="4972747" y="4374148"/>
                </a:lnTo>
                <a:lnTo>
                  <a:pt x="5002507" y="4332612"/>
                </a:lnTo>
                <a:lnTo>
                  <a:pt x="5029555" y="4289044"/>
                </a:lnTo>
                <a:lnTo>
                  <a:pt x="5053680" y="4243896"/>
                </a:lnTo>
                <a:lnTo>
                  <a:pt x="5074631" y="4197600"/>
                </a:lnTo>
                <a:lnTo>
                  <a:pt x="5092570" y="4149902"/>
                </a:lnTo>
                <a:lnTo>
                  <a:pt x="5092646" y="4149702"/>
                </a:lnTo>
                <a:lnTo>
                  <a:pt x="5107335" y="4101209"/>
                </a:lnTo>
                <a:lnTo>
                  <a:pt x="5107403" y="4100985"/>
                </a:lnTo>
                <a:lnTo>
                  <a:pt x="5118892" y="4051672"/>
                </a:lnTo>
                <a:lnTo>
                  <a:pt x="5118954" y="4051407"/>
                </a:lnTo>
                <a:lnTo>
                  <a:pt x="5127205" y="4001443"/>
                </a:lnTo>
                <a:lnTo>
                  <a:pt x="5132234" y="3950676"/>
                </a:lnTo>
                <a:lnTo>
                  <a:pt x="5133937" y="3899522"/>
                </a:lnTo>
                <a:lnTo>
                  <a:pt x="5133594" y="779754"/>
                </a:lnTo>
                <a:lnTo>
                  <a:pt x="5131913" y="728600"/>
                </a:lnTo>
                <a:lnTo>
                  <a:pt x="5126899" y="677834"/>
                </a:lnTo>
                <a:lnTo>
                  <a:pt x="5118595" y="627607"/>
                </a:lnTo>
                <a:lnTo>
                  <a:pt x="5107043" y="578072"/>
                </a:lnTo>
                <a:lnTo>
                  <a:pt x="5092284" y="529379"/>
                </a:lnTo>
                <a:lnTo>
                  <a:pt x="5074363" y="481681"/>
                </a:lnTo>
                <a:lnTo>
                  <a:pt x="5053320" y="435130"/>
                </a:lnTo>
                <a:lnTo>
                  <a:pt x="5029200" y="389877"/>
                </a:lnTo>
                <a:lnTo>
                  <a:pt x="5002166" y="346410"/>
                </a:lnTo>
                <a:lnTo>
                  <a:pt x="4972441" y="304922"/>
                </a:lnTo>
                <a:lnTo>
                  <a:pt x="4940134" y="265535"/>
                </a:lnTo>
                <a:lnTo>
                  <a:pt x="4905355" y="228371"/>
                </a:lnTo>
                <a:lnTo>
                  <a:pt x="4868214" y="193552"/>
                </a:lnTo>
                <a:lnTo>
                  <a:pt x="4828821" y="161202"/>
                </a:lnTo>
                <a:lnTo>
                  <a:pt x="4787285" y="131441"/>
                </a:lnTo>
                <a:lnTo>
                  <a:pt x="4743716" y="104394"/>
                </a:lnTo>
                <a:lnTo>
                  <a:pt x="4698569" y="80273"/>
                </a:lnTo>
                <a:lnTo>
                  <a:pt x="4652067" y="59230"/>
                </a:lnTo>
                <a:lnTo>
                  <a:pt x="4604376" y="41309"/>
                </a:lnTo>
                <a:lnTo>
                  <a:pt x="4555659" y="26550"/>
                </a:lnTo>
                <a:lnTo>
                  <a:pt x="4506083" y="14998"/>
                </a:lnTo>
                <a:lnTo>
                  <a:pt x="4455811" y="6694"/>
                </a:lnTo>
                <a:lnTo>
                  <a:pt x="4405008" y="1680"/>
                </a:lnTo>
                <a:lnTo>
                  <a:pt x="4353839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28484" y="2286622"/>
            <a:ext cx="418719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>
                <a:solidFill>
                  <a:srgbClr val="D3ECE3"/>
                </a:solidFill>
                <a:latin typeface="Segoe UI Symbol"/>
                <a:cs typeface="Segoe UI Symbol"/>
              </a:rPr>
              <a:t>Agricultural</a:t>
            </a:r>
            <a:r>
              <a:rPr sz="1800" spc="2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95">
                <a:solidFill>
                  <a:srgbClr val="D3ECE3"/>
                </a:solidFill>
                <a:latin typeface="Segoe UI Symbol"/>
                <a:cs typeface="Segoe UI Symbol"/>
              </a:rPr>
              <a:t>Research</a:t>
            </a:r>
            <a:r>
              <a:rPr sz="1800" spc="229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90">
                <a:solidFill>
                  <a:srgbClr val="D3ECE3"/>
                </a:solidFill>
                <a:latin typeface="Segoe UI Symbol"/>
                <a:cs typeface="Segoe UI Symbol"/>
              </a:rPr>
              <a:t>Labs</a:t>
            </a:r>
            <a:endParaRPr sz="18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Need</a:t>
            </a:r>
            <a:r>
              <a:rPr sz="1400" spc="19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affordable,</a:t>
            </a:r>
            <a:r>
              <a:rPr sz="1400" spc="17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autonomous</a:t>
            </a:r>
            <a:r>
              <a:rPr sz="1400" spc="17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sampling</a:t>
            </a:r>
            <a:r>
              <a:rPr sz="1400" spc="17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to</a:t>
            </a:r>
            <a:r>
              <a:rPr sz="1400" spc="18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A8DAC8"/>
                </a:solidFill>
                <a:latin typeface="Segoe UI Symbol"/>
                <a:cs typeface="Segoe UI Symbol"/>
              </a:rPr>
              <a:t>reduce technician</a:t>
            </a:r>
            <a:r>
              <a:rPr sz="1400" spc="10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hours</a:t>
            </a:r>
            <a:r>
              <a:rPr sz="1400" spc="9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in</a:t>
            </a:r>
            <a:r>
              <a:rPr sz="1400" spc="10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the</a:t>
            </a:r>
            <a:r>
              <a:rPr sz="1400" spc="10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-20">
                <a:solidFill>
                  <a:srgbClr val="A8DAC8"/>
                </a:solidFill>
                <a:latin typeface="Segoe UI Symbol"/>
                <a:cs typeface="Segoe UI Symbol"/>
              </a:rPr>
              <a:t>field</a:t>
            </a:r>
            <a:endParaRPr sz="14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6020" y="3605833"/>
            <a:ext cx="3929379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>
                <a:solidFill>
                  <a:srgbClr val="D3ECE3"/>
                </a:solidFill>
                <a:latin typeface="Segoe UI Symbol"/>
                <a:cs typeface="Segoe UI Symbol"/>
              </a:rPr>
              <a:t>Independent</a:t>
            </a:r>
            <a:r>
              <a:rPr sz="1800" spc="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85">
                <a:solidFill>
                  <a:srgbClr val="D3ECE3"/>
                </a:solidFill>
                <a:latin typeface="Segoe UI Symbol"/>
                <a:cs typeface="Segoe UI Symbol"/>
              </a:rPr>
              <a:t>Farms</a:t>
            </a:r>
            <a:endParaRPr sz="18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Need</a:t>
            </a:r>
            <a:r>
              <a:rPr sz="1400" spc="15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reliable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soil</a:t>
            </a:r>
            <a:r>
              <a:rPr sz="1400" spc="14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data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without</a:t>
            </a:r>
            <a:r>
              <a:rPr sz="1400" spc="14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the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high</a:t>
            </a:r>
            <a:r>
              <a:rPr sz="1400" spc="15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A8DAC8"/>
                </a:solidFill>
                <a:latin typeface="Segoe UI Symbol"/>
                <a:cs typeface="Segoe UI Symbol"/>
              </a:rPr>
              <a:t>cost</a:t>
            </a:r>
            <a:r>
              <a:rPr sz="1400" spc="15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-25">
                <a:solidFill>
                  <a:srgbClr val="A8DAC8"/>
                </a:solidFill>
                <a:latin typeface="Segoe UI Symbol"/>
                <a:cs typeface="Segoe UI Symbol"/>
              </a:rPr>
              <a:t>of </a:t>
            </a:r>
            <a:r>
              <a:rPr sz="1400">
                <a:solidFill>
                  <a:srgbClr val="A8DAC8"/>
                </a:solidFill>
                <a:latin typeface="Segoe UI Symbol"/>
                <a:cs typeface="Segoe UI Symbol"/>
              </a:rPr>
              <a:t>existing</a:t>
            </a:r>
            <a:r>
              <a:rPr sz="1400" spc="32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-10">
                <a:solidFill>
                  <a:srgbClr val="A8DAC8"/>
                </a:solidFill>
                <a:latin typeface="Segoe UI Symbol"/>
                <a:cs typeface="Segoe UI Symbol"/>
              </a:rPr>
              <a:t>robots</a:t>
            </a:r>
            <a:endParaRPr sz="14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26020" y="4799774"/>
            <a:ext cx="4150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>
                <a:solidFill>
                  <a:srgbClr val="D3ECE3"/>
                </a:solidFill>
                <a:latin typeface="Segoe UI Symbol"/>
                <a:cs typeface="Segoe UI Symbol"/>
              </a:rPr>
              <a:t>Field</a:t>
            </a:r>
            <a:r>
              <a:rPr sz="1800" spc="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D3ECE3"/>
                </a:solidFill>
                <a:latin typeface="Segoe UI Symbol"/>
                <a:cs typeface="Segoe UI Symbol"/>
              </a:rPr>
              <a:t>Technician</a:t>
            </a:r>
            <a:endParaRPr sz="18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Need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to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A8DAC8"/>
                </a:solidFill>
                <a:latin typeface="Segoe UI Symbol"/>
                <a:cs typeface="Segoe UI Symbol"/>
              </a:rPr>
              <a:t>reduce</a:t>
            </a:r>
            <a:r>
              <a:rPr sz="1400" spc="14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repetitive,</a:t>
            </a:r>
            <a:r>
              <a:rPr sz="1400" spc="150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manual</a:t>
            </a:r>
            <a:r>
              <a:rPr sz="1400" spc="13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A8DAC8"/>
                </a:solidFill>
                <a:latin typeface="Segoe UI Symbol"/>
                <a:cs typeface="Segoe UI Symbol"/>
              </a:rPr>
              <a:t>sampling</a:t>
            </a:r>
            <a:r>
              <a:rPr sz="1400" spc="145">
                <a:solidFill>
                  <a:srgbClr val="A8DAC8"/>
                </a:solidFill>
                <a:latin typeface="Segoe UI Symbol"/>
                <a:cs typeface="Segoe UI Symbol"/>
              </a:rPr>
              <a:t> </a:t>
            </a:r>
            <a:r>
              <a:rPr sz="1400" spc="40">
                <a:solidFill>
                  <a:srgbClr val="A8DAC8"/>
                </a:solidFill>
                <a:latin typeface="Segoe UI Symbol"/>
                <a:cs typeface="Segoe UI Symbol"/>
              </a:rPr>
              <a:t>work</a:t>
            </a:r>
            <a:endParaRPr sz="1400">
              <a:latin typeface="Segoe UI Symbol"/>
              <a:cs typeface="Segoe UI Symbo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D7CC7EE-F69F-4C1A-D21F-A4B687103D93}"/>
              </a:ext>
            </a:extLst>
          </p:cNvPr>
          <p:cNvSpPr/>
          <p:nvPr/>
        </p:nvSpPr>
        <p:spPr>
          <a:xfrm>
            <a:off x="1348891" y="634465"/>
            <a:ext cx="3108960" cy="532765"/>
          </a:xfrm>
          <a:custGeom>
            <a:avLst/>
            <a:gdLst/>
            <a:ahLst/>
            <a:cxnLst/>
            <a:rect l="l" t="t" r="r" b="b"/>
            <a:pathLst>
              <a:path w="3108960" h="532765">
                <a:moveTo>
                  <a:pt x="3108591" y="0"/>
                </a:moveTo>
                <a:lnTo>
                  <a:pt x="0" y="0"/>
                </a:lnTo>
                <a:lnTo>
                  <a:pt x="0" y="532434"/>
                </a:lnTo>
                <a:lnTo>
                  <a:pt x="1554479" y="532434"/>
                </a:lnTo>
                <a:lnTo>
                  <a:pt x="3108591" y="532434"/>
                </a:lnTo>
                <a:lnTo>
                  <a:pt x="3108591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C2B2034D-E1CF-8846-6354-1663D8642DCB}"/>
              </a:ext>
            </a:extLst>
          </p:cNvPr>
          <p:cNvSpPr/>
          <p:nvPr/>
        </p:nvSpPr>
        <p:spPr>
          <a:xfrm>
            <a:off x="7814069" y="630165"/>
            <a:ext cx="3108960" cy="532765"/>
          </a:xfrm>
          <a:custGeom>
            <a:avLst/>
            <a:gdLst/>
            <a:ahLst/>
            <a:cxnLst/>
            <a:rect l="l" t="t" r="r" b="b"/>
            <a:pathLst>
              <a:path w="3108960" h="532765">
                <a:moveTo>
                  <a:pt x="3108591" y="0"/>
                </a:moveTo>
                <a:lnTo>
                  <a:pt x="0" y="0"/>
                </a:lnTo>
                <a:lnTo>
                  <a:pt x="0" y="532434"/>
                </a:lnTo>
                <a:lnTo>
                  <a:pt x="1554479" y="532434"/>
                </a:lnTo>
                <a:lnTo>
                  <a:pt x="3108591" y="532434"/>
                </a:lnTo>
                <a:lnTo>
                  <a:pt x="3108591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31783" y="651609"/>
            <a:ext cx="2543175" cy="4898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215"/>
              <a:t>The</a:t>
            </a:r>
            <a:r>
              <a:rPr sz="3100" spc="20"/>
              <a:t> </a:t>
            </a:r>
            <a:r>
              <a:rPr sz="3100" spc="75"/>
              <a:t>Problem</a:t>
            </a:r>
            <a:endParaRPr lang="en-US" sz="3100" spc="75">
              <a:ea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41901" y="653464"/>
            <a:ext cx="2555875" cy="49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75">
                <a:solidFill>
                  <a:srgbClr val="D3ECE3"/>
                </a:solidFill>
                <a:latin typeface="Segoe UI Symbol"/>
                <a:cs typeface="Segoe UI Symbol"/>
              </a:rPr>
              <a:t>Who</a:t>
            </a:r>
            <a:r>
              <a:rPr sz="3100" spc="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3100" spc="75">
                <a:solidFill>
                  <a:srgbClr val="D3ECE3"/>
                </a:solidFill>
                <a:latin typeface="Segoe UI Symbol"/>
                <a:cs typeface="Segoe UI Symbol"/>
              </a:rPr>
              <a:t>We</a:t>
            </a:r>
            <a:r>
              <a:rPr sz="3100" spc="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3100" spc="55">
                <a:solidFill>
                  <a:srgbClr val="D3ECE3"/>
                </a:solidFill>
                <a:latin typeface="Segoe UI Symbol"/>
                <a:cs typeface="Segoe UI Symbol"/>
              </a:rPr>
              <a:t>Help</a:t>
            </a:r>
            <a:endParaRPr sz="31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image.png"/>
          <p:cNvGrpSpPr/>
          <p:nvPr/>
        </p:nvGrpSpPr>
        <p:grpSpPr>
          <a:xfrm>
            <a:off x="0" y="12"/>
            <a:ext cx="12192000" cy="6858000"/>
            <a:chOff x="0" y="12"/>
            <a:chExt cx="12192000" cy="6858000"/>
          </a:xfrm>
        </p:grpSpPr>
        <p:pic>
          <p:nvPicPr>
            <p:cNvPr id="3" name="object 3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12191758" cy="68576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2724" y="548640"/>
              <a:ext cx="6190615" cy="532765"/>
            </a:xfrm>
            <a:custGeom>
              <a:avLst/>
              <a:gdLst/>
              <a:ahLst/>
              <a:cxnLst/>
              <a:rect l="l" t="t" r="r" b="b"/>
              <a:pathLst>
                <a:path w="6190615" h="532765">
                  <a:moveTo>
                    <a:pt x="6190195" y="0"/>
                  </a:moveTo>
                  <a:lnTo>
                    <a:pt x="0" y="0"/>
                  </a:lnTo>
                  <a:lnTo>
                    <a:pt x="0" y="532434"/>
                  </a:lnTo>
                  <a:lnTo>
                    <a:pt x="3095282" y="532434"/>
                  </a:lnTo>
                  <a:lnTo>
                    <a:pt x="6190195" y="532434"/>
                  </a:lnTo>
                  <a:lnTo>
                    <a:pt x="6190195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100"/>
              </a:spcBef>
            </a:pPr>
            <a:r>
              <a:rPr spc="85"/>
              <a:t>Competitive</a:t>
            </a:r>
            <a:r>
              <a:rPr spc="75"/>
              <a:t> </a:t>
            </a:r>
            <a:r>
              <a:rPr spc="110"/>
              <a:t>Advantage</a:t>
            </a:r>
          </a:p>
        </p:txBody>
      </p:sp>
      <p:sp>
        <p:nvSpPr>
          <p:cNvPr id="6" name="object 6"/>
          <p:cNvSpPr/>
          <p:nvPr/>
        </p:nvSpPr>
        <p:spPr>
          <a:xfrm>
            <a:off x="337680" y="1489684"/>
            <a:ext cx="5528310" cy="4846955"/>
          </a:xfrm>
          <a:custGeom>
            <a:avLst/>
            <a:gdLst/>
            <a:ahLst/>
            <a:cxnLst/>
            <a:rect l="l" t="t" r="r" b="b"/>
            <a:pathLst>
              <a:path w="5528310" h="4846955">
                <a:moveTo>
                  <a:pt x="808202" y="0"/>
                </a:moveTo>
                <a:lnTo>
                  <a:pt x="755156" y="1747"/>
                </a:lnTo>
                <a:lnTo>
                  <a:pt x="702511" y="6958"/>
                </a:lnTo>
                <a:lnTo>
                  <a:pt x="650431" y="15585"/>
                </a:lnTo>
                <a:lnTo>
                  <a:pt x="599082" y="27584"/>
                </a:lnTo>
                <a:lnTo>
                  <a:pt x="548628" y="42907"/>
                </a:lnTo>
                <a:lnTo>
                  <a:pt x="499233" y="61507"/>
                </a:lnTo>
                <a:lnTo>
                  <a:pt x="451062" y="83339"/>
                </a:lnTo>
                <a:lnTo>
                  <a:pt x="404279" y="108356"/>
                </a:lnTo>
                <a:lnTo>
                  <a:pt x="359243" y="136381"/>
                </a:lnTo>
                <a:lnTo>
                  <a:pt x="316282" y="167191"/>
                </a:lnTo>
                <a:lnTo>
                  <a:pt x="275516" y="200668"/>
                </a:lnTo>
                <a:lnTo>
                  <a:pt x="237061" y="236693"/>
                </a:lnTo>
                <a:lnTo>
                  <a:pt x="201036" y="275147"/>
                </a:lnTo>
                <a:lnTo>
                  <a:pt x="167560" y="315914"/>
                </a:lnTo>
                <a:lnTo>
                  <a:pt x="136750" y="358874"/>
                </a:lnTo>
                <a:lnTo>
                  <a:pt x="108724" y="403910"/>
                </a:lnTo>
                <a:lnTo>
                  <a:pt x="83703" y="450698"/>
                </a:lnTo>
                <a:lnTo>
                  <a:pt x="61868" y="498872"/>
                </a:lnTo>
                <a:lnTo>
                  <a:pt x="43265" y="548269"/>
                </a:lnTo>
                <a:lnTo>
                  <a:pt x="27941" y="598724"/>
                </a:lnTo>
                <a:lnTo>
                  <a:pt x="15942" y="650072"/>
                </a:lnTo>
                <a:lnTo>
                  <a:pt x="7313" y="702149"/>
                </a:lnTo>
                <a:lnTo>
                  <a:pt x="2102" y="754791"/>
                </a:lnTo>
                <a:lnTo>
                  <a:pt x="355" y="807834"/>
                </a:lnTo>
                <a:lnTo>
                  <a:pt x="0" y="4038841"/>
                </a:lnTo>
                <a:lnTo>
                  <a:pt x="1747" y="4091883"/>
                </a:lnTo>
                <a:lnTo>
                  <a:pt x="6958" y="4144525"/>
                </a:lnTo>
                <a:lnTo>
                  <a:pt x="15585" y="4196602"/>
                </a:lnTo>
                <a:lnTo>
                  <a:pt x="27584" y="4247949"/>
                </a:lnTo>
                <a:lnTo>
                  <a:pt x="42907" y="4298403"/>
                </a:lnTo>
                <a:lnTo>
                  <a:pt x="61507" y="4347797"/>
                </a:lnTo>
                <a:lnTo>
                  <a:pt x="83339" y="4395968"/>
                </a:lnTo>
                <a:lnTo>
                  <a:pt x="108356" y="4442752"/>
                </a:lnTo>
                <a:lnTo>
                  <a:pt x="136386" y="4487788"/>
                </a:lnTo>
                <a:lnTo>
                  <a:pt x="167199" y="4530748"/>
                </a:lnTo>
                <a:lnTo>
                  <a:pt x="200677" y="4571515"/>
                </a:lnTo>
                <a:lnTo>
                  <a:pt x="236704" y="4609971"/>
                </a:lnTo>
                <a:lnTo>
                  <a:pt x="275159" y="4645997"/>
                </a:lnTo>
                <a:lnTo>
                  <a:pt x="315926" y="4679476"/>
                </a:lnTo>
                <a:lnTo>
                  <a:pt x="358887" y="4710289"/>
                </a:lnTo>
                <a:lnTo>
                  <a:pt x="403923" y="4738319"/>
                </a:lnTo>
                <a:lnTo>
                  <a:pt x="450706" y="4763336"/>
                </a:lnTo>
                <a:lnTo>
                  <a:pt x="498877" y="4785167"/>
                </a:lnTo>
                <a:lnTo>
                  <a:pt x="548272" y="4803768"/>
                </a:lnTo>
                <a:lnTo>
                  <a:pt x="598725" y="4819091"/>
                </a:lnTo>
                <a:lnTo>
                  <a:pt x="650073" y="4831089"/>
                </a:lnTo>
                <a:lnTo>
                  <a:pt x="702150" y="4839717"/>
                </a:lnTo>
                <a:lnTo>
                  <a:pt x="754792" y="4844928"/>
                </a:lnTo>
                <a:lnTo>
                  <a:pt x="807834" y="4846675"/>
                </a:lnTo>
                <a:lnTo>
                  <a:pt x="4719955" y="4846675"/>
                </a:lnTo>
                <a:lnTo>
                  <a:pt x="4773001" y="4844928"/>
                </a:lnTo>
                <a:lnTo>
                  <a:pt x="4825646" y="4839717"/>
                </a:lnTo>
                <a:lnTo>
                  <a:pt x="4877725" y="4831089"/>
                </a:lnTo>
                <a:lnTo>
                  <a:pt x="4929074" y="4819091"/>
                </a:lnTo>
                <a:lnTo>
                  <a:pt x="4979528" y="4803768"/>
                </a:lnTo>
                <a:lnTo>
                  <a:pt x="5028923" y="4785167"/>
                </a:lnTo>
                <a:lnTo>
                  <a:pt x="5077095" y="4763336"/>
                </a:lnTo>
                <a:lnTo>
                  <a:pt x="5123878" y="4738319"/>
                </a:lnTo>
                <a:lnTo>
                  <a:pt x="5168914" y="4710289"/>
                </a:lnTo>
                <a:lnTo>
                  <a:pt x="5211875" y="4679476"/>
                </a:lnTo>
                <a:lnTo>
                  <a:pt x="5252642" y="4645997"/>
                </a:lnTo>
                <a:lnTo>
                  <a:pt x="5291097" y="4609971"/>
                </a:lnTo>
                <a:lnTo>
                  <a:pt x="5327124" y="4571515"/>
                </a:lnTo>
                <a:lnTo>
                  <a:pt x="5360602" y="4530748"/>
                </a:lnTo>
                <a:lnTo>
                  <a:pt x="5391415" y="4487788"/>
                </a:lnTo>
                <a:lnTo>
                  <a:pt x="5419445" y="4442752"/>
                </a:lnTo>
                <a:lnTo>
                  <a:pt x="5444462" y="4395968"/>
                </a:lnTo>
                <a:lnTo>
                  <a:pt x="5466294" y="4347797"/>
                </a:lnTo>
                <a:lnTo>
                  <a:pt x="5484894" y="4298403"/>
                </a:lnTo>
                <a:lnTo>
                  <a:pt x="5500217" y="4247949"/>
                </a:lnTo>
                <a:lnTo>
                  <a:pt x="5512216" y="4196602"/>
                </a:lnTo>
                <a:lnTo>
                  <a:pt x="5520843" y="4144525"/>
                </a:lnTo>
                <a:lnTo>
                  <a:pt x="5526054" y="4091883"/>
                </a:lnTo>
                <a:lnTo>
                  <a:pt x="5527802" y="4038841"/>
                </a:lnTo>
                <a:lnTo>
                  <a:pt x="5527790" y="807834"/>
                </a:lnTo>
                <a:lnTo>
                  <a:pt x="5526054" y="755147"/>
                </a:lnTo>
                <a:lnTo>
                  <a:pt x="5520843" y="702505"/>
                </a:lnTo>
                <a:lnTo>
                  <a:pt x="5512216" y="650428"/>
                </a:lnTo>
                <a:lnTo>
                  <a:pt x="5500217" y="599081"/>
                </a:lnTo>
                <a:lnTo>
                  <a:pt x="5484894" y="548627"/>
                </a:lnTo>
                <a:lnTo>
                  <a:pt x="5466294" y="499233"/>
                </a:lnTo>
                <a:lnTo>
                  <a:pt x="5444462" y="451062"/>
                </a:lnTo>
                <a:lnTo>
                  <a:pt x="5419445" y="404279"/>
                </a:lnTo>
                <a:lnTo>
                  <a:pt x="5391415" y="359243"/>
                </a:lnTo>
                <a:lnTo>
                  <a:pt x="5360602" y="316282"/>
                </a:lnTo>
                <a:lnTo>
                  <a:pt x="5327124" y="275515"/>
                </a:lnTo>
                <a:lnTo>
                  <a:pt x="5291097" y="237059"/>
                </a:lnTo>
                <a:lnTo>
                  <a:pt x="5252642" y="201033"/>
                </a:lnTo>
                <a:lnTo>
                  <a:pt x="5211875" y="167554"/>
                </a:lnTo>
                <a:lnTo>
                  <a:pt x="5168914" y="136741"/>
                </a:lnTo>
                <a:lnTo>
                  <a:pt x="5123878" y="108712"/>
                </a:lnTo>
                <a:lnTo>
                  <a:pt x="5077095" y="83695"/>
                </a:lnTo>
                <a:lnTo>
                  <a:pt x="5028923" y="61863"/>
                </a:lnTo>
                <a:lnTo>
                  <a:pt x="4979528" y="43262"/>
                </a:lnTo>
                <a:lnTo>
                  <a:pt x="4929074" y="27939"/>
                </a:lnTo>
                <a:lnTo>
                  <a:pt x="4877725" y="15941"/>
                </a:lnTo>
                <a:lnTo>
                  <a:pt x="4825646" y="7313"/>
                </a:lnTo>
                <a:lnTo>
                  <a:pt x="4773001" y="2102"/>
                </a:lnTo>
                <a:lnTo>
                  <a:pt x="4719955" y="355"/>
                </a:lnTo>
                <a:lnTo>
                  <a:pt x="808202" y="0"/>
                </a:lnTo>
                <a:close/>
              </a:path>
            </a:pathLst>
          </a:custGeom>
          <a:solidFill>
            <a:srgbClr val="A66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5375" y="1678571"/>
            <a:ext cx="32994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>
                <a:solidFill>
                  <a:srgbClr val="FAEACF"/>
                </a:solidFill>
                <a:latin typeface="Aptos Black"/>
                <a:cs typeface="Aptos Black"/>
              </a:rPr>
              <a:t>How</a:t>
            </a:r>
            <a:r>
              <a:rPr sz="2000" b="1" spc="120">
                <a:solidFill>
                  <a:srgbClr val="FAEACF"/>
                </a:solidFill>
                <a:latin typeface="Aptos Black"/>
                <a:cs typeface="Aptos Black"/>
              </a:rPr>
              <a:t> </a:t>
            </a:r>
            <a:r>
              <a:rPr sz="2000" b="1">
                <a:solidFill>
                  <a:srgbClr val="FAEACF"/>
                </a:solidFill>
                <a:latin typeface="Aptos Black"/>
                <a:cs typeface="Aptos Black"/>
              </a:rPr>
              <a:t>soil</a:t>
            </a:r>
            <a:r>
              <a:rPr sz="2000" b="1" spc="120">
                <a:solidFill>
                  <a:srgbClr val="FAEACF"/>
                </a:solidFill>
                <a:latin typeface="Aptos Black"/>
                <a:cs typeface="Aptos Black"/>
              </a:rPr>
              <a:t> </a:t>
            </a:r>
            <a:r>
              <a:rPr sz="2000" b="1">
                <a:solidFill>
                  <a:srgbClr val="FAEACF"/>
                </a:solidFill>
                <a:latin typeface="Aptos Black"/>
                <a:cs typeface="Aptos Black"/>
              </a:rPr>
              <a:t>gets</a:t>
            </a:r>
            <a:r>
              <a:rPr sz="2000" b="1" spc="114">
                <a:solidFill>
                  <a:srgbClr val="FAEACF"/>
                </a:solidFill>
                <a:latin typeface="Aptos Black"/>
                <a:cs typeface="Aptos Black"/>
              </a:rPr>
              <a:t> </a:t>
            </a:r>
            <a:r>
              <a:rPr sz="2000" b="1">
                <a:solidFill>
                  <a:srgbClr val="FAEACF"/>
                </a:solidFill>
                <a:latin typeface="Aptos Black"/>
                <a:cs typeface="Aptos Black"/>
              </a:rPr>
              <a:t>tested</a:t>
            </a:r>
            <a:r>
              <a:rPr sz="2000" b="1" spc="110">
                <a:solidFill>
                  <a:srgbClr val="FAEACF"/>
                </a:solidFill>
                <a:latin typeface="Aptos Black"/>
                <a:cs typeface="Aptos Black"/>
              </a:rPr>
              <a:t> </a:t>
            </a:r>
            <a:r>
              <a:rPr sz="2000" b="1" spc="-20">
                <a:solidFill>
                  <a:srgbClr val="FAEACF"/>
                </a:solidFill>
                <a:latin typeface="Aptos Black"/>
                <a:cs typeface="Aptos Black"/>
              </a:rPr>
              <a:t>today</a:t>
            </a:r>
            <a:endParaRPr sz="2000">
              <a:latin typeface="Aptos Black"/>
              <a:cs typeface="Aptos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8444" y="1489684"/>
            <a:ext cx="11191875" cy="4846955"/>
            <a:chOff x="658444" y="1489684"/>
            <a:chExt cx="11191875" cy="4846955"/>
          </a:xfrm>
        </p:grpSpPr>
        <p:sp>
          <p:nvSpPr>
            <p:cNvPr id="9" name="object 9"/>
            <p:cNvSpPr/>
            <p:nvPr/>
          </p:nvSpPr>
          <p:spPr>
            <a:xfrm>
              <a:off x="658444" y="2423159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679" y="0"/>
                  </a:moveTo>
                  <a:lnTo>
                    <a:pt x="210056" y="9582"/>
                  </a:lnTo>
                  <a:lnTo>
                    <a:pt x="141833" y="37795"/>
                  </a:lnTo>
                  <a:lnTo>
                    <a:pt x="83110" y="82888"/>
                  </a:lnTo>
                  <a:lnTo>
                    <a:pt x="38150" y="141477"/>
                  </a:lnTo>
                  <a:lnTo>
                    <a:pt x="9626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59" y="391759"/>
                  </a:lnTo>
                  <a:lnTo>
                    <a:pt x="58757" y="455936"/>
                  </a:lnTo>
                  <a:lnTo>
                    <a:pt x="110904" y="508184"/>
                  </a:lnTo>
                  <a:lnTo>
                    <a:pt x="175032" y="545283"/>
                  </a:lnTo>
                  <a:lnTo>
                    <a:pt x="246430" y="564534"/>
                  </a:lnTo>
                  <a:lnTo>
                    <a:pt x="283679" y="567004"/>
                  </a:lnTo>
                  <a:lnTo>
                    <a:pt x="320716" y="564534"/>
                  </a:lnTo>
                  <a:lnTo>
                    <a:pt x="391964" y="545283"/>
                  </a:lnTo>
                  <a:lnTo>
                    <a:pt x="456086" y="508184"/>
                  </a:lnTo>
                  <a:lnTo>
                    <a:pt x="508234" y="455936"/>
                  </a:lnTo>
                  <a:lnTo>
                    <a:pt x="545431" y="391759"/>
                  </a:lnTo>
                  <a:lnTo>
                    <a:pt x="564573" y="320366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4" y="110698"/>
                  </a:lnTo>
                  <a:lnTo>
                    <a:pt x="456086" y="58451"/>
                  </a:lnTo>
                  <a:lnTo>
                    <a:pt x="391964" y="21409"/>
                  </a:lnTo>
                  <a:lnTo>
                    <a:pt x="320716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AE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users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524" y="2558884"/>
              <a:ext cx="294474" cy="2944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8444" y="3703319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56" y="9582"/>
                  </a:lnTo>
                  <a:lnTo>
                    <a:pt x="141833" y="37795"/>
                  </a:lnTo>
                  <a:lnTo>
                    <a:pt x="83110" y="82888"/>
                  </a:lnTo>
                  <a:lnTo>
                    <a:pt x="38150" y="141477"/>
                  </a:lnTo>
                  <a:lnTo>
                    <a:pt x="9626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59" y="391759"/>
                  </a:lnTo>
                  <a:lnTo>
                    <a:pt x="58757" y="455936"/>
                  </a:lnTo>
                  <a:lnTo>
                    <a:pt x="110904" y="508184"/>
                  </a:lnTo>
                  <a:lnTo>
                    <a:pt x="175032" y="545283"/>
                  </a:lnTo>
                  <a:lnTo>
                    <a:pt x="246430" y="564534"/>
                  </a:lnTo>
                  <a:lnTo>
                    <a:pt x="283679" y="567004"/>
                  </a:lnTo>
                  <a:lnTo>
                    <a:pt x="320716" y="564534"/>
                  </a:lnTo>
                  <a:lnTo>
                    <a:pt x="391964" y="545283"/>
                  </a:lnTo>
                  <a:lnTo>
                    <a:pt x="456086" y="508184"/>
                  </a:lnTo>
                  <a:lnTo>
                    <a:pt x="508234" y="455936"/>
                  </a:lnTo>
                  <a:lnTo>
                    <a:pt x="545431" y="391759"/>
                  </a:lnTo>
                  <a:lnTo>
                    <a:pt x="564573" y="320366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4" y="110698"/>
                  </a:lnTo>
                  <a:lnTo>
                    <a:pt x="456086" y="58451"/>
                  </a:lnTo>
                  <a:lnTo>
                    <a:pt x="391964" y="21409"/>
                  </a:lnTo>
                  <a:lnTo>
                    <a:pt x="320716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AE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tractor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524" y="3839044"/>
              <a:ext cx="294474" cy="2944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58444" y="4983479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679" y="0"/>
                  </a:moveTo>
                  <a:lnTo>
                    <a:pt x="210056" y="9582"/>
                  </a:lnTo>
                  <a:lnTo>
                    <a:pt x="141833" y="37795"/>
                  </a:lnTo>
                  <a:lnTo>
                    <a:pt x="83110" y="82888"/>
                  </a:lnTo>
                  <a:lnTo>
                    <a:pt x="38150" y="141478"/>
                  </a:lnTo>
                  <a:lnTo>
                    <a:pt x="9626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59" y="391759"/>
                  </a:lnTo>
                  <a:lnTo>
                    <a:pt x="58757" y="455936"/>
                  </a:lnTo>
                  <a:lnTo>
                    <a:pt x="110904" y="508184"/>
                  </a:lnTo>
                  <a:lnTo>
                    <a:pt x="175032" y="545283"/>
                  </a:lnTo>
                  <a:lnTo>
                    <a:pt x="246430" y="564534"/>
                  </a:lnTo>
                  <a:lnTo>
                    <a:pt x="283679" y="567004"/>
                  </a:lnTo>
                  <a:lnTo>
                    <a:pt x="320716" y="564534"/>
                  </a:lnTo>
                  <a:lnTo>
                    <a:pt x="391964" y="545283"/>
                  </a:lnTo>
                  <a:lnTo>
                    <a:pt x="456086" y="508184"/>
                  </a:lnTo>
                  <a:lnTo>
                    <a:pt x="508234" y="455936"/>
                  </a:lnTo>
                  <a:lnTo>
                    <a:pt x="545431" y="391759"/>
                  </a:lnTo>
                  <a:lnTo>
                    <a:pt x="564573" y="320366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4" y="110698"/>
                  </a:lnTo>
                  <a:lnTo>
                    <a:pt x="456086" y="58451"/>
                  </a:lnTo>
                  <a:lnTo>
                    <a:pt x="391964" y="21409"/>
                  </a:lnTo>
                  <a:lnTo>
                    <a:pt x="320716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FAE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dollar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524" y="5119204"/>
              <a:ext cx="294474" cy="2944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22313" y="1489684"/>
              <a:ext cx="5528310" cy="4846955"/>
            </a:xfrm>
            <a:custGeom>
              <a:avLst/>
              <a:gdLst/>
              <a:ahLst/>
              <a:cxnLst/>
              <a:rect l="l" t="t" r="r" b="b"/>
              <a:pathLst>
                <a:path w="5528309" h="4846955">
                  <a:moveTo>
                    <a:pt x="808202" y="0"/>
                  </a:moveTo>
                  <a:lnTo>
                    <a:pt x="755160" y="1747"/>
                  </a:lnTo>
                  <a:lnTo>
                    <a:pt x="702518" y="6958"/>
                  </a:lnTo>
                  <a:lnTo>
                    <a:pt x="650441" y="15585"/>
                  </a:lnTo>
                  <a:lnTo>
                    <a:pt x="599093" y="27584"/>
                  </a:lnTo>
                  <a:lnTo>
                    <a:pt x="548640" y="42907"/>
                  </a:lnTo>
                  <a:lnTo>
                    <a:pt x="499246" y="61507"/>
                  </a:lnTo>
                  <a:lnTo>
                    <a:pt x="451074" y="83339"/>
                  </a:lnTo>
                  <a:lnTo>
                    <a:pt x="404291" y="108356"/>
                  </a:lnTo>
                  <a:lnTo>
                    <a:pt x="359251" y="136381"/>
                  </a:lnTo>
                  <a:lnTo>
                    <a:pt x="316288" y="167191"/>
                  </a:lnTo>
                  <a:lnTo>
                    <a:pt x="275519" y="200668"/>
                  </a:lnTo>
                  <a:lnTo>
                    <a:pt x="237062" y="236693"/>
                  </a:lnTo>
                  <a:lnTo>
                    <a:pt x="201037" y="275147"/>
                  </a:lnTo>
                  <a:lnTo>
                    <a:pt x="167560" y="315914"/>
                  </a:lnTo>
                  <a:lnTo>
                    <a:pt x="136750" y="358874"/>
                  </a:lnTo>
                  <a:lnTo>
                    <a:pt x="108724" y="403910"/>
                  </a:lnTo>
                  <a:lnTo>
                    <a:pt x="83707" y="450698"/>
                  </a:lnTo>
                  <a:lnTo>
                    <a:pt x="61875" y="498872"/>
                  </a:lnTo>
                  <a:lnTo>
                    <a:pt x="43275" y="548269"/>
                  </a:lnTo>
                  <a:lnTo>
                    <a:pt x="27952" y="598724"/>
                  </a:lnTo>
                  <a:lnTo>
                    <a:pt x="15954" y="650072"/>
                  </a:lnTo>
                  <a:lnTo>
                    <a:pt x="7326" y="702149"/>
                  </a:lnTo>
                  <a:lnTo>
                    <a:pt x="2115" y="754791"/>
                  </a:lnTo>
                  <a:lnTo>
                    <a:pt x="368" y="807834"/>
                  </a:lnTo>
                  <a:lnTo>
                    <a:pt x="0" y="4038841"/>
                  </a:lnTo>
                  <a:lnTo>
                    <a:pt x="1747" y="4091883"/>
                  </a:lnTo>
                  <a:lnTo>
                    <a:pt x="6959" y="4144525"/>
                  </a:lnTo>
                  <a:lnTo>
                    <a:pt x="15589" y="4196602"/>
                  </a:lnTo>
                  <a:lnTo>
                    <a:pt x="27590" y="4247949"/>
                  </a:lnTo>
                  <a:lnTo>
                    <a:pt x="42915" y="4298403"/>
                  </a:lnTo>
                  <a:lnTo>
                    <a:pt x="61518" y="4347797"/>
                  </a:lnTo>
                  <a:lnTo>
                    <a:pt x="83351" y="4395968"/>
                  </a:lnTo>
                  <a:lnTo>
                    <a:pt x="108369" y="4442752"/>
                  </a:lnTo>
                  <a:lnTo>
                    <a:pt x="136394" y="4487788"/>
                  </a:lnTo>
                  <a:lnTo>
                    <a:pt x="167204" y="4530748"/>
                  </a:lnTo>
                  <a:lnTo>
                    <a:pt x="200681" y="4571515"/>
                  </a:lnTo>
                  <a:lnTo>
                    <a:pt x="236705" y="4609971"/>
                  </a:lnTo>
                  <a:lnTo>
                    <a:pt x="275160" y="4645997"/>
                  </a:lnTo>
                  <a:lnTo>
                    <a:pt x="315927" y="4679476"/>
                  </a:lnTo>
                  <a:lnTo>
                    <a:pt x="358887" y="4710289"/>
                  </a:lnTo>
                  <a:lnTo>
                    <a:pt x="403923" y="4738319"/>
                  </a:lnTo>
                  <a:lnTo>
                    <a:pt x="450706" y="4763336"/>
                  </a:lnTo>
                  <a:lnTo>
                    <a:pt x="498878" y="4785167"/>
                  </a:lnTo>
                  <a:lnTo>
                    <a:pt x="548273" y="4803768"/>
                  </a:lnTo>
                  <a:lnTo>
                    <a:pt x="598727" y="4819091"/>
                  </a:lnTo>
                  <a:lnTo>
                    <a:pt x="650076" y="4831089"/>
                  </a:lnTo>
                  <a:lnTo>
                    <a:pt x="702155" y="4839717"/>
                  </a:lnTo>
                  <a:lnTo>
                    <a:pt x="754800" y="4844928"/>
                  </a:lnTo>
                  <a:lnTo>
                    <a:pt x="807846" y="4846675"/>
                  </a:lnTo>
                  <a:lnTo>
                    <a:pt x="4719967" y="4846675"/>
                  </a:lnTo>
                  <a:lnTo>
                    <a:pt x="4773010" y="4844928"/>
                  </a:lnTo>
                  <a:lnTo>
                    <a:pt x="4825652" y="4839717"/>
                  </a:lnTo>
                  <a:lnTo>
                    <a:pt x="4877729" y="4831089"/>
                  </a:lnTo>
                  <a:lnTo>
                    <a:pt x="4929077" y="4819091"/>
                  </a:lnTo>
                  <a:lnTo>
                    <a:pt x="4979532" y="4803768"/>
                  </a:lnTo>
                  <a:lnTo>
                    <a:pt x="5028929" y="4785167"/>
                  </a:lnTo>
                  <a:lnTo>
                    <a:pt x="5077103" y="4763336"/>
                  </a:lnTo>
                  <a:lnTo>
                    <a:pt x="5123891" y="4738319"/>
                  </a:lnTo>
                  <a:lnTo>
                    <a:pt x="5168927" y="4710289"/>
                  </a:lnTo>
                  <a:lnTo>
                    <a:pt x="5211887" y="4679476"/>
                  </a:lnTo>
                  <a:lnTo>
                    <a:pt x="5252654" y="4645997"/>
                  </a:lnTo>
                  <a:lnTo>
                    <a:pt x="5291108" y="4609971"/>
                  </a:lnTo>
                  <a:lnTo>
                    <a:pt x="5327133" y="4571515"/>
                  </a:lnTo>
                  <a:lnTo>
                    <a:pt x="5360610" y="4530748"/>
                  </a:lnTo>
                  <a:lnTo>
                    <a:pt x="5391420" y="4487788"/>
                  </a:lnTo>
                  <a:lnTo>
                    <a:pt x="5419445" y="4442752"/>
                  </a:lnTo>
                  <a:lnTo>
                    <a:pt x="5444462" y="4395968"/>
                  </a:lnTo>
                  <a:lnTo>
                    <a:pt x="5466294" y="4347797"/>
                  </a:lnTo>
                  <a:lnTo>
                    <a:pt x="5484894" y="4298403"/>
                  </a:lnTo>
                  <a:lnTo>
                    <a:pt x="5500217" y="4247949"/>
                  </a:lnTo>
                  <a:lnTo>
                    <a:pt x="5512216" y="4196602"/>
                  </a:lnTo>
                  <a:lnTo>
                    <a:pt x="5520843" y="4144525"/>
                  </a:lnTo>
                  <a:lnTo>
                    <a:pt x="5526054" y="4091883"/>
                  </a:lnTo>
                  <a:lnTo>
                    <a:pt x="5527802" y="4038841"/>
                  </a:lnTo>
                  <a:lnTo>
                    <a:pt x="5527790" y="807834"/>
                  </a:lnTo>
                  <a:lnTo>
                    <a:pt x="5526054" y="755147"/>
                  </a:lnTo>
                  <a:lnTo>
                    <a:pt x="5520843" y="702505"/>
                  </a:lnTo>
                  <a:lnTo>
                    <a:pt x="5512216" y="650428"/>
                  </a:lnTo>
                  <a:lnTo>
                    <a:pt x="5500217" y="599081"/>
                  </a:lnTo>
                  <a:lnTo>
                    <a:pt x="5484894" y="548627"/>
                  </a:lnTo>
                  <a:lnTo>
                    <a:pt x="5466294" y="499233"/>
                  </a:lnTo>
                  <a:lnTo>
                    <a:pt x="5444462" y="451062"/>
                  </a:lnTo>
                  <a:lnTo>
                    <a:pt x="5419445" y="404279"/>
                  </a:lnTo>
                  <a:lnTo>
                    <a:pt x="5391420" y="359243"/>
                  </a:lnTo>
                  <a:lnTo>
                    <a:pt x="5360610" y="316282"/>
                  </a:lnTo>
                  <a:lnTo>
                    <a:pt x="5327133" y="275515"/>
                  </a:lnTo>
                  <a:lnTo>
                    <a:pt x="5291108" y="237059"/>
                  </a:lnTo>
                  <a:lnTo>
                    <a:pt x="5252654" y="201033"/>
                  </a:lnTo>
                  <a:lnTo>
                    <a:pt x="5211887" y="167554"/>
                  </a:lnTo>
                  <a:lnTo>
                    <a:pt x="5168927" y="136741"/>
                  </a:lnTo>
                  <a:lnTo>
                    <a:pt x="5123891" y="108712"/>
                  </a:lnTo>
                  <a:lnTo>
                    <a:pt x="5077103" y="83695"/>
                  </a:lnTo>
                  <a:lnTo>
                    <a:pt x="5028929" y="61863"/>
                  </a:lnTo>
                  <a:lnTo>
                    <a:pt x="4979532" y="43262"/>
                  </a:lnTo>
                  <a:lnTo>
                    <a:pt x="4929077" y="27939"/>
                  </a:lnTo>
                  <a:lnTo>
                    <a:pt x="4877729" y="15941"/>
                  </a:lnTo>
                  <a:lnTo>
                    <a:pt x="4825652" y="7313"/>
                  </a:lnTo>
                  <a:lnTo>
                    <a:pt x="4773010" y="2102"/>
                  </a:lnTo>
                  <a:lnTo>
                    <a:pt x="4719967" y="355"/>
                  </a:lnTo>
                  <a:lnTo>
                    <a:pt x="808202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43077" y="2322715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4960" y="0"/>
                  </a:moveTo>
                  <a:lnTo>
                    <a:pt x="196422" y="9001"/>
                  </a:lnTo>
                  <a:lnTo>
                    <a:pt x="132486" y="35280"/>
                  </a:lnTo>
                  <a:lnTo>
                    <a:pt x="77584" y="77539"/>
                  </a:lnTo>
                  <a:lnTo>
                    <a:pt x="35636" y="132486"/>
                  </a:lnTo>
                  <a:lnTo>
                    <a:pt x="9045" y="196432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198" y="366265"/>
                  </a:lnTo>
                  <a:lnTo>
                    <a:pt x="54823" y="426354"/>
                  </a:lnTo>
                  <a:lnTo>
                    <a:pt x="103583" y="475254"/>
                  </a:lnTo>
                  <a:lnTo>
                    <a:pt x="163659" y="509934"/>
                  </a:lnTo>
                  <a:lnTo>
                    <a:pt x="230336" y="527959"/>
                  </a:lnTo>
                  <a:lnTo>
                    <a:pt x="264960" y="530288"/>
                  </a:lnTo>
                  <a:lnTo>
                    <a:pt x="299789" y="527959"/>
                  </a:lnTo>
                  <a:lnTo>
                    <a:pt x="366615" y="509934"/>
                  </a:lnTo>
                  <a:lnTo>
                    <a:pt x="426704" y="475254"/>
                  </a:lnTo>
                  <a:lnTo>
                    <a:pt x="475460" y="426354"/>
                  </a:lnTo>
                  <a:lnTo>
                    <a:pt x="510082" y="366265"/>
                  </a:lnTo>
                  <a:lnTo>
                    <a:pt x="527999" y="299584"/>
                  </a:lnTo>
                  <a:lnTo>
                    <a:pt x="530275" y="264960"/>
                  </a:lnTo>
                  <a:lnTo>
                    <a:pt x="527999" y="230343"/>
                  </a:lnTo>
                  <a:lnTo>
                    <a:pt x="510082" y="163667"/>
                  </a:lnTo>
                  <a:lnTo>
                    <a:pt x="475460" y="103578"/>
                  </a:lnTo>
                  <a:lnTo>
                    <a:pt x="426704" y="54673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dollar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0522" y="2449436"/>
              <a:ext cx="275399" cy="2753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643077" y="3127324"/>
              <a:ext cx="530860" cy="530225"/>
            </a:xfrm>
            <a:custGeom>
              <a:avLst/>
              <a:gdLst/>
              <a:ahLst/>
              <a:cxnLst/>
              <a:rect l="l" t="t" r="r" b="b"/>
              <a:pathLst>
                <a:path w="530859" h="530225">
                  <a:moveTo>
                    <a:pt x="264960" y="0"/>
                  </a:moveTo>
                  <a:lnTo>
                    <a:pt x="196422" y="8996"/>
                  </a:lnTo>
                  <a:lnTo>
                    <a:pt x="132486" y="35280"/>
                  </a:lnTo>
                  <a:lnTo>
                    <a:pt x="77584" y="77528"/>
                  </a:lnTo>
                  <a:lnTo>
                    <a:pt x="35636" y="132473"/>
                  </a:lnTo>
                  <a:lnTo>
                    <a:pt x="9045" y="196421"/>
                  </a:lnTo>
                  <a:lnTo>
                    <a:pt x="0" y="264960"/>
                  </a:lnTo>
                  <a:lnTo>
                    <a:pt x="2278" y="299576"/>
                  </a:lnTo>
                  <a:lnTo>
                    <a:pt x="20198" y="366253"/>
                  </a:lnTo>
                  <a:lnTo>
                    <a:pt x="54823" y="426341"/>
                  </a:lnTo>
                  <a:lnTo>
                    <a:pt x="103583" y="475247"/>
                  </a:lnTo>
                  <a:lnTo>
                    <a:pt x="163659" y="509871"/>
                  </a:lnTo>
                  <a:lnTo>
                    <a:pt x="230336" y="527647"/>
                  </a:lnTo>
                  <a:lnTo>
                    <a:pt x="264960" y="529920"/>
                  </a:lnTo>
                  <a:lnTo>
                    <a:pt x="299789" y="527647"/>
                  </a:lnTo>
                  <a:lnTo>
                    <a:pt x="366615" y="509871"/>
                  </a:lnTo>
                  <a:lnTo>
                    <a:pt x="426704" y="475247"/>
                  </a:lnTo>
                  <a:lnTo>
                    <a:pt x="475460" y="426341"/>
                  </a:lnTo>
                  <a:lnTo>
                    <a:pt x="510082" y="366253"/>
                  </a:lnTo>
                  <a:lnTo>
                    <a:pt x="527999" y="299576"/>
                  </a:lnTo>
                  <a:lnTo>
                    <a:pt x="530275" y="264960"/>
                  </a:lnTo>
                  <a:lnTo>
                    <a:pt x="527999" y="230335"/>
                  </a:lnTo>
                  <a:lnTo>
                    <a:pt x="510082" y="163654"/>
                  </a:lnTo>
                  <a:lnTo>
                    <a:pt x="475460" y="103565"/>
                  </a:lnTo>
                  <a:lnTo>
                    <a:pt x="426704" y="54665"/>
                  </a:lnTo>
                  <a:lnTo>
                    <a:pt x="366615" y="20043"/>
                  </a:lnTo>
                  <a:lnTo>
                    <a:pt x="299789" y="2271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vial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0522" y="3254044"/>
              <a:ext cx="275399" cy="2753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43077" y="3931919"/>
              <a:ext cx="530860" cy="530225"/>
            </a:xfrm>
            <a:custGeom>
              <a:avLst/>
              <a:gdLst/>
              <a:ahLst/>
              <a:cxnLst/>
              <a:rect l="l" t="t" r="r" b="b"/>
              <a:pathLst>
                <a:path w="530859" h="530225">
                  <a:moveTo>
                    <a:pt x="264960" y="0"/>
                  </a:moveTo>
                  <a:lnTo>
                    <a:pt x="196422" y="9001"/>
                  </a:lnTo>
                  <a:lnTo>
                    <a:pt x="132486" y="35280"/>
                  </a:lnTo>
                  <a:lnTo>
                    <a:pt x="77584" y="77533"/>
                  </a:lnTo>
                  <a:lnTo>
                    <a:pt x="35636" y="132473"/>
                  </a:lnTo>
                  <a:lnTo>
                    <a:pt x="9045" y="196421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198" y="366260"/>
                  </a:lnTo>
                  <a:lnTo>
                    <a:pt x="54823" y="426343"/>
                  </a:lnTo>
                  <a:lnTo>
                    <a:pt x="103583" y="475252"/>
                  </a:lnTo>
                  <a:lnTo>
                    <a:pt x="163659" y="509871"/>
                  </a:lnTo>
                  <a:lnTo>
                    <a:pt x="230336" y="527647"/>
                  </a:lnTo>
                  <a:lnTo>
                    <a:pt x="264960" y="529920"/>
                  </a:lnTo>
                  <a:lnTo>
                    <a:pt x="299789" y="527647"/>
                  </a:lnTo>
                  <a:lnTo>
                    <a:pt x="366615" y="509871"/>
                  </a:lnTo>
                  <a:lnTo>
                    <a:pt x="426704" y="475252"/>
                  </a:lnTo>
                  <a:lnTo>
                    <a:pt x="475460" y="426343"/>
                  </a:lnTo>
                  <a:lnTo>
                    <a:pt x="510082" y="366260"/>
                  </a:lnTo>
                  <a:lnTo>
                    <a:pt x="527999" y="299584"/>
                  </a:lnTo>
                  <a:lnTo>
                    <a:pt x="530275" y="264960"/>
                  </a:lnTo>
                  <a:lnTo>
                    <a:pt x="527999" y="230335"/>
                  </a:lnTo>
                  <a:lnTo>
                    <a:pt x="510082" y="163654"/>
                  </a:lnTo>
                  <a:lnTo>
                    <a:pt x="475460" y="103571"/>
                  </a:lnTo>
                  <a:lnTo>
                    <a:pt x="426704" y="54667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sun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0522" y="4058996"/>
              <a:ext cx="275399" cy="2753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643077" y="4736515"/>
              <a:ext cx="530860" cy="530860"/>
            </a:xfrm>
            <a:custGeom>
              <a:avLst/>
              <a:gdLst/>
              <a:ahLst/>
              <a:cxnLst/>
              <a:rect l="l" t="t" r="r" b="b"/>
              <a:pathLst>
                <a:path w="530859" h="530860">
                  <a:moveTo>
                    <a:pt x="264960" y="0"/>
                  </a:moveTo>
                  <a:lnTo>
                    <a:pt x="196422" y="9001"/>
                  </a:lnTo>
                  <a:lnTo>
                    <a:pt x="132486" y="35280"/>
                  </a:lnTo>
                  <a:lnTo>
                    <a:pt x="77584" y="77539"/>
                  </a:lnTo>
                  <a:lnTo>
                    <a:pt x="35636" y="132486"/>
                  </a:lnTo>
                  <a:lnTo>
                    <a:pt x="9045" y="196432"/>
                  </a:lnTo>
                  <a:lnTo>
                    <a:pt x="0" y="264960"/>
                  </a:lnTo>
                  <a:lnTo>
                    <a:pt x="2278" y="299584"/>
                  </a:lnTo>
                  <a:lnTo>
                    <a:pt x="20198" y="366265"/>
                  </a:lnTo>
                  <a:lnTo>
                    <a:pt x="54823" y="426354"/>
                  </a:lnTo>
                  <a:lnTo>
                    <a:pt x="103583" y="475254"/>
                  </a:lnTo>
                  <a:lnTo>
                    <a:pt x="163659" y="509934"/>
                  </a:lnTo>
                  <a:lnTo>
                    <a:pt x="230336" y="527959"/>
                  </a:lnTo>
                  <a:lnTo>
                    <a:pt x="264960" y="530288"/>
                  </a:lnTo>
                  <a:lnTo>
                    <a:pt x="299789" y="527959"/>
                  </a:lnTo>
                  <a:lnTo>
                    <a:pt x="366615" y="509934"/>
                  </a:lnTo>
                  <a:lnTo>
                    <a:pt x="426704" y="475254"/>
                  </a:lnTo>
                  <a:lnTo>
                    <a:pt x="475460" y="426354"/>
                  </a:lnTo>
                  <a:lnTo>
                    <a:pt x="510082" y="366265"/>
                  </a:lnTo>
                  <a:lnTo>
                    <a:pt x="527999" y="299584"/>
                  </a:lnTo>
                  <a:lnTo>
                    <a:pt x="530275" y="264960"/>
                  </a:lnTo>
                  <a:lnTo>
                    <a:pt x="527999" y="230343"/>
                  </a:lnTo>
                  <a:lnTo>
                    <a:pt x="510082" y="163667"/>
                  </a:lnTo>
                  <a:lnTo>
                    <a:pt x="475460" y="103578"/>
                  </a:lnTo>
                  <a:lnTo>
                    <a:pt x="426704" y="54673"/>
                  </a:lnTo>
                  <a:lnTo>
                    <a:pt x="366615" y="20048"/>
                  </a:lnTo>
                  <a:lnTo>
                    <a:pt x="299789" y="2272"/>
                  </a:lnTo>
                  <a:lnTo>
                    <a:pt x="26496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weight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0522" y="4863604"/>
              <a:ext cx="275399" cy="2753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22984" y="2333642"/>
            <a:ext cx="3967479" cy="32518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Manual</a:t>
            </a:r>
            <a:r>
              <a:rPr sz="1500" b="1" spc="13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-10">
                <a:solidFill>
                  <a:srgbClr val="FFFFFF"/>
                </a:solidFill>
                <a:latin typeface="Aptos Black"/>
                <a:cs typeface="Aptos Black"/>
              </a:rPr>
              <a:t>sampling</a:t>
            </a:r>
            <a:endParaRPr sz="1500">
              <a:latin typeface="Aptos Black"/>
              <a:cs typeface="Aptos Black"/>
            </a:endParaRPr>
          </a:p>
          <a:p>
            <a:pPr marL="12700" marR="62230">
              <a:lnSpc>
                <a:spcPct val="100000"/>
              </a:lnSpc>
              <a:spcBef>
                <a:spcPts val="200"/>
              </a:spcBef>
            </a:pP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9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technician</a:t>
            </a: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walks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the</a:t>
            </a:r>
            <a:r>
              <a:rPr sz="1250" spc="9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field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with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hand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probe,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FAEACF"/>
                </a:solidFill>
                <a:latin typeface="Segoe UI Symbol"/>
                <a:cs typeface="Segoe UI Symbol"/>
              </a:rPr>
              <a:t>and </a:t>
            </a:r>
            <a:r>
              <a:rPr sz="1250" spc="55">
                <a:solidFill>
                  <a:srgbClr val="FAEACF"/>
                </a:solidFill>
                <a:latin typeface="Segoe UI Symbol"/>
                <a:cs typeface="Segoe UI Symbol"/>
              </a:rPr>
              <a:t>samples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are</a:t>
            </a:r>
            <a:r>
              <a:rPr sz="1250" spc="8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mailed</a:t>
            </a:r>
            <a:r>
              <a:rPr sz="1250" spc="8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to</a:t>
            </a:r>
            <a:r>
              <a:rPr sz="1250" spc="7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8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lab.</a:t>
            </a:r>
            <a:r>
              <a:rPr sz="1250" spc="9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Results</a:t>
            </a:r>
            <a:r>
              <a:rPr sz="1250" spc="8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never</a:t>
            </a: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reach</a:t>
            </a:r>
            <a:r>
              <a:rPr sz="1250" spc="8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FAEACF"/>
                </a:solidFill>
                <a:latin typeface="Segoe UI Symbol"/>
                <a:cs typeface="Segoe UI Symbol"/>
              </a:rPr>
              <a:t>the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farmer</a:t>
            </a:r>
            <a:r>
              <a:rPr sz="1250" spc="12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in</a:t>
            </a:r>
            <a:r>
              <a:rPr sz="1250" spc="114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the</a:t>
            </a:r>
            <a:r>
              <a:rPr sz="1250" spc="12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FAEACF"/>
                </a:solidFill>
                <a:latin typeface="Segoe UI Symbol"/>
                <a:cs typeface="Segoe UI Symbol"/>
              </a:rPr>
              <a:t>field.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Commercial</a:t>
            </a:r>
            <a:r>
              <a:rPr sz="1500" b="1" spc="9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sampling</a:t>
            </a:r>
            <a:r>
              <a:rPr sz="1500" b="1" spc="8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-10">
                <a:solidFill>
                  <a:srgbClr val="FFFFFF"/>
                </a:solidFill>
                <a:latin typeface="Aptos Black"/>
                <a:cs typeface="Aptos Black"/>
              </a:rPr>
              <a:t>robots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Rogo's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45">
                <a:solidFill>
                  <a:srgbClr val="FAEACF"/>
                </a:solidFill>
                <a:latin typeface="Segoe UI Symbol"/>
                <a:cs typeface="Segoe UI Symbol"/>
              </a:rPr>
              <a:t>SmartCore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is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10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converted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Bobcat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skid-</a:t>
            </a:r>
            <a:r>
              <a:rPr sz="1250" spc="45">
                <a:solidFill>
                  <a:srgbClr val="FAEACF"/>
                </a:solidFill>
                <a:latin typeface="Segoe UI Symbol"/>
                <a:cs typeface="Segoe UI Symbol"/>
              </a:rPr>
              <a:t>steer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with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RTK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GPS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and</a:t>
            </a:r>
            <a:r>
              <a:rPr sz="1250" spc="7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LiDAR,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sold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as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service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at</a:t>
            </a:r>
            <a:r>
              <a:rPr sz="1250" spc="7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$3.50–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4.50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per</a:t>
            </a:r>
            <a:r>
              <a:rPr sz="1250" spc="4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acre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[4].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500" b="1" spc="80">
                <a:solidFill>
                  <a:srgbClr val="FFFFFF"/>
                </a:solidFill>
                <a:latin typeface="Aptos Black"/>
                <a:cs typeface="Aptos Black"/>
              </a:rPr>
              <a:t>The</a:t>
            </a:r>
            <a:r>
              <a:rPr sz="1500" b="1" spc="4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25">
                <a:solidFill>
                  <a:srgbClr val="FFFFFF"/>
                </a:solidFill>
                <a:latin typeface="Aptos Black"/>
                <a:cs typeface="Aptos Black"/>
              </a:rPr>
              <a:t>gap</a:t>
            </a:r>
            <a:endParaRPr sz="1500">
              <a:latin typeface="Aptos Black"/>
              <a:cs typeface="Aptos Black"/>
            </a:endParaRPr>
          </a:p>
          <a:p>
            <a:pPr marL="12700" marR="35560">
              <a:lnSpc>
                <a:spcPct val="100000"/>
              </a:lnSpc>
              <a:spcBef>
                <a:spcPts val="200"/>
              </a:spcBef>
            </a:pPr>
            <a:r>
              <a:rPr sz="1250" spc="55">
                <a:solidFill>
                  <a:srgbClr val="FAEACF"/>
                </a:solidFill>
                <a:latin typeface="Segoe UI Symbol"/>
                <a:cs typeface="Segoe UI Symbol"/>
              </a:rPr>
              <a:t>Accurate,</a:t>
            </a:r>
            <a:r>
              <a:rPr sz="1250" spc="4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but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70">
                <a:solidFill>
                  <a:srgbClr val="FAEACF"/>
                </a:solidFill>
                <a:latin typeface="Segoe UI Symbol"/>
                <a:cs typeface="Segoe UI Symbol"/>
              </a:rPr>
              <a:t>every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survey</a:t>
            </a:r>
            <a:r>
              <a:rPr sz="1250" spc="4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is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a</a:t>
            </a:r>
            <a:r>
              <a:rPr sz="1250" spc="4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FAEACF"/>
                </a:solidFill>
                <a:latin typeface="Segoe UI Symbol"/>
                <a:cs typeface="Segoe UI Symbol"/>
              </a:rPr>
              <a:t>recurring</a:t>
            </a:r>
            <a:r>
              <a:rPr sz="1250" spc="4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FAEACF"/>
                </a:solidFill>
                <a:latin typeface="Segoe UI Symbol"/>
                <a:cs typeface="Segoe UI Symbol"/>
              </a:rPr>
              <a:t>cost.</a:t>
            </a:r>
            <a:r>
              <a:rPr sz="1250" spc="6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FAEACF"/>
                </a:solidFill>
                <a:latin typeface="Segoe UI Symbol"/>
                <a:cs typeface="Segoe UI Symbol"/>
              </a:rPr>
              <a:t>Small </a:t>
            </a:r>
            <a:r>
              <a:rPr sz="1250" spc="55">
                <a:solidFill>
                  <a:srgbClr val="FAEACF"/>
                </a:solidFill>
                <a:latin typeface="Segoe UI Symbol"/>
                <a:cs typeface="Segoe UI Symbol"/>
              </a:rPr>
              <a:t>farms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and</a:t>
            </a:r>
            <a:r>
              <a:rPr sz="1250" spc="9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FAEACF"/>
                </a:solidFill>
                <a:latin typeface="Segoe UI Symbol"/>
                <a:cs typeface="Segoe UI Symbol"/>
              </a:rPr>
              <a:t>labs</a:t>
            </a:r>
            <a:r>
              <a:rPr sz="1250" spc="9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sample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less</a:t>
            </a:r>
            <a:r>
              <a:rPr sz="1250" spc="95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often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than</a:t>
            </a:r>
            <a:r>
              <a:rPr sz="1250" spc="8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FAEACF"/>
                </a:solidFill>
                <a:latin typeface="Segoe UI Symbol"/>
                <a:cs typeface="Segoe UI Symbol"/>
              </a:rPr>
              <a:t>they</a:t>
            </a:r>
            <a:r>
              <a:rPr sz="1250" spc="10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FAEACF"/>
                </a:solidFill>
                <a:latin typeface="Segoe UI Symbol"/>
                <a:cs typeface="Segoe UI Symbol"/>
              </a:rPr>
              <a:t>should.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What</a:t>
            </a:r>
            <a:r>
              <a:rPr spc="265"/>
              <a:t> </a:t>
            </a:r>
            <a:r>
              <a:t>D.I.R.T.T</a:t>
            </a:r>
            <a:r>
              <a:rPr spc="275"/>
              <a:t> </a:t>
            </a:r>
            <a:r>
              <a:t>does</a:t>
            </a:r>
            <a:r>
              <a:rPr spc="275"/>
              <a:t> </a:t>
            </a:r>
            <a:r>
              <a:rPr spc="-10"/>
              <a:t>differently</a:t>
            </a:r>
          </a:p>
          <a:p>
            <a:pPr marL="744220">
              <a:lnSpc>
                <a:spcPct val="100000"/>
              </a:lnSpc>
              <a:spcBef>
                <a:spcPts val="2280"/>
              </a:spcBef>
            </a:pPr>
            <a:r>
              <a:rPr sz="1500">
                <a:solidFill>
                  <a:srgbClr val="FFFFFF"/>
                </a:solidFill>
              </a:rPr>
              <a:t>About</a:t>
            </a:r>
            <a:r>
              <a:rPr sz="1500" spc="100">
                <a:solidFill>
                  <a:srgbClr val="FFFFFF"/>
                </a:solidFill>
              </a:rPr>
              <a:t> </a:t>
            </a:r>
            <a:r>
              <a:rPr sz="1500" spc="50">
                <a:solidFill>
                  <a:srgbClr val="FFFFFF"/>
                </a:solidFill>
              </a:rPr>
              <a:t>$1,000</a:t>
            </a:r>
            <a:r>
              <a:rPr sz="1500" spc="100">
                <a:solidFill>
                  <a:srgbClr val="FFFFFF"/>
                </a:solidFill>
              </a:rPr>
              <a:t> </a:t>
            </a:r>
            <a:r>
              <a:rPr sz="1500">
                <a:solidFill>
                  <a:srgbClr val="FFFFFF"/>
                </a:solidFill>
              </a:rPr>
              <a:t>to</a:t>
            </a:r>
            <a:r>
              <a:rPr sz="1500" spc="110">
                <a:solidFill>
                  <a:srgbClr val="FFFFFF"/>
                </a:solidFill>
              </a:rPr>
              <a:t> </a:t>
            </a:r>
            <a:r>
              <a:rPr sz="1500" spc="-10">
                <a:solidFill>
                  <a:srgbClr val="FFFFFF"/>
                </a:solidFill>
              </a:rPr>
              <a:t>build</a:t>
            </a:r>
            <a:endParaRPr sz="1500"/>
          </a:p>
          <a:p>
            <a:pPr marL="744220">
              <a:lnSpc>
                <a:spcPct val="100000"/>
              </a:lnSpc>
              <a:spcBef>
                <a:spcPts val="100"/>
              </a:spcBef>
            </a:pPr>
            <a:r>
              <a:rPr sz="1250" b="0">
                <a:latin typeface="Segoe UI Symbol"/>
                <a:cs typeface="Segoe UI Symbol"/>
              </a:rPr>
              <a:t>Owned</a:t>
            </a:r>
            <a:r>
              <a:rPr sz="1250" b="0" spc="10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by</a:t>
            </a:r>
            <a:r>
              <a:rPr sz="1250" b="0" spc="10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the</a:t>
            </a:r>
            <a:r>
              <a:rPr sz="1250" b="0" spc="10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farm</a:t>
            </a:r>
            <a:r>
              <a:rPr sz="1250" b="0" spc="10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or</a:t>
            </a:r>
            <a:r>
              <a:rPr sz="1250" b="0" spc="10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lab,</a:t>
            </a:r>
            <a:r>
              <a:rPr sz="1250" b="0" spc="12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with</a:t>
            </a:r>
            <a:r>
              <a:rPr sz="1250" b="0" spc="11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no</a:t>
            </a:r>
            <a:r>
              <a:rPr sz="1250" b="0" spc="114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per-</a:t>
            </a:r>
            <a:r>
              <a:rPr sz="1250" b="0" spc="70">
                <a:latin typeface="Segoe UI Symbol"/>
                <a:cs typeface="Segoe UI Symbol"/>
              </a:rPr>
              <a:t>acre</a:t>
            </a:r>
            <a:r>
              <a:rPr sz="1250" b="0" spc="110">
                <a:latin typeface="Segoe UI Symbol"/>
                <a:cs typeface="Segoe UI Symbol"/>
              </a:rPr>
              <a:t> </a:t>
            </a:r>
            <a:r>
              <a:rPr sz="1250" b="0" spc="75">
                <a:latin typeface="Segoe UI Symbol"/>
                <a:cs typeface="Segoe UI Symbol"/>
              </a:rPr>
              <a:t>service</a:t>
            </a:r>
            <a:r>
              <a:rPr sz="1250" b="0" spc="105">
                <a:latin typeface="Segoe UI Symbol"/>
                <a:cs typeface="Segoe UI Symbol"/>
              </a:rPr>
              <a:t> </a:t>
            </a:r>
            <a:r>
              <a:rPr sz="1250" b="0" spc="45">
                <a:latin typeface="Segoe UI Symbol"/>
                <a:cs typeface="Segoe UI Symbol"/>
              </a:rPr>
              <a:t>fee.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250">
              <a:latin typeface="Segoe UI Symbol"/>
              <a:cs typeface="Segoe UI Symbol"/>
            </a:endParaRPr>
          </a:p>
          <a:p>
            <a:pPr marL="744220">
              <a:lnSpc>
                <a:spcPct val="100000"/>
              </a:lnSpc>
            </a:pPr>
            <a:r>
              <a:rPr sz="1500" spc="45">
                <a:solidFill>
                  <a:srgbClr val="FFFFFF"/>
                </a:solidFill>
              </a:rPr>
              <a:t>Answers</a:t>
            </a:r>
            <a:r>
              <a:rPr sz="1500" spc="50">
                <a:solidFill>
                  <a:srgbClr val="FFFFFF"/>
                </a:solidFill>
              </a:rPr>
              <a:t> </a:t>
            </a:r>
            <a:r>
              <a:rPr sz="1500">
                <a:solidFill>
                  <a:srgbClr val="FFFFFF"/>
                </a:solidFill>
              </a:rPr>
              <a:t>in</a:t>
            </a:r>
            <a:r>
              <a:rPr sz="1500" spc="50">
                <a:solidFill>
                  <a:srgbClr val="FFFFFF"/>
                </a:solidFill>
              </a:rPr>
              <a:t> </a:t>
            </a:r>
            <a:r>
              <a:rPr sz="1500">
                <a:solidFill>
                  <a:srgbClr val="FFFFFF"/>
                </a:solidFill>
              </a:rPr>
              <a:t>the</a:t>
            </a:r>
            <a:r>
              <a:rPr sz="1500" spc="55">
                <a:solidFill>
                  <a:srgbClr val="FFFFFF"/>
                </a:solidFill>
              </a:rPr>
              <a:t> </a:t>
            </a:r>
            <a:r>
              <a:rPr sz="1500" spc="-10">
                <a:solidFill>
                  <a:srgbClr val="FFFFFF"/>
                </a:solidFill>
              </a:rPr>
              <a:t>field</a:t>
            </a:r>
            <a:endParaRPr sz="1500"/>
          </a:p>
          <a:p>
            <a:pPr marL="744220" marR="165735">
              <a:lnSpc>
                <a:spcPct val="100000"/>
              </a:lnSpc>
              <a:spcBef>
                <a:spcPts val="100"/>
              </a:spcBef>
            </a:pPr>
            <a:r>
              <a:rPr sz="1250" b="0">
                <a:latin typeface="Segoe UI Symbol"/>
                <a:cs typeface="Segoe UI Symbol"/>
              </a:rPr>
              <a:t>pH,</a:t>
            </a:r>
            <a:r>
              <a:rPr sz="1250" b="0" spc="130">
                <a:latin typeface="Segoe UI Symbol"/>
                <a:cs typeface="Segoe UI Symbol"/>
              </a:rPr>
              <a:t> </a:t>
            </a:r>
            <a:r>
              <a:rPr sz="1250" b="0" spc="100">
                <a:latin typeface="Segoe UI Symbol"/>
                <a:cs typeface="Segoe UI Symbol"/>
              </a:rPr>
              <a:t>EC,</a:t>
            </a:r>
            <a:r>
              <a:rPr sz="1250" b="0" spc="114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temperature</a:t>
            </a:r>
            <a:r>
              <a:rPr sz="1250" b="0" spc="114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and</a:t>
            </a:r>
            <a:r>
              <a:rPr sz="1250" b="0" spc="11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moisture</a:t>
            </a:r>
            <a:r>
              <a:rPr sz="1250" b="0" spc="120">
                <a:latin typeface="Segoe UI Symbol"/>
                <a:cs typeface="Segoe UI Symbol"/>
              </a:rPr>
              <a:t> </a:t>
            </a:r>
            <a:r>
              <a:rPr sz="1250" b="0" spc="50">
                <a:latin typeface="Segoe UI Symbol"/>
                <a:cs typeface="Segoe UI Symbol"/>
              </a:rPr>
              <a:t>sent</a:t>
            </a:r>
            <a:r>
              <a:rPr sz="1250" b="0" spc="114">
                <a:latin typeface="Segoe UI Symbol"/>
                <a:cs typeface="Segoe UI Symbol"/>
              </a:rPr>
              <a:t> </a:t>
            </a:r>
            <a:r>
              <a:rPr sz="1250" b="0" spc="70">
                <a:latin typeface="Segoe UI Symbol"/>
                <a:cs typeface="Segoe UI Symbol"/>
              </a:rPr>
              <a:t>back</a:t>
            </a:r>
            <a:r>
              <a:rPr sz="1250" b="0" spc="12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live</a:t>
            </a:r>
            <a:r>
              <a:rPr sz="1250" b="0" spc="114">
                <a:latin typeface="Segoe UI Symbol"/>
                <a:cs typeface="Segoe UI Symbol"/>
              </a:rPr>
              <a:t> </a:t>
            </a:r>
            <a:r>
              <a:rPr sz="1250" b="0" spc="-20">
                <a:latin typeface="Segoe UI Symbol"/>
                <a:cs typeface="Segoe UI Symbol"/>
              </a:rPr>
              <a:t>over </a:t>
            </a:r>
            <a:r>
              <a:rPr sz="1250" b="0" spc="50">
                <a:latin typeface="Segoe UI Symbol"/>
                <a:cs typeface="Segoe UI Symbol"/>
              </a:rPr>
              <a:t>LoRa</a:t>
            </a:r>
            <a:r>
              <a:rPr sz="1250" b="0" spc="20">
                <a:latin typeface="Segoe UI Symbol"/>
                <a:cs typeface="Segoe UI Symbol"/>
              </a:rPr>
              <a:t> </a:t>
            </a:r>
            <a:r>
              <a:rPr sz="1250" b="0" spc="-10">
                <a:latin typeface="Segoe UI Symbol"/>
                <a:cs typeface="Segoe UI Symbol"/>
              </a:rPr>
              <a:t>radio.</a:t>
            </a:r>
            <a:endParaRPr sz="1250">
              <a:latin typeface="Segoe UI Symbol"/>
              <a:cs typeface="Segoe UI Symbol"/>
            </a:endParaRPr>
          </a:p>
          <a:p>
            <a:pPr marL="744220">
              <a:lnSpc>
                <a:spcPct val="100000"/>
              </a:lnSpc>
              <a:spcBef>
                <a:spcPts val="1435"/>
              </a:spcBef>
            </a:pPr>
            <a:r>
              <a:rPr sz="1500">
                <a:solidFill>
                  <a:srgbClr val="FFFFFF"/>
                </a:solidFill>
              </a:rPr>
              <a:t>Runs</a:t>
            </a:r>
            <a:r>
              <a:rPr sz="1500" spc="125">
                <a:solidFill>
                  <a:srgbClr val="FFFFFF"/>
                </a:solidFill>
              </a:rPr>
              <a:t> </a:t>
            </a:r>
            <a:r>
              <a:rPr sz="1500">
                <a:solidFill>
                  <a:srgbClr val="FFFFFF"/>
                </a:solidFill>
              </a:rPr>
              <a:t>on</a:t>
            </a:r>
            <a:r>
              <a:rPr sz="1500" spc="114">
                <a:solidFill>
                  <a:srgbClr val="FFFFFF"/>
                </a:solidFill>
              </a:rPr>
              <a:t> </a:t>
            </a:r>
            <a:r>
              <a:rPr sz="1500" spc="-10">
                <a:solidFill>
                  <a:srgbClr val="FFFFFF"/>
                </a:solidFill>
              </a:rPr>
              <a:t>sunlight</a:t>
            </a:r>
            <a:endParaRPr sz="1500"/>
          </a:p>
          <a:p>
            <a:pPr marL="744220">
              <a:lnSpc>
                <a:spcPct val="100000"/>
              </a:lnSpc>
              <a:spcBef>
                <a:spcPts val="100"/>
              </a:spcBef>
            </a:pPr>
            <a:r>
              <a:rPr sz="1250" b="0">
                <a:latin typeface="Segoe UI Symbol"/>
                <a:cs typeface="Segoe UI Symbol"/>
              </a:rPr>
              <a:t>A</a:t>
            </a:r>
            <a:r>
              <a:rPr sz="1250" b="0" spc="65">
                <a:latin typeface="Segoe UI Symbol"/>
                <a:cs typeface="Segoe UI Symbol"/>
              </a:rPr>
              <a:t> </a:t>
            </a:r>
            <a:r>
              <a:rPr sz="1250" b="0" spc="95">
                <a:latin typeface="Segoe UI Symbol"/>
                <a:cs typeface="Segoe UI Symbol"/>
              </a:rPr>
              <a:t>30</a:t>
            </a:r>
            <a:r>
              <a:rPr sz="1250" b="0" spc="65">
                <a:latin typeface="Segoe UI Symbol"/>
                <a:cs typeface="Segoe UI Symbol"/>
              </a:rPr>
              <a:t> </a:t>
            </a:r>
            <a:r>
              <a:rPr sz="1250" b="0" spc="55">
                <a:latin typeface="Segoe UI Symbol"/>
                <a:cs typeface="Segoe UI Symbol"/>
              </a:rPr>
              <a:t>W </a:t>
            </a:r>
            <a:r>
              <a:rPr sz="1250" b="0">
                <a:latin typeface="Segoe UI Symbol"/>
                <a:cs typeface="Segoe UI Symbol"/>
              </a:rPr>
              <a:t>solar</a:t>
            </a:r>
            <a:r>
              <a:rPr sz="1250" b="0" spc="7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panel</a:t>
            </a:r>
            <a:r>
              <a:rPr sz="1250" b="0" spc="60">
                <a:latin typeface="Segoe UI Symbol"/>
                <a:cs typeface="Segoe UI Symbol"/>
              </a:rPr>
              <a:t> </a:t>
            </a:r>
            <a:r>
              <a:rPr sz="1250" b="0" spc="55">
                <a:latin typeface="Segoe UI Symbol"/>
                <a:cs typeface="Segoe UI Symbol"/>
              </a:rPr>
              <a:t>stretches</a:t>
            </a:r>
            <a:r>
              <a:rPr sz="1250" b="0" spc="60">
                <a:latin typeface="Segoe UI Symbol"/>
                <a:cs typeface="Segoe UI Symbol"/>
              </a:rPr>
              <a:t> </a:t>
            </a:r>
            <a:r>
              <a:rPr sz="1250" b="0" spc="70">
                <a:latin typeface="Segoe UI Symbol"/>
                <a:cs typeface="Segoe UI Symbol"/>
              </a:rPr>
              <a:t>each</a:t>
            </a:r>
            <a:r>
              <a:rPr sz="1250" b="0" spc="65">
                <a:latin typeface="Segoe UI Symbol"/>
                <a:cs typeface="Segoe UI Symbol"/>
              </a:rPr>
              <a:t> </a:t>
            </a:r>
            <a:r>
              <a:rPr sz="1250" b="0" spc="70">
                <a:latin typeface="Segoe UI Symbol"/>
                <a:cs typeface="Segoe UI Symbol"/>
              </a:rPr>
              <a:t>survey </a:t>
            </a:r>
            <a:r>
              <a:rPr sz="1250" b="0" spc="-20">
                <a:latin typeface="Segoe UI Symbol"/>
                <a:cs typeface="Segoe UI Symbol"/>
              </a:rPr>
              <a:t>day.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250">
              <a:latin typeface="Segoe UI Symbol"/>
              <a:cs typeface="Segoe UI Symbol"/>
            </a:endParaRPr>
          </a:p>
          <a:p>
            <a:pPr marL="744220">
              <a:lnSpc>
                <a:spcPct val="100000"/>
              </a:lnSpc>
            </a:pPr>
            <a:r>
              <a:rPr sz="1500" spc="-10">
                <a:solidFill>
                  <a:srgbClr val="FFFFFF"/>
                </a:solidFill>
              </a:rPr>
              <a:t>Small</a:t>
            </a:r>
            <a:r>
              <a:rPr sz="1500" spc="30">
                <a:solidFill>
                  <a:srgbClr val="FFFFFF"/>
                </a:solidFill>
              </a:rPr>
              <a:t> </a:t>
            </a:r>
            <a:r>
              <a:rPr sz="1500">
                <a:solidFill>
                  <a:srgbClr val="FFFFFF"/>
                </a:solidFill>
              </a:rPr>
              <a:t>and</a:t>
            </a:r>
            <a:r>
              <a:rPr sz="1500" spc="40">
                <a:solidFill>
                  <a:srgbClr val="FFFFFF"/>
                </a:solidFill>
              </a:rPr>
              <a:t> </a:t>
            </a:r>
            <a:r>
              <a:rPr sz="1500" spc="-20">
                <a:solidFill>
                  <a:srgbClr val="FFFFFF"/>
                </a:solidFill>
              </a:rPr>
              <a:t>light</a:t>
            </a:r>
            <a:endParaRPr sz="1500"/>
          </a:p>
          <a:p>
            <a:pPr marL="744220" marR="231775">
              <a:lnSpc>
                <a:spcPct val="100000"/>
              </a:lnSpc>
              <a:spcBef>
                <a:spcPts val="100"/>
              </a:spcBef>
            </a:pPr>
            <a:r>
              <a:rPr sz="1250" b="0">
                <a:latin typeface="Segoe UI Symbol"/>
                <a:cs typeface="Segoe UI Symbol"/>
              </a:rPr>
              <a:t>Under</a:t>
            </a:r>
            <a:r>
              <a:rPr sz="1250" b="0" spc="75">
                <a:latin typeface="Segoe UI Symbol"/>
                <a:cs typeface="Segoe UI Symbol"/>
              </a:rPr>
              <a:t> </a:t>
            </a:r>
            <a:r>
              <a:rPr sz="1250" b="0" spc="85">
                <a:latin typeface="Segoe UI Symbol"/>
                <a:cs typeface="Segoe UI Symbol"/>
              </a:rPr>
              <a:t>20 </a:t>
            </a:r>
            <a:r>
              <a:rPr sz="1250" b="0">
                <a:latin typeface="Segoe UI Symbol"/>
                <a:cs typeface="Segoe UI Symbol"/>
              </a:rPr>
              <a:t>kg,</a:t>
            </a:r>
            <a:r>
              <a:rPr sz="1250" b="0" spc="90">
                <a:latin typeface="Segoe UI Symbol"/>
                <a:cs typeface="Segoe UI Symbol"/>
              </a:rPr>
              <a:t> </a:t>
            </a:r>
            <a:r>
              <a:rPr sz="1250" b="0" spc="65">
                <a:latin typeface="Segoe UI Symbol"/>
                <a:cs typeface="Segoe UI Symbol"/>
              </a:rPr>
              <a:t>so</a:t>
            </a:r>
            <a:r>
              <a:rPr sz="1250" b="0" spc="9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it</a:t>
            </a:r>
            <a:r>
              <a:rPr sz="1250" b="0" spc="8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fits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in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 spc="60">
                <a:latin typeface="Segoe UI Symbol"/>
                <a:cs typeface="Segoe UI Symbol"/>
              </a:rPr>
              <a:t>a</a:t>
            </a:r>
            <a:r>
              <a:rPr sz="1250" b="0" spc="7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pickup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bed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and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 spc="75">
                <a:latin typeface="Segoe UI Symbol"/>
                <a:cs typeface="Segoe UI Symbol"/>
              </a:rPr>
              <a:t>stays</a:t>
            </a:r>
            <a:r>
              <a:rPr sz="1250" b="0" spc="85">
                <a:latin typeface="Segoe UI Symbol"/>
                <a:cs typeface="Segoe UI Symbol"/>
              </a:rPr>
              <a:t> </a:t>
            </a:r>
            <a:r>
              <a:rPr sz="1250" b="0" spc="-10">
                <a:latin typeface="Segoe UI Symbol"/>
                <a:cs typeface="Segoe UI Symbol"/>
              </a:rPr>
              <a:t>light </a:t>
            </a:r>
            <a:r>
              <a:rPr sz="1250" b="0">
                <a:latin typeface="Segoe UI Symbol"/>
                <a:cs typeface="Segoe UI Symbol"/>
              </a:rPr>
              <a:t>on</a:t>
            </a:r>
            <a:r>
              <a:rPr sz="1250" b="0" spc="50">
                <a:latin typeface="Segoe UI Symbol"/>
                <a:cs typeface="Segoe UI Symbol"/>
              </a:rPr>
              <a:t> </a:t>
            </a:r>
            <a:r>
              <a:rPr sz="1250" b="0">
                <a:latin typeface="Segoe UI Symbol"/>
                <a:cs typeface="Segoe UI Symbol"/>
              </a:rPr>
              <a:t>the</a:t>
            </a:r>
            <a:r>
              <a:rPr sz="1250" b="0" spc="45">
                <a:latin typeface="Segoe UI Symbol"/>
                <a:cs typeface="Segoe UI Symbol"/>
              </a:rPr>
              <a:t> </a:t>
            </a:r>
            <a:r>
              <a:rPr sz="1250" b="0" spc="-10">
                <a:latin typeface="Segoe UI Symbol"/>
                <a:cs typeface="Segoe UI Symbol"/>
              </a:rPr>
              <a:t>soil.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50">
              <a:latin typeface="Segoe UI Symbol"/>
              <a:cs typeface="Segoe UI Symbol"/>
            </a:endParaRPr>
          </a:p>
          <a:p>
            <a:pPr marL="12700" marR="246379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Trade-</a:t>
            </a:r>
            <a:r>
              <a:rPr sz="1250" b="0" i="1" spc="65">
                <a:solidFill>
                  <a:srgbClr val="FFFFFF"/>
                </a:solidFill>
                <a:latin typeface="Arial"/>
                <a:cs typeface="Arial"/>
              </a:rPr>
              <a:t>off:</a:t>
            </a:r>
            <a:r>
              <a:rPr sz="1250" b="0" i="1" spc="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6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50" b="0" i="1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screening</a:t>
            </a:r>
            <a:r>
              <a:rPr sz="1250" b="0" i="1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tool,</a:t>
            </a:r>
            <a:r>
              <a:rPr sz="1250" b="0" i="1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250" b="0" i="1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55">
                <a:solidFill>
                  <a:srgbClr val="FFFFFF"/>
                </a:solidFill>
                <a:latin typeface="Arial"/>
                <a:cs typeface="Arial"/>
              </a:rPr>
              <a:t>lab-</a:t>
            </a:r>
            <a:r>
              <a:rPr sz="1250" b="0" i="1" spc="50">
                <a:solidFill>
                  <a:srgbClr val="FFFFFF"/>
                </a:solidFill>
                <a:latin typeface="Arial"/>
                <a:cs typeface="Arial"/>
              </a:rPr>
              <a:t>grade.</a:t>
            </a:r>
            <a:r>
              <a:rPr sz="1250" b="0" i="1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250" b="0" i="1" spc="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points</a:t>
            </a:r>
            <a:r>
              <a:rPr sz="1250" b="0" i="1" spc="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45">
                <a:solidFill>
                  <a:srgbClr val="FFFFFF"/>
                </a:solidFill>
                <a:latin typeface="Arial"/>
                <a:cs typeface="Arial"/>
              </a:rPr>
              <a:t>farmers</a:t>
            </a:r>
            <a:r>
              <a:rPr sz="1250" b="0" i="1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50" b="0" i="1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spots</a:t>
            </a:r>
            <a:r>
              <a:rPr sz="1250" b="0" i="1" spc="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60">
                <a:solidFill>
                  <a:srgbClr val="FFFFFF"/>
                </a:solidFill>
                <a:latin typeface="Arial"/>
                <a:cs typeface="Arial"/>
              </a:rPr>
              <a:t>worth</a:t>
            </a:r>
            <a:r>
              <a:rPr sz="1250" b="0" i="1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6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50" b="0" i="1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1250" b="0" i="1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0" i="1" spc="-10">
                <a:solidFill>
                  <a:srgbClr val="FFFFFF"/>
                </a:solidFill>
                <a:latin typeface="Arial"/>
                <a:cs typeface="Arial"/>
              </a:rPr>
              <a:t>test.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4462145" cy="532765"/>
          </a:xfrm>
          <a:custGeom>
            <a:avLst/>
            <a:gdLst/>
            <a:ahLst/>
            <a:cxnLst/>
            <a:rect l="l" t="t" r="r" b="b"/>
            <a:pathLst>
              <a:path w="4462145" h="532765">
                <a:moveTo>
                  <a:pt x="4461840" y="0"/>
                </a:moveTo>
                <a:lnTo>
                  <a:pt x="0" y="0"/>
                </a:lnTo>
                <a:lnTo>
                  <a:pt x="0" y="532434"/>
                </a:lnTo>
                <a:lnTo>
                  <a:pt x="2230920" y="532434"/>
                </a:lnTo>
                <a:lnTo>
                  <a:pt x="4461840" y="532434"/>
                </a:lnTo>
                <a:lnTo>
                  <a:pt x="446184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pc="175"/>
              <a:t>System</a:t>
            </a:r>
            <a:r>
              <a:rPr spc="15"/>
              <a:t> </a:t>
            </a:r>
            <a:r>
              <a:rPr spc="65"/>
              <a:t>Diagram</a:t>
            </a:r>
          </a:p>
        </p:txBody>
      </p:sp>
      <p:sp>
        <p:nvSpPr>
          <p:cNvPr id="4" name="object 4"/>
          <p:cNvSpPr/>
          <p:nvPr/>
        </p:nvSpPr>
        <p:spPr>
          <a:xfrm>
            <a:off x="338404" y="1280160"/>
            <a:ext cx="11512550" cy="5321935"/>
          </a:xfrm>
          <a:custGeom>
            <a:avLst/>
            <a:gdLst/>
            <a:ahLst/>
            <a:cxnLst/>
            <a:rect l="l" t="t" r="r" b="b"/>
            <a:pathLst>
              <a:path w="11512550" h="5321934">
                <a:moveTo>
                  <a:pt x="11246040" y="0"/>
                </a:moveTo>
                <a:lnTo>
                  <a:pt x="266039" y="0"/>
                </a:lnTo>
                <a:lnTo>
                  <a:pt x="231209" y="2278"/>
                </a:lnTo>
                <a:lnTo>
                  <a:pt x="164384" y="20198"/>
                </a:lnTo>
                <a:lnTo>
                  <a:pt x="104075" y="55034"/>
                </a:lnTo>
                <a:lnTo>
                  <a:pt x="55028" y="103934"/>
                </a:lnTo>
                <a:lnTo>
                  <a:pt x="20193" y="164234"/>
                </a:lnTo>
                <a:lnTo>
                  <a:pt x="2276" y="231209"/>
                </a:lnTo>
                <a:lnTo>
                  <a:pt x="0" y="266039"/>
                </a:lnTo>
                <a:lnTo>
                  <a:pt x="0" y="5055844"/>
                </a:lnTo>
                <a:lnTo>
                  <a:pt x="2252" y="5090311"/>
                </a:lnTo>
                <a:lnTo>
                  <a:pt x="2276" y="5090674"/>
                </a:lnTo>
                <a:lnTo>
                  <a:pt x="8976" y="5124370"/>
                </a:lnTo>
                <a:lnTo>
                  <a:pt x="9040" y="5124692"/>
                </a:lnTo>
                <a:lnTo>
                  <a:pt x="20121" y="5157281"/>
                </a:lnTo>
                <a:lnTo>
                  <a:pt x="20193" y="5157494"/>
                </a:lnTo>
                <a:lnTo>
                  <a:pt x="35636" y="5188673"/>
                </a:lnTo>
                <a:lnTo>
                  <a:pt x="77890" y="5243941"/>
                </a:lnTo>
                <a:lnTo>
                  <a:pt x="132842" y="5286235"/>
                </a:lnTo>
                <a:lnTo>
                  <a:pt x="197145" y="5312837"/>
                </a:lnTo>
                <a:lnTo>
                  <a:pt x="266039" y="5321884"/>
                </a:lnTo>
                <a:lnTo>
                  <a:pt x="11246396" y="5321515"/>
                </a:lnTo>
                <a:lnTo>
                  <a:pt x="11315245" y="5312475"/>
                </a:lnTo>
                <a:lnTo>
                  <a:pt x="11379238" y="5285879"/>
                </a:lnTo>
                <a:lnTo>
                  <a:pt x="11434495" y="5243625"/>
                </a:lnTo>
                <a:lnTo>
                  <a:pt x="11476799" y="5188673"/>
                </a:lnTo>
                <a:lnTo>
                  <a:pt x="11503280" y="5124692"/>
                </a:lnTo>
                <a:lnTo>
                  <a:pt x="11510085" y="5090674"/>
                </a:lnTo>
                <a:lnTo>
                  <a:pt x="11510157" y="5090311"/>
                </a:lnTo>
                <a:lnTo>
                  <a:pt x="11512411" y="5055844"/>
                </a:lnTo>
                <a:lnTo>
                  <a:pt x="11512435" y="5055476"/>
                </a:lnTo>
                <a:lnTo>
                  <a:pt x="11512080" y="266039"/>
                </a:lnTo>
                <a:lnTo>
                  <a:pt x="11503032" y="197189"/>
                </a:lnTo>
                <a:lnTo>
                  <a:pt x="11476431" y="133197"/>
                </a:lnTo>
                <a:lnTo>
                  <a:pt x="11434183" y="77939"/>
                </a:lnTo>
                <a:lnTo>
                  <a:pt x="11379238" y="35636"/>
                </a:lnTo>
                <a:lnTo>
                  <a:pt x="11314934" y="9045"/>
                </a:lnTo>
                <a:lnTo>
                  <a:pt x="11280875" y="2278"/>
                </a:lnTo>
                <a:lnTo>
                  <a:pt x="1124604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584" y="1358531"/>
            <a:ext cx="1169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D3ECE3"/>
                </a:solidFill>
                <a:latin typeface="Aptos Black"/>
                <a:cs typeface="Aptos Black"/>
              </a:rPr>
              <a:t>ON</a:t>
            </a:r>
            <a:r>
              <a:rPr sz="1200" b="1" spc="70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200" b="1" spc="55">
                <a:solidFill>
                  <a:srgbClr val="D3ECE3"/>
                </a:solidFill>
                <a:latin typeface="Aptos Black"/>
                <a:cs typeface="Aptos Black"/>
              </a:rPr>
              <a:t>THE</a:t>
            </a:r>
            <a:r>
              <a:rPr sz="1200" b="1" spc="80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200" b="1" spc="-20">
                <a:solidFill>
                  <a:srgbClr val="D3ECE3"/>
                </a:solidFill>
                <a:latin typeface="Aptos Black"/>
                <a:cs typeface="Aptos Black"/>
              </a:rPr>
              <a:t>ROBOT</a:t>
            </a:r>
            <a:endParaRPr sz="1200">
              <a:latin typeface="Aptos Black"/>
              <a:cs typeface="Aptos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8640" y="1409382"/>
            <a:ext cx="8283575" cy="5045075"/>
            <a:chOff x="548640" y="1409382"/>
            <a:chExt cx="8283575" cy="5045075"/>
          </a:xfrm>
        </p:grpSpPr>
        <p:sp>
          <p:nvSpPr>
            <p:cNvPr id="8" name="object 8"/>
            <p:cNvSpPr/>
            <p:nvPr/>
          </p:nvSpPr>
          <p:spPr>
            <a:xfrm>
              <a:off x="8823959" y="1417319"/>
              <a:ext cx="0" cy="5029200"/>
            </a:xfrm>
            <a:custGeom>
              <a:avLst/>
              <a:gdLst/>
              <a:ahLst/>
              <a:cxnLst/>
              <a:rect l="l" t="t" r="r" b="b"/>
              <a:pathLst>
                <a:path h="5029200">
                  <a:moveTo>
                    <a:pt x="0" y="0"/>
                  </a:moveTo>
                  <a:lnTo>
                    <a:pt x="0" y="5029200"/>
                  </a:lnTo>
                </a:path>
              </a:pathLst>
            </a:custGeom>
            <a:ln w="15839">
              <a:solidFill>
                <a:srgbClr val="D3ECE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" y="1783079"/>
              <a:ext cx="2148840" cy="2057400"/>
            </a:xfrm>
            <a:custGeom>
              <a:avLst/>
              <a:gdLst/>
              <a:ahLst/>
              <a:cxnLst/>
              <a:rect l="l" t="t" r="r" b="b"/>
              <a:pathLst>
                <a:path w="2148840" h="2057400">
                  <a:moveTo>
                    <a:pt x="1983955" y="0"/>
                  </a:moveTo>
                  <a:lnTo>
                    <a:pt x="164515" y="0"/>
                  </a:lnTo>
                  <a:lnTo>
                    <a:pt x="143037" y="1405"/>
                  </a:lnTo>
                  <a:lnTo>
                    <a:pt x="101691" y="12451"/>
                  </a:lnTo>
                  <a:lnTo>
                    <a:pt x="64375" y="33940"/>
                  </a:lnTo>
                  <a:lnTo>
                    <a:pt x="33940" y="64231"/>
                  </a:lnTo>
                  <a:lnTo>
                    <a:pt x="12451" y="101541"/>
                  </a:lnTo>
                  <a:lnTo>
                    <a:pt x="1405" y="143037"/>
                  </a:lnTo>
                  <a:lnTo>
                    <a:pt x="0" y="164515"/>
                  </a:lnTo>
                  <a:lnTo>
                    <a:pt x="0" y="1892884"/>
                  </a:lnTo>
                  <a:lnTo>
                    <a:pt x="5515" y="1935087"/>
                  </a:lnTo>
                  <a:lnTo>
                    <a:pt x="21958" y="1974964"/>
                  </a:lnTo>
                  <a:lnTo>
                    <a:pt x="48104" y="2009251"/>
                  </a:lnTo>
                  <a:lnTo>
                    <a:pt x="82080" y="2035441"/>
                  </a:lnTo>
                  <a:lnTo>
                    <a:pt x="121950" y="2051821"/>
                  </a:lnTo>
                  <a:lnTo>
                    <a:pt x="164515" y="2057400"/>
                  </a:lnTo>
                  <a:lnTo>
                    <a:pt x="1984324" y="2057044"/>
                  </a:lnTo>
                  <a:lnTo>
                    <a:pt x="2026845" y="2051461"/>
                  </a:lnTo>
                  <a:lnTo>
                    <a:pt x="2066404" y="2035086"/>
                  </a:lnTo>
                  <a:lnTo>
                    <a:pt x="2100691" y="2008939"/>
                  </a:lnTo>
                  <a:lnTo>
                    <a:pt x="2126881" y="1974964"/>
                  </a:lnTo>
                  <a:lnTo>
                    <a:pt x="2136285" y="1955708"/>
                  </a:lnTo>
                  <a:lnTo>
                    <a:pt x="2136388" y="1955496"/>
                  </a:lnTo>
                  <a:lnTo>
                    <a:pt x="2143154" y="1935405"/>
                  </a:lnTo>
                  <a:lnTo>
                    <a:pt x="2143261" y="1935087"/>
                  </a:lnTo>
                  <a:lnTo>
                    <a:pt x="2147363" y="1914362"/>
                  </a:lnTo>
                  <a:lnTo>
                    <a:pt x="2147434" y="1914004"/>
                  </a:lnTo>
                  <a:lnTo>
                    <a:pt x="2148815" y="1892884"/>
                  </a:lnTo>
                  <a:lnTo>
                    <a:pt x="2148840" y="1892515"/>
                  </a:lnTo>
                  <a:lnTo>
                    <a:pt x="2148484" y="164515"/>
                  </a:lnTo>
                  <a:lnTo>
                    <a:pt x="2142901" y="121994"/>
                  </a:lnTo>
                  <a:lnTo>
                    <a:pt x="2126526" y="82435"/>
                  </a:lnTo>
                  <a:lnTo>
                    <a:pt x="2100379" y="48148"/>
                  </a:lnTo>
                  <a:lnTo>
                    <a:pt x="2066404" y="21958"/>
                  </a:lnTo>
                  <a:lnTo>
                    <a:pt x="2026527" y="5578"/>
                  </a:lnTo>
                  <a:lnTo>
                    <a:pt x="2005444" y="1405"/>
                  </a:lnTo>
                  <a:lnTo>
                    <a:pt x="1983955" y="0"/>
                  </a:lnTo>
                  <a:close/>
                </a:path>
              </a:pathLst>
            </a:custGeom>
            <a:solidFill>
              <a:srgbClr val="2E6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85224" y="1358531"/>
            <a:ext cx="1131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D3ECE3"/>
                </a:solidFill>
                <a:latin typeface="Aptos Black"/>
                <a:cs typeface="Aptos Black"/>
              </a:rPr>
              <a:t>BASE</a:t>
            </a:r>
            <a:r>
              <a:rPr sz="1200" b="1" spc="235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200" b="1" spc="-10">
                <a:solidFill>
                  <a:srgbClr val="D3ECE3"/>
                </a:solidFill>
                <a:latin typeface="Aptos Black"/>
                <a:cs typeface="Aptos Black"/>
              </a:rPr>
              <a:t>STATION</a:t>
            </a:r>
            <a:endParaRPr sz="1200">
              <a:latin typeface="Aptos Black"/>
              <a:cs typeface="Aptos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095" y="1861464"/>
            <a:ext cx="100139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Navigation</a:t>
            </a:r>
            <a:endParaRPr sz="1400">
              <a:latin typeface="Aptos Black"/>
              <a:cs typeface="Aptos Black"/>
            </a:endParaRPr>
          </a:p>
          <a:p>
            <a:pPr marL="12700">
              <a:lnSpc>
                <a:spcPct val="100000"/>
              </a:lnSpc>
            </a:pP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Nolan</a:t>
            </a:r>
            <a:r>
              <a:rPr sz="1100" i="1" spc="17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-10">
                <a:solidFill>
                  <a:srgbClr val="E5E5E5"/>
                </a:solidFill>
                <a:latin typeface="Arial"/>
                <a:cs typeface="Arial"/>
              </a:rPr>
              <a:t>Brechtel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095" y="2270061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095" y="2646260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095" y="3022460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0259" y="2293454"/>
            <a:ext cx="1709420" cy="11290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20"/>
              </a:spcBef>
            </a:pP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SpeedyBee</a:t>
            </a:r>
            <a:r>
              <a:rPr sz="1150" spc="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90">
                <a:solidFill>
                  <a:srgbClr val="FFFFFF"/>
                </a:solidFill>
                <a:latin typeface="Segoe UI Symbol"/>
                <a:cs typeface="Segoe UI Symbol"/>
              </a:rPr>
              <a:t>F405</a:t>
            </a:r>
            <a:r>
              <a:rPr sz="1150" spc="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Wing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running</a:t>
            </a:r>
            <a:r>
              <a:rPr sz="1150" spc="1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ArduPilot</a:t>
            </a:r>
            <a:r>
              <a:rPr sz="1150" spc="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Rover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u-blox</a:t>
            </a:r>
            <a:r>
              <a:rPr sz="115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M10</a:t>
            </a: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85">
                <a:solidFill>
                  <a:srgbClr val="FFFFFF"/>
                </a:solidFill>
                <a:latin typeface="Segoe UI Symbol"/>
                <a:cs typeface="Segoe UI Symbol"/>
              </a:rPr>
              <a:t>GPS</a:t>
            </a:r>
            <a:r>
              <a:rPr sz="115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50">
                <a:solidFill>
                  <a:srgbClr val="FFFFFF"/>
                </a:solidFill>
                <a:latin typeface="Segoe UI Symbol"/>
                <a:cs typeface="Segoe UI Symbol"/>
              </a:rPr>
              <a:t>+ 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compass</a:t>
            </a:r>
            <a:r>
              <a:rPr sz="115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on</a:t>
            </a:r>
            <a:r>
              <a:rPr sz="1150" spc="2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a</a:t>
            </a:r>
            <a:r>
              <a:rPr sz="1150" spc="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mast 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Geofence,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e-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stop,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bump 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switches,</a:t>
            </a:r>
            <a:r>
              <a:rPr sz="1150" spc="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80">
                <a:solidFill>
                  <a:srgbClr val="FFFFFF"/>
                </a:solidFill>
                <a:latin typeface="Segoe UI Symbol"/>
                <a:cs typeface="Segoe UI Symbol"/>
              </a:rPr>
              <a:t>RC</a:t>
            </a:r>
            <a:r>
              <a:rPr sz="115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10">
                <a:solidFill>
                  <a:srgbClr val="FFFFFF"/>
                </a:solidFill>
                <a:latin typeface="Segoe UI Symbol"/>
                <a:cs typeface="Segoe UI Symbol"/>
              </a:rPr>
              <a:t>override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74720" y="1783079"/>
            <a:ext cx="2148840" cy="2057400"/>
          </a:xfrm>
          <a:custGeom>
            <a:avLst/>
            <a:gdLst/>
            <a:ahLst/>
            <a:cxnLst/>
            <a:rect l="l" t="t" r="r" b="b"/>
            <a:pathLst>
              <a:path w="2148840" h="2057400">
                <a:moveTo>
                  <a:pt x="1983955" y="0"/>
                </a:moveTo>
                <a:lnTo>
                  <a:pt x="164515" y="0"/>
                </a:lnTo>
                <a:lnTo>
                  <a:pt x="143037" y="1405"/>
                </a:lnTo>
                <a:lnTo>
                  <a:pt x="101691" y="12451"/>
                </a:lnTo>
                <a:lnTo>
                  <a:pt x="64375" y="33940"/>
                </a:lnTo>
                <a:lnTo>
                  <a:pt x="33940" y="64231"/>
                </a:lnTo>
                <a:lnTo>
                  <a:pt x="12451" y="101541"/>
                </a:lnTo>
                <a:lnTo>
                  <a:pt x="1405" y="143037"/>
                </a:lnTo>
                <a:lnTo>
                  <a:pt x="0" y="164515"/>
                </a:lnTo>
                <a:lnTo>
                  <a:pt x="0" y="1892884"/>
                </a:lnTo>
                <a:lnTo>
                  <a:pt x="5515" y="1935087"/>
                </a:lnTo>
                <a:lnTo>
                  <a:pt x="12380" y="1955496"/>
                </a:lnTo>
                <a:lnTo>
                  <a:pt x="12451" y="1955708"/>
                </a:lnTo>
                <a:lnTo>
                  <a:pt x="33934" y="1993018"/>
                </a:lnTo>
                <a:lnTo>
                  <a:pt x="64231" y="2023459"/>
                </a:lnTo>
                <a:lnTo>
                  <a:pt x="101541" y="2044948"/>
                </a:lnTo>
                <a:lnTo>
                  <a:pt x="143032" y="2055994"/>
                </a:lnTo>
                <a:lnTo>
                  <a:pt x="164515" y="2057400"/>
                </a:lnTo>
                <a:lnTo>
                  <a:pt x="1984324" y="2057044"/>
                </a:lnTo>
                <a:lnTo>
                  <a:pt x="2026845" y="2051461"/>
                </a:lnTo>
                <a:lnTo>
                  <a:pt x="2066404" y="2035086"/>
                </a:lnTo>
                <a:lnTo>
                  <a:pt x="2100691" y="2008939"/>
                </a:lnTo>
                <a:lnTo>
                  <a:pt x="2126881" y="1974964"/>
                </a:lnTo>
                <a:lnTo>
                  <a:pt x="2136285" y="1955708"/>
                </a:lnTo>
                <a:lnTo>
                  <a:pt x="2136388" y="1955496"/>
                </a:lnTo>
                <a:lnTo>
                  <a:pt x="2143154" y="1935405"/>
                </a:lnTo>
                <a:lnTo>
                  <a:pt x="2143261" y="1935087"/>
                </a:lnTo>
                <a:lnTo>
                  <a:pt x="2147363" y="1914362"/>
                </a:lnTo>
                <a:lnTo>
                  <a:pt x="2147434" y="1914004"/>
                </a:lnTo>
                <a:lnTo>
                  <a:pt x="2148815" y="1892884"/>
                </a:lnTo>
                <a:lnTo>
                  <a:pt x="2148840" y="1892515"/>
                </a:lnTo>
                <a:lnTo>
                  <a:pt x="2148484" y="164515"/>
                </a:lnTo>
                <a:lnTo>
                  <a:pt x="2142901" y="121994"/>
                </a:lnTo>
                <a:lnTo>
                  <a:pt x="2126526" y="82435"/>
                </a:lnTo>
                <a:lnTo>
                  <a:pt x="2100379" y="48148"/>
                </a:lnTo>
                <a:lnTo>
                  <a:pt x="2066404" y="21958"/>
                </a:lnTo>
                <a:lnTo>
                  <a:pt x="2026527" y="5578"/>
                </a:lnTo>
                <a:lnTo>
                  <a:pt x="2005444" y="1405"/>
                </a:lnTo>
                <a:lnTo>
                  <a:pt x="1983955" y="0"/>
                </a:lnTo>
                <a:close/>
              </a:path>
            </a:pathLst>
          </a:custGeom>
          <a:solidFill>
            <a:srgbClr val="6A4E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90175" y="1861464"/>
            <a:ext cx="127381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Data</a:t>
            </a:r>
            <a:r>
              <a:rPr sz="1400" b="1" spc="3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&amp;</a:t>
            </a:r>
            <a:r>
              <a:rPr sz="1400" b="1" spc="3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Control</a:t>
            </a:r>
            <a:endParaRPr sz="1400">
              <a:latin typeface="Aptos Black"/>
              <a:cs typeface="Aptos Black"/>
            </a:endParaRPr>
          </a:p>
          <a:p>
            <a:pPr marL="12700">
              <a:lnSpc>
                <a:spcPct val="100000"/>
              </a:lnSpc>
            </a:pP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Cara</a:t>
            </a:r>
            <a:r>
              <a:rPr sz="1100" i="1" spc="15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-10">
                <a:solidFill>
                  <a:srgbClr val="E5E5E5"/>
                </a:solidFill>
                <a:latin typeface="Arial"/>
                <a:cs typeface="Arial"/>
              </a:rPr>
              <a:t>Belew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90175" y="2270061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90175" y="2646260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90175" y="3022460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36340" y="2293454"/>
            <a:ext cx="1661160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720">
              <a:lnSpc>
                <a:spcPct val="100000"/>
              </a:lnSpc>
              <a:spcBef>
                <a:spcPts val="100"/>
              </a:spcBef>
            </a:pP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Raspberry</a:t>
            </a:r>
            <a:r>
              <a:rPr sz="1150" spc="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Pi</a:t>
            </a:r>
            <a:r>
              <a:rPr sz="1150" spc="4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80">
                <a:solidFill>
                  <a:srgbClr val="FFFFFF"/>
                </a:solidFill>
                <a:latin typeface="Segoe UI Symbol"/>
                <a:cs typeface="Segoe UI Symbol"/>
              </a:rPr>
              <a:t>3</a:t>
            </a:r>
            <a:r>
              <a:rPr sz="1150" spc="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A+</a:t>
            </a:r>
            <a:r>
              <a:rPr sz="1150" spc="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runs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the</a:t>
            </a:r>
            <a:r>
              <a:rPr sz="1150" spc="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10">
                <a:solidFill>
                  <a:srgbClr val="FFFFFF"/>
                </a:solidFill>
                <a:latin typeface="Segoe UI Symbol"/>
                <a:cs typeface="Segoe UI Symbol"/>
              </a:rPr>
              <a:t>mission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4900"/>
              </a:lnSpc>
              <a:spcBef>
                <a:spcPts val="135"/>
              </a:spcBef>
            </a:pP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LoRa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Bonnet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with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35">
                <a:solidFill>
                  <a:srgbClr val="FFFFFF"/>
                </a:solidFill>
                <a:latin typeface="Segoe UI Symbol"/>
                <a:cs typeface="Segoe UI Symbol"/>
              </a:rPr>
              <a:t>OLED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status</a:t>
            </a:r>
            <a:r>
              <a:rPr sz="1150" spc="2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screen</a:t>
            </a:r>
            <a:r>
              <a:rPr sz="1150" spc="5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20">
                <a:solidFill>
                  <a:srgbClr val="FFFFFF"/>
                </a:solidFill>
                <a:latin typeface="Segoe UI Symbol"/>
                <a:cs typeface="Segoe UI Symbol"/>
              </a:rPr>
              <a:t>Heartbeat,</a:t>
            </a:r>
            <a:r>
              <a:rPr sz="1150" spc="2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35">
                <a:solidFill>
                  <a:srgbClr val="FFFFFF"/>
                </a:solidFill>
                <a:latin typeface="Segoe UI Symbol"/>
                <a:cs typeface="Segoe UI Symbol"/>
              </a:rPr>
              <a:t>retries,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return-home</a:t>
            </a:r>
            <a:r>
              <a:rPr sz="1150" spc="3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logic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8284" y="4525555"/>
            <a:ext cx="2149475" cy="1920875"/>
          </a:xfrm>
          <a:custGeom>
            <a:avLst/>
            <a:gdLst/>
            <a:ahLst/>
            <a:cxnLst/>
            <a:rect l="l" t="t" r="r" b="b"/>
            <a:pathLst>
              <a:path w="2149475" h="1920875">
                <a:moveTo>
                  <a:pt x="154076" y="0"/>
                </a:moveTo>
                <a:lnTo>
                  <a:pt x="114204" y="5265"/>
                </a:lnTo>
                <a:lnTo>
                  <a:pt x="77038" y="20523"/>
                </a:lnTo>
                <a:lnTo>
                  <a:pt x="45310" y="45137"/>
                </a:lnTo>
                <a:lnTo>
                  <a:pt x="20878" y="77038"/>
                </a:lnTo>
                <a:lnTo>
                  <a:pt x="5621" y="114031"/>
                </a:lnTo>
                <a:lnTo>
                  <a:pt x="355" y="153720"/>
                </a:lnTo>
                <a:lnTo>
                  <a:pt x="0" y="1766887"/>
                </a:lnTo>
                <a:lnTo>
                  <a:pt x="1333" y="1787023"/>
                </a:lnTo>
                <a:lnTo>
                  <a:pt x="5228" y="1806576"/>
                </a:lnTo>
                <a:lnTo>
                  <a:pt x="5264" y="1806754"/>
                </a:lnTo>
                <a:lnTo>
                  <a:pt x="20510" y="1843925"/>
                </a:lnTo>
                <a:lnTo>
                  <a:pt x="45131" y="1875648"/>
                </a:lnTo>
                <a:lnTo>
                  <a:pt x="77038" y="1900085"/>
                </a:lnTo>
                <a:lnTo>
                  <a:pt x="114026" y="1915342"/>
                </a:lnTo>
                <a:lnTo>
                  <a:pt x="153720" y="1920608"/>
                </a:lnTo>
                <a:lnTo>
                  <a:pt x="1995474" y="1920608"/>
                </a:lnTo>
                <a:lnTo>
                  <a:pt x="2035346" y="1915342"/>
                </a:lnTo>
                <a:lnTo>
                  <a:pt x="2072513" y="1900085"/>
                </a:lnTo>
                <a:lnTo>
                  <a:pt x="2104240" y="1875470"/>
                </a:lnTo>
                <a:lnTo>
                  <a:pt x="2128672" y="1843570"/>
                </a:lnTo>
                <a:lnTo>
                  <a:pt x="2143869" y="1806754"/>
                </a:lnTo>
                <a:lnTo>
                  <a:pt x="2143929" y="1806576"/>
                </a:lnTo>
                <a:lnTo>
                  <a:pt x="2147851" y="1787023"/>
                </a:lnTo>
                <a:lnTo>
                  <a:pt x="2149195" y="1766887"/>
                </a:lnTo>
                <a:lnTo>
                  <a:pt x="2149171" y="153720"/>
                </a:lnTo>
                <a:lnTo>
                  <a:pt x="2143929" y="114215"/>
                </a:lnTo>
                <a:lnTo>
                  <a:pt x="2128672" y="77038"/>
                </a:lnTo>
                <a:lnTo>
                  <a:pt x="2104058" y="45319"/>
                </a:lnTo>
                <a:lnTo>
                  <a:pt x="2072157" y="20878"/>
                </a:lnTo>
                <a:lnTo>
                  <a:pt x="2035163" y="5632"/>
                </a:lnTo>
                <a:lnTo>
                  <a:pt x="1995474" y="368"/>
                </a:lnTo>
                <a:lnTo>
                  <a:pt x="154076" y="0"/>
                </a:lnTo>
                <a:close/>
              </a:path>
            </a:pathLst>
          </a:custGeom>
          <a:solidFill>
            <a:srgbClr val="4B59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4095" y="4605020"/>
            <a:ext cx="13036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Drivetrain</a:t>
            </a:r>
            <a:endParaRPr sz="1400">
              <a:latin typeface="Aptos Black"/>
              <a:cs typeface="Aptos Black"/>
            </a:endParaRPr>
          </a:p>
          <a:p>
            <a:pPr marL="12700">
              <a:lnSpc>
                <a:spcPct val="100000"/>
              </a:lnSpc>
            </a:pP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Rebecca</a:t>
            </a:r>
            <a:r>
              <a:rPr sz="1100" i="1" spc="19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-10">
                <a:solidFill>
                  <a:srgbClr val="E5E5E5"/>
                </a:solidFill>
                <a:latin typeface="Arial"/>
                <a:cs typeface="Arial"/>
              </a:rPr>
              <a:t>Ueltschey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095" y="5013617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4095" y="5389816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4095" y="5766015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0259" y="5037010"/>
            <a:ext cx="1731645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">
              <a:lnSpc>
                <a:spcPct val="100000"/>
              </a:lnSpc>
              <a:spcBef>
                <a:spcPts val="100"/>
              </a:spcBef>
            </a:pPr>
            <a:r>
              <a:rPr sz="1150" spc="10">
                <a:solidFill>
                  <a:srgbClr val="FFFFFF"/>
                </a:solidFill>
                <a:latin typeface="Segoe UI Symbol"/>
                <a:cs typeface="Segoe UI Symbol"/>
              </a:rPr>
              <a:t>4×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12</a:t>
            </a:r>
            <a:r>
              <a:rPr sz="1150" spc="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75">
                <a:solidFill>
                  <a:srgbClr val="FFFFFF"/>
                </a:solidFill>
                <a:latin typeface="Segoe UI Symbol"/>
                <a:cs typeface="Segoe UI Symbol"/>
              </a:rPr>
              <a:t>V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10">
                <a:solidFill>
                  <a:srgbClr val="FFFFFF"/>
                </a:solidFill>
                <a:latin typeface="Segoe UI Symbol"/>
                <a:cs typeface="Segoe UI Symbol"/>
              </a:rPr>
              <a:t>gearmotors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with </a:t>
            </a:r>
            <a:r>
              <a:rPr sz="1150" spc="40">
                <a:solidFill>
                  <a:srgbClr val="FFFFFF"/>
                </a:solidFill>
                <a:latin typeface="Segoe UI Symbol"/>
                <a:cs typeface="Segoe UI Symbol"/>
              </a:rPr>
              <a:t>encoders</a:t>
            </a:r>
            <a:endParaRPr sz="1150">
              <a:latin typeface="Segoe UI Symbol"/>
              <a:cs typeface="Segoe UI Symbol"/>
            </a:endParaRPr>
          </a:p>
          <a:p>
            <a:pPr marL="12700" marR="342265">
              <a:lnSpc>
                <a:spcPct val="100000"/>
              </a:lnSpc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Dual-</a:t>
            </a:r>
            <a:r>
              <a:rPr sz="1150" spc="45">
                <a:solidFill>
                  <a:srgbClr val="FFFFFF"/>
                </a:solidFill>
                <a:latin typeface="Segoe UI Symbol"/>
                <a:cs typeface="Segoe UI Symbol"/>
              </a:rPr>
              <a:t>channel</a:t>
            </a:r>
            <a:r>
              <a:rPr sz="1150" spc="1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motor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driver,</a:t>
            </a:r>
            <a:r>
              <a:rPr sz="1150" spc="2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skid</a:t>
            </a:r>
            <a:r>
              <a:rPr sz="1150" spc="2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steer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sz="1150" spc="75">
                <a:solidFill>
                  <a:srgbClr val="FFFFFF"/>
                </a:solidFill>
                <a:latin typeface="Segoe UI Symbol"/>
                <a:cs typeface="Segoe UI Symbol"/>
              </a:rPr>
              <a:t>5052</a:t>
            </a:r>
            <a:r>
              <a:rPr sz="1150" spc="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lang="en-US" sz="1150">
                <a:solidFill>
                  <a:srgbClr val="FFFFFF"/>
                </a:solidFill>
                <a:latin typeface="Segoe UI Symbol"/>
                <a:cs typeface="Segoe UI Symbol"/>
              </a:rPr>
              <a:t>aluminum</a:t>
            </a:r>
            <a:r>
              <a:rPr sz="1150" spc="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chassis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74364" y="4525555"/>
            <a:ext cx="2149475" cy="1920875"/>
          </a:xfrm>
          <a:custGeom>
            <a:avLst/>
            <a:gdLst/>
            <a:ahLst/>
            <a:cxnLst/>
            <a:rect l="l" t="t" r="r" b="b"/>
            <a:pathLst>
              <a:path w="2149475" h="1920875">
                <a:moveTo>
                  <a:pt x="154076" y="0"/>
                </a:moveTo>
                <a:lnTo>
                  <a:pt x="114204" y="5265"/>
                </a:lnTo>
                <a:lnTo>
                  <a:pt x="77038" y="20523"/>
                </a:lnTo>
                <a:lnTo>
                  <a:pt x="45310" y="45137"/>
                </a:lnTo>
                <a:lnTo>
                  <a:pt x="20878" y="77038"/>
                </a:lnTo>
                <a:lnTo>
                  <a:pt x="5621" y="114031"/>
                </a:lnTo>
                <a:lnTo>
                  <a:pt x="355" y="153720"/>
                </a:lnTo>
                <a:lnTo>
                  <a:pt x="0" y="1766887"/>
                </a:lnTo>
                <a:lnTo>
                  <a:pt x="1333" y="1787023"/>
                </a:lnTo>
                <a:lnTo>
                  <a:pt x="5228" y="1806576"/>
                </a:lnTo>
                <a:lnTo>
                  <a:pt x="5264" y="1806754"/>
                </a:lnTo>
                <a:lnTo>
                  <a:pt x="11589" y="1825510"/>
                </a:lnTo>
                <a:lnTo>
                  <a:pt x="11690" y="1825810"/>
                </a:lnTo>
                <a:lnTo>
                  <a:pt x="20510" y="1843925"/>
                </a:lnTo>
                <a:lnTo>
                  <a:pt x="45131" y="1875648"/>
                </a:lnTo>
                <a:lnTo>
                  <a:pt x="77038" y="1900085"/>
                </a:lnTo>
                <a:lnTo>
                  <a:pt x="114026" y="1915342"/>
                </a:lnTo>
                <a:lnTo>
                  <a:pt x="153720" y="1920608"/>
                </a:lnTo>
                <a:lnTo>
                  <a:pt x="1995474" y="1920608"/>
                </a:lnTo>
                <a:lnTo>
                  <a:pt x="2035346" y="1915342"/>
                </a:lnTo>
                <a:lnTo>
                  <a:pt x="2072513" y="1900085"/>
                </a:lnTo>
                <a:lnTo>
                  <a:pt x="2104240" y="1875470"/>
                </a:lnTo>
                <a:lnTo>
                  <a:pt x="2128672" y="1843570"/>
                </a:lnTo>
                <a:lnTo>
                  <a:pt x="2143869" y="1806754"/>
                </a:lnTo>
                <a:lnTo>
                  <a:pt x="2149195" y="1766887"/>
                </a:lnTo>
                <a:lnTo>
                  <a:pt x="2149171" y="153720"/>
                </a:lnTo>
                <a:lnTo>
                  <a:pt x="2143929" y="114215"/>
                </a:lnTo>
                <a:lnTo>
                  <a:pt x="2128672" y="77038"/>
                </a:lnTo>
                <a:lnTo>
                  <a:pt x="2104058" y="45319"/>
                </a:lnTo>
                <a:lnTo>
                  <a:pt x="2072157" y="20878"/>
                </a:lnTo>
                <a:lnTo>
                  <a:pt x="2035163" y="5632"/>
                </a:lnTo>
                <a:lnTo>
                  <a:pt x="1995474" y="368"/>
                </a:lnTo>
                <a:lnTo>
                  <a:pt x="154076" y="0"/>
                </a:lnTo>
                <a:close/>
              </a:path>
            </a:pathLst>
          </a:custGeom>
          <a:solidFill>
            <a:srgbClr val="8E4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590175" y="4605020"/>
            <a:ext cx="113284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Soil</a:t>
            </a:r>
            <a:r>
              <a:rPr sz="1400" b="1" spc="-3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Testing</a:t>
            </a:r>
            <a:endParaRPr sz="1400">
              <a:latin typeface="Aptos Black"/>
              <a:cs typeface="Aptos Black"/>
            </a:endParaRPr>
          </a:p>
          <a:p>
            <a:pPr marL="12700">
              <a:lnSpc>
                <a:spcPct val="100000"/>
              </a:lnSpc>
            </a:pPr>
            <a:r>
              <a:rPr sz="1100" i="1" spc="50">
                <a:solidFill>
                  <a:srgbClr val="E5E5E5"/>
                </a:solidFill>
                <a:latin typeface="Arial"/>
                <a:cs typeface="Arial"/>
              </a:rPr>
              <a:t>Zachary</a:t>
            </a:r>
            <a:r>
              <a:rPr sz="1100" i="1" spc="2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40">
                <a:solidFill>
                  <a:srgbClr val="E5E5E5"/>
                </a:solidFill>
                <a:latin typeface="Arial"/>
                <a:cs typeface="Arial"/>
              </a:rPr>
              <a:t>Morrow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90175" y="5014709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90175" y="5375783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90175" y="5736869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36340" y="5037023"/>
            <a:ext cx="1761489" cy="91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10">
              <a:lnSpc>
                <a:spcPct val="1000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L16</a:t>
            </a:r>
            <a:r>
              <a:rPr sz="1100" spc="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linear</a:t>
            </a:r>
            <a:r>
              <a:rPr sz="1100" spc="9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actuator,</a:t>
            </a:r>
            <a:r>
              <a:rPr sz="1100" spc="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95">
                <a:solidFill>
                  <a:srgbClr val="FFFFFF"/>
                </a:solidFill>
                <a:latin typeface="Segoe UI Symbol"/>
                <a:cs typeface="Segoe UI Symbol"/>
              </a:rPr>
              <a:t>200</a:t>
            </a:r>
            <a:r>
              <a:rPr sz="1100" spc="1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25">
                <a:solidFill>
                  <a:srgbClr val="FFFFFF"/>
                </a:solidFill>
                <a:latin typeface="Segoe UI Symbol"/>
                <a:cs typeface="Segoe UI Symbol"/>
              </a:rPr>
              <a:t>N,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position</a:t>
            </a:r>
            <a:r>
              <a:rPr sz="1100" spc="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40">
                <a:solidFill>
                  <a:srgbClr val="FFFFFF"/>
                </a:solidFill>
                <a:latin typeface="Segoe UI Symbol"/>
                <a:cs typeface="Segoe UI Symbol"/>
              </a:rPr>
              <a:t>feedback</a:t>
            </a:r>
            <a:endParaRPr sz="1100">
              <a:latin typeface="Segoe UI Symbol"/>
              <a:cs typeface="Segoe UI Symbol"/>
            </a:endParaRPr>
          </a:p>
          <a:p>
            <a:pPr marL="12700" marR="346075">
              <a:lnSpc>
                <a:spcPct val="100000"/>
              </a:lnSpc>
              <a:spcBef>
                <a:spcPts val="200"/>
              </a:spcBef>
            </a:pPr>
            <a:r>
              <a:rPr sz="1100" spc="85">
                <a:solidFill>
                  <a:srgbClr val="FFFFFF"/>
                </a:solidFill>
                <a:latin typeface="Segoe UI Symbol"/>
                <a:cs typeface="Segoe UI Symbol"/>
              </a:rPr>
              <a:t>4-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in-</a:t>
            </a:r>
            <a:r>
              <a:rPr sz="1100" spc="-150">
                <a:solidFill>
                  <a:srgbClr val="FFFFFF"/>
                </a:solidFill>
                <a:latin typeface="Segoe UI Symbol"/>
                <a:cs typeface="Segoe UI Symbol"/>
              </a:rPr>
              <a:t>1</a:t>
            </a:r>
            <a:r>
              <a:rPr sz="1100" spc="14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probe:</a:t>
            </a:r>
            <a:r>
              <a:rPr sz="1100" spc="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pH,</a:t>
            </a:r>
            <a:r>
              <a:rPr sz="1100" spc="1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70">
                <a:solidFill>
                  <a:srgbClr val="FFFFFF"/>
                </a:solidFill>
                <a:latin typeface="Segoe UI Symbol"/>
                <a:cs typeface="Segoe UI Symbol"/>
              </a:rPr>
              <a:t>EC,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temp,</a:t>
            </a:r>
            <a:r>
              <a:rPr sz="1100" spc="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moisture</a:t>
            </a:r>
            <a:endParaRPr sz="11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Actuator</a:t>
            </a:r>
            <a:r>
              <a:rPr sz="1100" spc="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stall</a:t>
            </a:r>
            <a:r>
              <a:rPr sz="1100" spc="1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=</a:t>
            </a:r>
            <a:r>
              <a:rPr sz="1100" spc="1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rock</a:t>
            </a:r>
            <a:r>
              <a:rPr sz="1100" spc="1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strike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400444" y="4525555"/>
            <a:ext cx="2149475" cy="1920875"/>
          </a:xfrm>
          <a:custGeom>
            <a:avLst/>
            <a:gdLst/>
            <a:ahLst/>
            <a:cxnLst/>
            <a:rect l="l" t="t" r="r" b="b"/>
            <a:pathLst>
              <a:path w="2149475" h="1920875">
                <a:moveTo>
                  <a:pt x="154076" y="0"/>
                </a:moveTo>
                <a:lnTo>
                  <a:pt x="114204" y="5265"/>
                </a:lnTo>
                <a:lnTo>
                  <a:pt x="77038" y="20523"/>
                </a:lnTo>
                <a:lnTo>
                  <a:pt x="45310" y="45137"/>
                </a:lnTo>
                <a:lnTo>
                  <a:pt x="20878" y="77038"/>
                </a:lnTo>
                <a:lnTo>
                  <a:pt x="5621" y="114031"/>
                </a:lnTo>
                <a:lnTo>
                  <a:pt x="355" y="153720"/>
                </a:lnTo>
                <a:lnTo>
                  <a:pt x="0" y="1766887"/>
                </a:lnTo>
                <a:lnTo>
                  <a:pt x="1333" y="1787023"/>
                </a:lnTo>
                <a:lnTo>
                  <a:pt x="5228" y="1806576"/>
                </a:lnTo>
                <a:lnTo>
                  <a:pt x="5264" y="1806754"/>
                </a:lnTo>
                <a:lnTo>
                  <a:pt x="11589" y="1825510"/>
                </a:lnTo>
                <a:lnTo>
                  <a:pt x="11690" y="1825810"/>
                </a:lnTo>
                <a:lnTo>
                  <a:pt x="20510" y="1843925"/>
                </a:lnTo>
                <a:lnTo>
                  <a:pt x="45131" y="1875648"/>
                </a:lnTo>
                <a:lnTo>
                  <a:pt x="77038" y="1900085"/>
                </a:lnTo>
                <a:lnTo>
                  <a:pt x="114026" y="1915342"/>
                </a:lnTo>
                <a:lnTo>
                  <a:pt x="153720" y="1920608"/>
                </a:lnTo>
                <a:lnTo>
                  <a:pt x="1995474" y="1920608"/>
                </a:lnTo>
                <a:lnTo>
                  <a:pt x="2035346" y="1915342"/>
                </a:lnTo>
                <a:lnTo>
                  <a:pt x="2072513" y="1900085"/>
                </a:lnTo>
                <a:lnTo>
                  <a:pt x="2104240" y="1875470"/>
                </a:lnTo>
                <a:lnTo>
                  <a:pt x="2128672" y="1843570"/>
                </a:lnTo>
                <a:lnTo>
                  <a:pt x="2143869" y="1806754"/>
                </a:lnTo>
                <a:lnTo>
                  <a:pt x="2143929" y="1806576"/>
                </a:lnTo>
                <a:lnTo>
                  <a:pt x="2147851" y="1787023"/>
                </a:lnTo>
                <a:lnTo>
                  <a:pt x="2149195" y="1766887"/>
                </a:lnTo>
                <a:lnTo>
                  <a:pt x="2149171" y="153720"/>
                </a:lnTo>
                <a:lnTo>
                  <a:pt x="2143929" y="114215"/>
                </a:lnTo>
                <a:lnTo>
                  <a:pt x="2128672" y="77038"/>
                </a:lnTo>
                <a:lnTo>
                  <a:pt x="2104058" y="45319"/>
                </a:lnTo>
                <a:lnTo>
                  <a:pt x="2072157" y="20878"/>
                </a:lnTo>
                <a:lnTo>
                  <a:pt x="2035163" y="5632"/>
                </a:lnTo>
                <a:lnTo>
                  <a:pt x="1995474" y="368"/>
                </a:lnTo>
                <a:lnTo>
                  <a:pt x="154076" y="0"/>
                </a:lnTo>
                <a:close/>
              </a:path>
            </a:pathLst>
          </a:custGeom>
          <a:solidFill>
            <a:srgbClr val="A66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16255" y="4605020"/>
            <a:ext cx="1673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Power</a:t>
            </a:r>
            <a:r>
              <a:rPr sz="1400" b="1" spc="6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&amp;</a:t>
            </a:r>
            <a:r>
              <a:rPr sz="1400" b="1" spc="8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Charging</a:t>
            </a:r>
            <a:endParaRPr sz="14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</a:pP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George</a:t>
            </a:r>
            <a:r>
              <a:rPr sz="1100" i="1" spc="10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Utz</a:t>
            </a:r>
            <a:r>
              <a:rPr sz="1100" i="1" spc="11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·</a:t>
            </a:r>
            <a:r>
              <a:rPr sz="1100" i="1" spc="9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feeds</a:t>
            </a:r>
            <a:r>
              <a:rPr sz="1100" i="1" spc="10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-20">
                <a:solidFill>
                  <a:srgbClr val="E5E5E5"/>
                </a:solidFill>
                <a:latin typeface="Arial"/>
                <a:cs typeface="Arial"/>
              </a:rPr>
              <a:t>every </a:t>
            </a:r>
            <a:r>
              <a:rPr sz="1100" i="1" spc="-10">
                <a:solidFill>
                  <a:srgbClr val="E5E5E5"/>
                </a:solidFill>
                <a:latin typeface="Arial"/>
                <a:cs typeface="Arial"/>
              </a:rPr>
              <a:t>subsystem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16255" y="5182463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16255" y="5543550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16255" y="5904623"/>
            <a:ext cx="7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62419" y="5204790"/>
            <a:ext cx="1708785" cy="10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90">
                <a:solidFill>
                  <a:srgbClr val="FFFFFF"/>
                </a:solidFill>
                <a:latin typeface="Segoe UI Symbol"/>
                <a:cs typeface="Segoe UI Symbol"/>
              </a:rPr>
              <a:t>30</a:t>
            </a:r>
            <a:r>
              <a:rPr sz="1100" spc="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50">
                <a:solidFill>
                  <a:srgbClr val="FFFFFF"/>
                </a:solidFill>
                <a:latin typeface="Segoe UI Symbol"/>
                <a:cs typeface="Segoe UI Symbol"/>
              </a:rPr>
              <a:t>W</a:t>
            </a:r>
            <a:r>
              <a:rPr sz="1100" spc="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solar</a:t>
            </a:r>
            <a:r>
              <a:rPr sz="1100" spc="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panel</a:t>
            </a:r>
            <a:r>
              <a:rPr sz="1100" spc="7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95">
                <a:solidFill>
                  <a:srgbClr val="FFFFFF"/>
                </a:solidFill>
                <a:latin typeface="Segoe UI Symbol"/>
                <a:cs typeface="Segoe UI Symbol"/>
              </a:rPr>
              <a:t>→</a:t>
            </a:r>
            <a:r>
              <a:rPr sz="1100" spc="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25">
                <a:solidFill>
                  <a:srgbClr val="FFFFFF"/>
                </a:solidFill>
                <a:latin typeface="Segoe UI Symbol"/>
                <a:cs typeface="Segoe UI Symbol"/>
              </a:rPr>
              <a:t>PWM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charge</a:t>
            </a:r>
            <a:r>
              <a:rPr sz="1100" spc="26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controller</a:t>
            </a:r>
            <a:endParaRPr sz="1100">
              <a:latin typeface="Segoe UI Symbol"/>
              <a:cs typeface="Segoe UI Symbol"/>
            </a:endParaRPr>
          </a:p>
          <a:p>
            <a:pPr marL="12700" marR="146685">
              <a:lnSpc>
                <a:spcPct val="100000"/>
              </a:lnSpc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12.8</a:t>
            </a:r>
            <a:r>
              <a:rPr sz="1100" spc="3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65">
                <a:solidFill>
                  <a:srgbClr val="FFFFFF"/>
                </a:solidFill>
                <a:latin typeface="Segoe UI Symbol"/>
                <a:cs typeface="Segoe UI Symbol"/>
              </a:rPr>
              <a:t>V</a:t>
            </a:r>
            <a:r>
              <a:rPr sz="1100" spc="4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60">
                <a:solidFill>
                  <a:srgbClr val="FFFFFF"/>
                </a:solidFill>
                <a:latin typeface="Segoe UI Symbol"/>
                <a:cs typeface="Segoe UI Symbol"/>
              </a:rPr>
              <a:t>LiFePO4</a:t>
            </a:r>
            <a:r>
              <a:rPr sz="1100" spc="4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battery, </a:t>
            </a:r>
            <a:r>
              <a:rPr sz="1100" spc="50">
                <a:solidFill>
                  <a:srgbClr val="FFFFFF"/>
                </a:solidFill>
                <a:latin typeface="Segoe UI Symbol"/>
                <a:cs typeface="Segoe UI Symbol"/>
              </a:rPr>
              <a:t>fused</a:t>
            </a:r>
            <a:r>
              <a:rPr sz="1100" spc="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40">
                <a:solidFill>
                  <a:srgbClr val="FFFFFF"/>
                </a:solidFill>
                <a:latin typeface="Segoe UI Symbol"/>
                <a:cs typeface="Segoe UI Symbol"/>
              </a:rPr>
              <a:t>branches</a:t>
            </a:r>
            <a:endParaRPr sz="1100">
              <a:latin typeface="Segoe UI Symbol"/>
              <a:cs typeface="Segoe UI Symbol"/>
            </a:endParaRPr>
          </a:p>
          <a:p>
            <a:pPr marL="12700" marR="300355">
              <a:lnSpc>
                <a:spcPct val="100000"/>
              </a:lnSpc>
              <a:spcBef>
                <a:spcPts val="204"/>
              </a:spcBef>
            </a:pP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12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65">
                <a:solidFill>
                  <a:srgbClr val="FFFFFF"/>
                </a:solidFill>
                <a:latin typeface="Segoe UI Symbol"/>
                <a:cs typeface="Segoe UI Symbol"/>
              </a:rPr>
              <a:t>V</a:t>
            </a:r>
            <a:r>
              <a:rPr sz="1100" spc="-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95">
                <a:solidFill>
                  <a:srgbClr val="FFFFFF"/>
                </a:solidFill>
                <a:latin typeface="Segoe UI Symbol"/>
                <a:cs typeface="Segoe UI Symbol"/>
              </a:rPr>
              <a:t>→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75">
                <a:solidFill>
                  <a:srgbClr val="FFFFFF"/>
                </a:solidFill>
                <a:latin typeface="Segoe UI Symbol"/>
                <a:cs typeface="Segoe UI Symbol"/>
              </a:rPr>
              <a:t>5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65">
                <a:solidFill>
                  <a:srgbClr val="FFFFFF"/>
                </a:solidFill>
                <a:latin typeface="Segoe UI Symbol"/>
                <a:cs typeface="Segoe UI Symbol"/>
              </a:rPr>
              <a:t>V</a:t>
            </a:r>
            <a:r>
              <a:rPr sz="1100" spc="-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10">
                <a:solidFill>
                  <a:srgbClr val="FFFFFF"/>
                </a:solidFill>
                <a:latin typeface="Segoe UI Symbol"/>
                <a:cs typeface="Segoe UI Symbol"/>
              </a:rPr>
              <a:t>regulator;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plug-in</a:t>
            </a:r>
            <a:r>
              <a:rPr sz="1100" spc="2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>
                <a:solidFill>
                  <a:srgbClr val="FFFFFF"/>
                </a:solidFill>
                <a:latin typeface="Segoe UI Symbol"/>
                <a:cs typeface="Segoe UI Symbol"/>
              </a:rPr>
              <a:t>charge</a:t>
            </a:r>
            <a:r>
              <a:rPr sz="1100" spc="20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spc="-20">
                <a:solidFill>
                  <a:srgbClr val="FFFFFF"/>
                </a:solidFill>
                <a:latin typeface="Segoe UI Symbol"/>
                <a:cs typeface="Segoe UI Symbol"/>
              </a:rPr>
              <a:t>port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097556" y="1782356"/>
            <a:ext cx="2560955" cy="4664075"/>
          </a:xfrm>
          <a:custGeom>
            <a:avLst/>
            <a:gdLst/>
            <a:ahLst/>
            <a:cxnLst/>
            <a:rect l="l" t="t" r="r" b="b"/>
            <a:pathLst>
              <a:path w="2560954" h="4664075">
                <a:moveTo>
                  <a:pt x="205206" y="0"/>
                </a:moveTo>
                <a:lnTo>
                  <a:pt x="152147" y="6931"/>
                </a:lnTo>
                <a:lnTo>
                  <a:pt x="102603" y="27368"/>
                </a:lnTo>
                <a:lnTo>
                  <a:pt x="60301" y="59990"/>
                </a:lnTo>
                <a:lnTo>
                  <a:pt x="27724" y="102603"/>
                </a:lnTo>
                <a:lnTo>
                  <a:pt x="7297" y="151834"/>
                </a:lnTo>
                <a:lnTo>
                  <a:pt x="368" y="204838"/>
                </a:lnTo>
                <a:lnTo>
                  <a:pt x="0" y="4458970"/>
                </a:lnTo>
                <a:lnTo>
                  <a:pt x="1743" y="4485779"/>
                </a:lnTo>
                <a:lnTo>
                  <a:pt x="6931" y="4512017"/>
                </a:lnTo>
                <a:lnTo>
                  <a:pt x="15444" y="4537229"/>
                </a:lnTo>
                <a:lnTo>
                  <a:pt x="15494" y="4537379"/>
                </a:lnTo>
                <a:lnTo>
                  <a:pt x="42210" y="4583642"/>
                </a:lnTo>
                <a:lnTo>
                  <a:pt x="80166" y="4621502"/>
                </a:lnTo>
                <a:lnTo>
                  <a:pt x="126578" y="4648313"/>
                </a:lnTo>
                <a:lnTo>
                  <a:pt x="178034" y="4662064"/>
                </a:lnTo>
                <a:lnTo>
                  <a:pt x="204838" y="4663808"/>
                </a:lnTo>
                <a:lnTo>
                  <a:pt x="2355850" y="4663808"/>
                </a:lnTo>
                <a:lnTo>
                  <a:pt x="2408897" y="4656877"/>
                </a:lnTo>
                <a:lnTo>
                  <a:pt x="2458440" y="4636439"/>
                </a:lnTo>
                <a:lnTo>
                  <a:pt x="2500692" y="4603862"/>
                </a:lnTo>
                <a:lnTo>
                  <a:pt x="2533319" y="4561205"/>
                </a:lnTo>
                <a:lnTo>
                  <a:pt x="2545119" y="4537379"/>
                </a:lnTo>
                <a:lnTo>
                  <a:pt x="2545193" y="4537229"/>
                </a:lnTo>
                <a:lnTo>
                  <a:pt x="2553742" y="4512017"/>
                </a:lnTo>
                <a:lnTo>
                  <a:pt x="2558943" y="4485779"/>
                </a:lnTo>
                <a:lnTo>
                  <a:pt x="2560688" y="4458970"/>
                </a:lnTo>
                <a:lnTo>
                  <a:pt x="2560664" y="204838"/>
                </a:lnTo>
                <a:lnTo>
                  <a:pt x="2553757" y="152147"/>
                </a:lnTo>
                <a:lnTo>
                  <a:pt x="2533319" y="102603"/>
                </a:lnTo>
                <a:lnTo>
                  <a:pt x="2500698" y="60301"/>
                </a:lnTo>
                <a:lnTo>
                  <a:pt x="2458085" y="27724"/>
                </a:lnTo>
                <a:lnTo>
                  <a:pt x="2408853" y="7297"/>
                </a:lnTo>
                <a:lnTo>
                  <a:pt x="2355850" y="368"/>
                </a:lnTo>
                <a:lnTo>
                  <a:pt x="205206" y="0"/>
                </a:lnTo>
                <a:close/>
              </a:path>
            </a:pathLst>
          </a:custGeom>
          <a:solidFill>
            <a:srgbClr val="6A4E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1585074" y="1828444"/>
            <a:ext cx="7513320" cy="3696335"/>
            <a:chOff x="1585074" y="1828444"/>
            <a:chExt cx="7513320" cy="3696335"/>
          </a:xfrm>
        </p:grpSpPr>
        <p:sp>
          <p:nvSpPr>
            <p:cNvPr id="47" name="object 47"/>
            <p:cNvSpPr/>
            <p:nvPr/>
          </p:nvSpPr>
          <p:spPr>
            <a:xfrm>
              <a:off x="2768041" y="2788919"/>
              <a:ext cx="636270" cy="0"/>
            </a:xfrm>
            <a:custGeom>
              <a:avLst/>
              <a:gdLst/>
              <a:ahLst/>
              <a:cxnLst/>
              <a:rect l="l" t="t" r="r" b="b"/>
              <a:pathLst>
                <a:path w="636270">
                  <a:moveTo>
                    <a:pt x="0" y="0"/>
                  </a:moveTo>
                  <a:lnTo>
                    <a:pt x="636117" y="0"/>
                  </a:lnTo>
                </a:path>
              </a:pathLst>
            </a:custGeom>
            <a:ln w="223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697480" y="2751124"/>
              <a:ext cx="777240" cy="76200"/>
            </a:xfrm>
            <a:custGeom>
              <a:avLst/>
              <a:gdLst/>
              <a:ahLst/>
              <a:cxnLst/>
              <a:rect l="l" t="t" r="r" b="b"/>
              <a:pathLst>
                <a:path w="777239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  <a:path w="777239" h="76200">
                  <a:moveTo>
                    <a:pt x="777240" y="37795"/>
                  </a:moveTo>
                  <a:lnTo>
                    <a:pt x="701636" y="0"/>
                  </a:lnTo>
                  <a:lnTo>
                    <a:pt x="701636" y="75590"/>
                  </a:lnTo>
                  <a:lnTo>
                    <a:pt x="777240" y="37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22882" y="3840479"/>
              <a:ext cx="0" cy="615315"/>
            </a:xfrm>
            <a:custGeom>
              <a:avLst/>
              <a:gdLst/>
              <a:ahLst/>
              <a:cxnLst/>
              <a:rect l="l" t="t" r="r" b="b"/>
              <a:pathLst>
                <a:path h="615314">
                  <a:moveTo>
                    <a:pt x="0" y="0"/>
                  </a:moveTo>
                  <a:lnTo>
                    <a:pt x="0" y="615238"/>
                  </a:lnTo>
                </a:path>
              </a:pathLst>
            </a:custGeom>
            <a:ln w="223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85074" y="44506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48962" y="3911041"/>
              <a:ext cx="0" cy="544830"/>
            </a:xfrm>
            <a:custGeom>
              <a:avLst/>
              <a:gdLst/>
              <a:ahLst/>
              <a:cxnLst/>
              <a:rect l="l" t="t" r="r" b="b"/>
              <a:pathLst>
                <a:path h="544829">
                  <a:moveTo>
                    <a:pt x="0" y="0"/>
                  </a:moveTo>
                  <a:lnTo>
                    <a:pt x="0" y="544677"/>
                  </a:lnTo>
                </a:path>
              </a:pathLst>
            </a:custGeom>
            <a:ln w="223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511154" y="3840479"/>
              <a:ext cx="76200" cy="685800"/>
            </a:xfrm>
            <a:custGeom>
              <a:avLst/>
              <a:gdLst/>
              <a:ahLst/>
              <a:cxnLst/>
              <a:rect l="l" t="t" r="r" b="b"/>
              <a:pathLst>
                <a:path w="76200" h="685800">
                  <a:moveTo>
                    <a:pt x="75603" y="610196"/>
                  </a:moveTo>
                  <a:lnTo>
                    <a:pt x="0" y="610196"/>
                  </a:lnTo>
                  <a:lnTo>
                    <a:pt x="37807" y="685800"/>
                  </a:lnTo>
                  <a:lnTo>
                    <a:pt x="75603" y="610196"/>
                  </a:lnTo>
                  <a:close/>
                </a:path>
                <a:path w="76200" h="685800">
                  <a:moveTo>
                    <a:pt x="75603" y="75603"/>
                  </a:moveTo>
                  <a:lnTo>
                    <a:pt x="37807" y="0"/>
                  </a:lnTo>
                  <a:lnTo>
                    <a:pt x="0" y="75603"/>
                  </a:lnTo>
                  <a:lnTo>
                    <a:pt x="75603" y="75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94121" y="5486400"/>
              <a:ext cx="706755" cy="0"/>
            </a:xfrm>
            <a:custGeom>
              <a:avLst/>
              <a:gdLst/>
              <a:ahLst/>
              <a:cxnLst/>
              <a:rect l="l" t="t" r="r" b="b"/>
              <a:pathLst>
                <a:path w="706754">
                  <a:moveTo>
                    <a:pt x="706678" y="0"/>
                  </a:moveTo>
                  <a:lnTo>
                    <a:pt x="0" y="0"/>
                  </a:lnTo>
                </a:path>
              </a:pathLst>
            </a:custGeom>
            <a:ln w="22319">
              <a:solidFill>
                <a:srgbClr val="F5CF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23559" y="544860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F5CF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95200" y="2788919"/>
              <a:ext cx="3331845" cy="0"/>
            </a:xfrm>
            <a:custGeom>
              <a:avLst/>
              <a:gdLst/>
              <a:ahLst/>
              <a:cxnLst/>
              <a:rect l="l" t="t" r="r" b="b"/>
              <a:pathLst>
                <a:path w="3331845">
                  <a:moveTo>
                    <a:pt x="0" y="0"/>
                  </a:moveTo>
                  <a:lnTo>
                    <a:pt x="3331438" y="0"/>
                  </a:lnTo>
                </a:path>
              </a:pathLst>
            </a:custGeom>
            <a:ln w="25559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23560" y="2750756"/>
              <a:ext cx="3474720" cy="76835"/>
            </a:xfrm>
            <a:custGeom>
              <a:avLst/>
              <a:gdLst/>
              <a:ahLst/>
              <a:cxnLst/>
              <a:rect l="l" t="t" r="r" b="b"/>
              <a:pathLst>
                <a:path w="3474720" h="76835">
                  <a:moveTo>
                    <a:pt x="76682" y="0"/>
                  </a:moveTo>
                  <a:lnTo>
                    <a:pt x="0" y="38163"/>
                  </a:lnTo>
                  <a:lnTo>
                    <a:pt x="76682" y="76682"/>
                  </a:lnTo>
                  <a:lnTo>
                    <a:pt x="76682" y="0"/>
                  </a:lnTo>
                  <a:close/>
                </a:path>
                <a:path w="3474720" h="76835">
                  <a:moveTo>
                    <a:pt x="3474720" y="38163"/>
                  </a:moveTo>
                  <a:lnTo>
                    <a:pt x="3398037" y="0"/>
                  </a:lnTo>
                  <a:lnTo>
                    <a:pt x="3398037" y="76682"/>
                  </a:lnTo>
                  <a:lnTo>
                    <a:pt x="3474720" y="38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72997" y="1828444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675" y="0"/>
                  </a:moveTo>
                  <a:lnTo>
                    <a:pt x="262216" y="2603"/>
                  </a:lnTo>
                  <a:lnTo>
                    <a:pt x="223561" y="10301"/>
                  </a:lnTo>
                  <a:lnTo>
                    <a:pt x="186254" y="22926"/>
                  </a:lnTo>
                  <a:lnTo>
                    <a:pt x="150837" y="40309"/>
                  </a:lnTo>
                  <a:lnTo>
                    <a:pt x="118028" y="62391"/>
                  </a:lnTo>
                  <a:lnTo>
                    <a:pt x="88426" y="88420"/>
                  </a:lnTo>
                  <a:lnTo>
                    <a:pt x="62401" y="118026"/>
                  </a:lnTo>
                  <a:lnTo>
                    <a:pt x="40322" y="150837"/>
                  </a:lnTo>
                  <a:lnTo>
                    <a:pt x="22936" y="186252"/>
                  </a:lnTo>
                  <a:lnTo>
                    <a:pt x="10307" y="223556"/>
                  </a:lnTo>
                  <a:lnTo>
                    <a:pt x="2605" y="262210"/>
                  </a:lnTo>
                  <a:lnTo>
                    <a:pt x="0" y="301675"/>
                  </a:lnTo>
                  <a:lnTo>
                    <a:pt x="2605" y="341140"/>
                  </a:lnTo>
                  <a:lnTo>
                    <a:pt x="10307" y="379795"/>
                  </a:lnTo>
                  <a:lnTo>
                    <a:pt x="22936" y="417099"/>
                  </a:lnTo>
                  <a:lnTo>
                    <a:pt x="40322" y="452513"/>
                  </a:lnTo>
                  <a:lnTo>
                    <a:pt x="62401" y="485324"/>
                  </a:lnTo>
                  <a:lnTo>
                    <a:pt x="88426" y="514931"/>
                  </a:lnTo>
                  <a:lnTo>
                    <a:pt x="118028" y="540960"/>
                  </a:lnTo>
                  <a:lnTo>
                    <a:pt x="150837" y="563041"/>
                  </a:lnTo>
                  <a:lnTo>
                    <a:pt x="186254" y="580425"/>
                  </a:lnTo>
                  <a:lnTo>
                    <a:pt x="223561" y="593050"/>
                  </a:lnTo>
                  <a:lnTo>
                    <a:pt x="262216" y="600748"/>
                  </a:lnTo>
                  <a:lnTo>
                    <a:pt x="301675" y="603351"/>
                  </a:lnTo>
                  <a:lnTo>
                    <a:pt x="341142" y="600748"/>
                  </a:lnTo>
                  <a:lnTo>
                    <a:pt x="379801" y="593050"/>
                  </a:lnTo>
                  <a:lnTo>
                    <a:pt x="417109" y="580425"/>
                  </a:lnTo>
                  <a:lnTo>
                    <a:pt x="452526" y="563041"/>
                  </a:lnTo>
                  <a:lnTo>
                    <a:pt x="485335" y="540960"/>
                  </a:lnTo>
                  <a:lnTo>
                    <a:pt x="514937" y="514931"/>
                  </a:lnTo>
                  <a:lnTo>
                    <a:pt x="540962" y="485324"/>
                  </a:lnTo>
                  <a:lnTo>
                    <a:pt x="563041" y="452513"/>
                  </a:lnTo>
                  <a:lnTo>
                    <a:pt x="580427" y="417099"/>
                  </a:lnTo>
                  <a:lnTo>
                    <a:pt x="593056" y="379795"/>
                  </a:lnTo>
                  <a:lnTo>
                    <a:pt x="600759" y="341140"/>
                  </a:lnTo>
                  <a:lnTo>
                    <a:pt x="603364" y="301675"/>
                  </a:lnTo>
                  <a:lnTo>
                    <a:pt x="600759" y="262210"/>
                  </a:lnTo>
                  <a:lnTo>
                    <a:pt x="593056" y="223556"/>
                  </a:lnTo>
                  <a:lnTo>
                    <a:pt x="580427" y="186252"/>
                  </a:lnTo>
                  <a:lnTo>
                    <a:pt x="563041" y="150837"/>
                  </a:lnTo>
                  <a:lnTo>
                    <a:pt x="540962" y="118026"/>
                  </a:lnTo>
                  <a:lnTo>
                    <a:pt x="514937" y="88420"/>
                  </a:lnTo>
                  <a:lnTo>
                    <a:pt x="485335" y="62391"/>
                  </a:lnTo>
                  <a:lnTo>
                    <a:pt x="452526" y="40309"/>
                  </a:lnTo>
                  <a:lnTo>
                    <a:pt x="417109" y="22926"/>
                  </a:lnTo>
                  <a:lnTo>
                    <a:pt x="379801" y="10301"/>
                  </a:lnTo>
                  <a:lnTo>
                    <a:pt x="341142" y="2603"/>
                  </a:lnTo>
                  <a:lnTo>
                    <a:pt x="301675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 descr="tower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8438" y="1973160"/>
              <a:ext cx="313563" cy="31356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213380" y="1861819"/>
            <a:ext cx="188277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rgbClr val="FFFFFF"/>
                </a:solidFill>
                <a:latin typeface="Aptos Black"/>
                <a:cs typeface="Aptos Black"/>
              </a:rPr>
              <a:t>Base</a:t>
            </a:r>
            <a:r>
              <a:rPr sz="1400" b="1" spc="16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400" b="1" spc="-10">
                <a:solidFill>
                  <a:srgbClr val="FFFFFF"/>
                </a:solidFill>
                <a:latin typeface="Aptos Black"/>
                <a:cs typeface="Aptos Black"/>
              </a:rPr>
              <a:t>Station</a:t>
            </a:r>
            <a:endParaRPr sz="1400">
              <a:latin typeface="Aptos Black"/>
              <a:cs typeface="Aptos Black"/>
            </a:endParaRPr>
          </a:p>
          <a:p>
            <a:pPr marL="12700">
              <a:lnSpc>
                <a:spcPct val="100000"/>
              </a:lnSpc>
            </a:pP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Data</a:t>
            </a:r>
            <a:r>
              <a:rPr sz="1100" i="1" spc="10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&amp;</a:t>
            </a:r>
            <a:r>
              <a:rPr sz="1100" i="1" spc="9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Control</a:t>
            </a:r>
            <a:r>
              <a:rPr sz="1100" i="1" spc="10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·</a:t>
            </a:r>
            <a:r>
              <a:rPr sz="1100" i="1" spc="95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E5E5E5"/>
                </a:solidFill>
                <a:latin typeface="Arial"/>
                <a:cs typeface="Arial"/>
              </a:rPr>
              <a:t>Cara</a:t>
            </a:r>
            <a:r>
              <a:rPr sz="1100" i="1" spc="10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100" i="1" spc="-10">
                <a:solidFill>
                  <a:srgbClr val="E5E5E5"/>
                </a:solidFill>
                <a:latin typeface="Arial"/>
                <a:cs typeface="Arial"/>
              </a:rPr>
              <a:t>Belew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10065" y="2272944"/>
            <a:ext cx="551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 marR="5080" indent="-9271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solidFill>
                  <a:srgbClr val="D3ECE3"/>
                </a:solidFill>
                <a:latin typeface="Segoe UI Symbol"/>
                <a:cs typeface="Segoe UI Symbol"/>
              </a:rPr>
              <a:t>MAVLink </a:t>
            </a:r>
            <a:r>
              <a:rPr sz="1000" spc="30">
                <a:solidFill>
                  <a:srgbClr val="D3ECE3"/>
                </a:solidFill>
                <a:latin typeface="Segoe UI Symbol"/>
                <a:cs typeface="Segoe UI Symbol"/>
              </a:rPr>
              <a:t>UART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13380" y="2270417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89496" y="2446820"/>
            <a:ext cx="1369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FFFFFF"/>
                </a:solidFill>
                <a:latin typeface="Aptos Black"/>
                <a:cs typeface="Aptos Black"/>
              </a:rPr>
              <a:t>915</a:t>
            </a:r>
            <a:r>
              <a:rPr sz="1200" b="1" spc="4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200" b="1" spc="65">
                <a:solidFill>
                  <a:srgbClr val="FFFFFF"/>
                </a:solidFill>
                <a:latin typeface="Aptos Black"/>
                <a:cs typeface="Aptos Black"/>
              </a:rPr>
              <a:t>MHz</a:t>
            </a:r>
            <a:r>
              <a:rPr sz="1200" b="1" spc="5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200" b="1">
                <a:solidFill>
                  <a:srgbClr val="FFFFFF"/>
                </a:solidFill>
                <a:latin typeface="Aptos Black"/>
                <a:cs typeface="Aptos Black"/>
              </a:rPr>
              <a:t>LoRa</a:t>
            </a:r>
            <a:r>
              <a:rPr sz="1200" b="1" spc="5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200" b="1" spc="-20">
                <a:solidFill>
                  <a:srgbClr val="FFFFFF"/>
                </a:solidFill>
                <a:latin typeface="Aptos Black"/>
                <a:cs typeface="Aptos Black"/>
              </a:rPr>
              <a:t>link</a:t>
            </a:r>
            <a:endParaRPr sz="1200">
              <a:latin typeface="Aptos Black"/>
              <a:cs typeface="Aptos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13380" y="2646616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11213" y="2867659"/>
            <a:ext cx="192468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>
                <a:solidFill>
                  <a:srgbClr val="D3ECE3"/>
                </a:solidFill>
                <a:latin typeface="Segoe UI Symbol"/>
                <a:cs typeface="Segoe UI Symbol"/>
              </a:rPr>
              <a:t>test</a:t>
            </a:r>
            <a:r>
              <a:rPr sz="105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D3ECE3"/>
                </a:solidFill>
                <a:latin typeface="Segoe UI Symbol"/>
                <a:cs typeface="Segoe UI Symbol"/>
              </a:rPr>
              <a:t>points</a:t>
            </a:r>
            <a:r>
              <a:rPr sz="105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50" spc="75">
                <a:solidFill>
                  <a:srgbClr val="D3ECE3"/>
                </a:solidFill>
                <a:latin typeface="Segoe UI Symbol"/>
                <a:cs typeface="Segoe UI Symbol"/>
              </a:rPr>
              <a:t>·</a:t>
            </a:r>
            <a:r>
              <a:rPr sz="105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50">
                <a:solidFill>
                  <a:srgbClr val="D3ECE3"/>
                </a:solidFill>
                <a:latin typeface="Segoe UI Symbol"/>
                <a:cs typeface="Segoe UI Symbol"/>
              </a:rPr>
              <a:t>results</a:t>
            </a:r>
            <a:r>
              <a:rPr sz="105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50" spc="75">
                <a:solidFill>
                  <a:srgbClr val="D3ECE3"/>
                </a:solidFill>
                <a:latin typeface="Segoe UI Symbol"/>
                <a:cs typeface="Segoe UI Symbol"/>
              </a:rPr>
              <a:t>·</a:t>
            </a:r>
            <a:r>
              <a:rPr sz="105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50" spc="-10">
                <a:solidFill>
                  <a:srgbClr val="D3ECE3"/>
                </a:solidFill>
                <a:latin typeface="Segoe UI Symbol"/>
                <a:cs typeface="Segoe UI Symbol"/>
              </a:rPr>
              <a:t>heartbeat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213380" y="3022815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213380" y="3399015"/>
            <a:ext cx="774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59544" y="2293810"/>
            <a:ext cx="2162810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8290">
              <a:lnSpc>
                <a:spcPct val="100000"/>
              </a:lnSpc>
              <a:spcBef>
                <a:spcPts val="100"/>
              </a:spcBef>
            </a:pP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Raspberry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Pi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 5</a:t>
            </a: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with</a:t>
            </a:r>
            <a:r>
              <a:rPr sz="1150" spc="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a</a:t>
            </a:r>
            <a:r>
              <a:rPr sz="1150" spc="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30">
                <a:solidFill>
                  <a:srgbClr val="FFFFFF"/>
                </a:solidFill>
                <a:latin typeface="Segoe UI Symbol"/>
                <a:cs typeface="Segoe UI Symbol"/>
              </a:rPr>
              <a:t>LoRa </a:t>
            </a:r>
            <a:r>
              <a:rPr sz="1150" spc="-10">
                <a:solidFill>
                  <a:srgbClr val="FFFFFF"/>
                </a:solidFill>
                <a:latin typeface="Segoe UI Symbol"/>
                <a:cs typeface="Segoe UI Symbol"/>
              </a:rPr>
              <a:t>Bonnet</a:t>
            </a:r>
            <a:endParaRPr sz="1150">
              <a:latin typeface="Segoe UI Symbol"/>
              <a:cs typeface="Segoe UI Symbol"/>
            </a:endParaRPr>
          </a:p>
          <a:p>
            <a:pPr marL="12700" marR="156210">
              <a:lnSpc>
                <a:spcPct val="100000"/>
              </a:lnSpc>
              <a:spcBef>
                <a:spcPts val="200"/>
              </a:spcBef>
            </a:pP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Hands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out</a:t>
            </a:r>
            <a:r>
              <a:rPr sz="1150" spc="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one</a:t>
            </a:r>
            <a:r>
              <a:rPr sz="1150" spc="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test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point</a:t>
            </a:r>
            <a:r>
              <a:rPr sz="1150" spc="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at</a:t>
            </a:r>
            <a:r>
              <a:rPr sz="1150" spc="5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a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time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204"/>
              </a:spcBef>
            </a:pPr>
            <a:r>
              <a:rPr sz="1150" spc="45">
                <a:solidFill>
                  <a:srgbClr val="FFFFFF"/>
                </a:solidFill>
                <a:latin typeface="Segoe UI Symbol"/>
                <a:cs typeface="Segoe UI Symbol"/>
              </a:rPr>
              <a:t>Watches</a:t>
            </a:r>
            <a:r>
              <a:rPr sz="1150" spc="12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the</a:t>
            </a:r>
            <a:r>
              <a:rPr sz="1150" spc="12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robot's</a:t>
            </a:r>
            <a:r>
              <a:rPr sz="1150" spc="114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10">
                <a:solidFill>
                  <a:srgbClr val="FFFFFF"/>
                </a:solidFill>
                <a:latin typeface="Segoe UI Symbol"/>
                <a:cs typeface="Segoe UI Symbol"/>
              </a:rPr>
              <a:t>heartbeat; </a:t>
            </a:r>
            <a:r>
              <a:rPr sz="1150" spc="65">
                <a:solidFill>
                  <a:srgbClr val="FFFFFF"/>
                </a:solidFill>
                <a:latin typeface="Segoe UI Symbol"/>
                <a:cs typeface="Segoe UI Symbol"/>
              </a:rPr>
              <a:t>sends</a:t>
            </a:r>
            <a:r>
              <a:rPr sz="1150" spc="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60">
                <a:solidFill>
                  <a:srgbClr val="FFFFFF"/>
                </a:solidFill>
                <a:latin typeface="Segoe UI Symbol"/>
                <a:cs typeface="Segoe UI Symbol"/>
              </a:rPr>
              <a:t>COME</a:t>
            </a:r>
            <a:r>
              <a:rPr sz="1150" spc="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0">
                <a:solidFill>
                  <a:srgbClr val="FFFFFF"/>
                </a:solidFill>
                <a:latin typeface="Segoe UI Symbol"/>
                <a:cs typeface="Segoe UI Symbol"/>
              </a:rPr>
              <a:t>HOME</a:t>
            </a:r>
            <a:endParaRPr sz="1150">
              <a:latin typeface="Segoe UI Symbol"/>
              <a:cs typeface="Segoe UI Symbol"/>
            </a:endParaRPr>
          </a:p>
          <a:p>
            <a:pPr marL="12700" marR="137160">
              <a:lnSpc>
                <a:spcPct val="100000"/>
              </a:lnSpc>
              <a:spcBef>
                <a:spcPts val="200"/>
              </a:spcBef>
            </a:pP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Laptop</a:t>
            </a:r>
            <a:r>
              <a:rPr sz="1150" spc="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70">
                <a:solidFill>
                  <a:srgbClr val="FFFFFF"/>
                </a:solidFill>
                <a:latin typeface="Segoe UI Symbol"/>
                <a:cs typeface="Segoe UI Symbol"/>
              </a:rPr>
              <a:t>shows</a:t>
            </a:r>
            <a:r>
              <a:rPr sz="1150" spc="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50">
                <a:solidFill>
                  <a:srgbClr val="FFFFFF"/>
                </a:solidFill>
                <a:latin typeface="Segoe UI Symbol"/>
                <a:cs typeface="Segoe UI Symbol"/>
              </a:rPr>
              <a:t>a</a:t>
            </a:r>
            <a:r>
              <a:rPr sz="1150" spc="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live</a:t>
            </a:r>
            <a:r>
              <a:rPr sz="1150" spc="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map</a:t>
            </a:r>
            <a:r>
              <a:rPr sz="1150" spc="10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-25">
                <a:solidFill>
                  <a:srgbClr val="FFFFFF"/>
                </a:solidFill>
                <a:latin typeface="Segoe UI Symbol"/>
                <a:cs typeface="Segoe UI Symbol"/>
              </a:rPr>
              <a:t>and </a:t>
            </a:r>
            <a:r>
              <a:rPr sz="1150" spc="75">
                <a:solidFill>
                  <a:srgbClr val="FFFFFF"/>
                </a:solidFill>
                <a:latin typeface="Segoe UI Symbol"/>
                <a:cs typeface="Segoe UI Symbol"/>
              </a:rPr>
              <a:t>saves</a:t>
            </a:r>
            <a:r>
              <a:rPr sz="1150" spc="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45">
                <a:solidFill>
                  <a:srgbClr val="FFFFFF"/>
                </a:solidFill>
                <a:latin typeface="Segoe UI Symbol"/>
                <a:cs typeface="Segoe UI Symbol"/>
              </a:rPr>
              <a:t>results</a:t>
            </a:r>
            <a:r>
              <a:rPr sz="1150" spc="1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>
                <a:solidFill>
                  <a:srgbClr val="FFFFFF"/>
                </a:solidFill>
                <a:latin typeface="Segoe UI Symbol"/>
                <a:cs typeface="Segoe UI Symbol"/>
              </a:rPr>
              <a:t>to</a:t>
            </a:r>
            <a:r>
              <a:rPr sz="1150" spc="1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50" spc="80">
                <a:solidFill>
                  <a:srgbClr val="FFFFFF"/>
                </a:solidFill>
                <a:latin typeface="Segoe UI Symbol"/>
                <a:cs typeface="Segoe UI Symbol"/>
              </a:rPr>
              <a:t>CSV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01622" y="3983304"/>
            <a:ext cx="882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>
                <a:solidFill>
                  <a:srgbClr val="D3ECE3"/>
                </a:solidFill>
                <a:latin typeface="Segoe UI Symbol"/>
                <a:cs typeface="Segoe UI Symbol"/>
              </a:rPr>
              <a:t>PWM</a:t>
            </a:r>
            <a:r>
              <a:rPr sz="10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0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 spc="-10">
                <a:solidFill>
                  <a:srgbClr val="D3ECE3"/>
                </a:solidFill>
                <a:latin typeface="Segoe UI Symbol"/>
                <a:cs typeface="Segoe UI Symbol"/>
              </a:rPr>
              <a:t>motor driver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627333" y="3983304"/>
            <a:ext cx="11493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>
                <a:solidFill>
                  <a:srgbClr val="D3ECE3"/>
                </a:solidFill>
                <a:latin typeface="Segoe UI Symbol"/>
                <a:cs typeface="Segoe UI Symbol"/>
              </a:rPr>
              <a:t>RS485</a:t>
            </a:r>
            <a:r>
              <a:rPr sz="10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 spc="70">
                <a:solidFill>
                  <a:srgbClr val="D3ECE3"/>
                </a:solidFill>
                <a:latin typeface="Segoe UI Symbol"/>
                <a:cs typeface="Segoe UI Symbol"/>
              </a:rPr>
              <a:t>·</a:t>
            </a:r>
            <a:r>
              <a:rPr sz="1000" spc="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 spc="55">
                <a:solidFill>
                  <a:srgbClr val="D3ECE3"/>
                </a:solidFill>
                <a:latin typeface="Segoe UI Symbol"/>
                <a:cs typeface="Segoe UI Symbol"/>
              </a:rPr>
              <a:t>I2C</a:t>
            </a:r>
            <a:r>
              <a:rPr sz="1000" spc="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 spc="70">
                <a:solidFill>
                  <a:srgbClr val="D3ECE3"/>
                </a:solidFill>
                <a:latin typeface="Segoe UI Symbol"/>
                <a:cs typeface="Segoe UI Symbol"/>
              </a:rPr>
              <a:t>·</a:t>
            </a:r>
            <a:r>
              <a:rPr sz="10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000" spc="-20">
                <a:solidFill>
                  <a:srgbClr val="D3ECE3"/>
                </a:solidFill>
                <a:latin typeface="Segoe UI Symbol"/>
                <a:cs typeface="Segoe UI Symbol"/>
              </a:rPr>
              <a:t>GPIO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874384" y="4970424"/>
            <a:ext cx="276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>
                <a:solidFill>
                  <a:srgbClr val="F5CF89"/>
                </a:solidFill>
                <a:latin typeface="Segoe UI Symbol"/>
                <a:cs typeface="Segoe UI Symbol"/>
              </a:rPr>
              <a:t>12</a:t>
            </a:r>
            <a:r>
              <a:rPr sz="1000" spc="-55">
                <a:solidFill>
                  <a:srgbClr val="F5CF89"/>
                </a:solidFill>
                <a:latin typeface="Segoe UI Symbol"/>
                <a:cs typeface="Segoe UI Symbol"/>
              </a:rPr>
              <a:t> </a:t>
            </a:r>
            <a:r>
              <a:rPr sz="1000" spc="10">
                <a:solidFill>
                  <a:srgbClr val="F5CF89"/>
                </a:solidFill>
                <a:latin typeface="Segoe UI Symbol"/>
                <a:cs typeface="Segoe UI Symbol"/>
              </a:rPr>
              <a:t>V</a:t>
            </a:r>
            <a:endParaRPr sz="1000">
              <a:latin typeface="Segoe UI Symbol"/>
              <a:cs typeface="Segoe UI Symbol"/>
            </a:endParaRPr>
          </a:p>
          <a:p>
            <a:pPr marL="37465">
              <a:lnSpc>
                <a:spcPct val="100000"/>
              </a:lnSpc>
            </a:pPr>
            <a:r>
              <a:rPr sz="1000" spc="65">
                <a:solidFill>
                  <a:srgbClr val="F5CF89"/>
                </a:solidFill>
                <a:latin typeface="Segoe UI Symbol"/>
                <a:cs typeface="Segoe UI Symbol"/>
              </a:rPr>
              <a:t>5</a:t>
            </a:r>
            <a:r>
              <a:rPr sz="1000" spc="-10">
                <a:solidFill>
                  <a:srgbClr val="F5CF89"/>
                </a:solidFill>
                <a:latin typeface="Segoe UI Symbol"/>
                <a:cs typeface="Segoe UI Symbol"/>
              </a:rPr>
              <a:t> </a:t>
            </a:r>
            <a:r>
              <a:rPr sz="1000">
                <a:solidFill>
                  <a:srgbClr val="F5CF89"/>
                </a:solidFill>
                <a:latin typeface="Segoe UI Symbol"/>
                <a:cs typeface="Segoe UI Symbol"/>
              </a:rPr>
              <a:t>V</a:t>
            </a:r>
            <a:endParaRPr sz="10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108960" cy="532765"/>
          </a:xfrm>
          <a:custGeom>
            <a:avLst/>
            <a:gdLst/>
            <a:ahLst/>
            <a:cxnLst/>
            <a:rect l="l" t="t" r="r" b="b"/>
            <a:pathLst>
              <a:path w="3108960" h="532765">
                <a:moveTo>
                  <a:pt x="3108591" y="0"/>
                </a:moveTo>
                <a:lnTo>
                  <a:pt x="0" y="0"/>
                </a:lnTo>
                <a:lnTo>
                  <a:pt x="0" y="532434"/>
                </a:lnTo>
                <a:lnTo>
                  <a:pt x="1554479" y="532434"/>
                </a:lnTo>
                <a:lnTo>
                  <a:pt x="3108591" y="532434"/>
                </a:lnTo>
                <a:lnTo>
                  <a:pt x="3108591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spc="130"/>
              <a:t>Features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599C37E-69A2-2375-2497-2ACCCB37D57B}"/>
              </a:ext>
            </a:extLst>
          </p:cNvPr>
          <p:cNvGrpSpPr/>
          <p:nvPr/>
        </p:nvGrpSpPr>
        <p:grpSpPr>
          <a:xfrm>
            <a:off x="338035" y="1371600"/>
            <a:ext cx="3655060" cy="1572895"/>
            <a:chOff x="338035" y="1371600"/>
            <a:chExt cx="3655060" cy="1572895"/>
          </a:xfrm>
        </p:grpSpPr>
        <p:grpSp>
          <p:nvGrpSpPr>
            <p:cNvPr id="4" name="object 4"/>
            <p:cNvGrpSpPr/>
            <p:nvPr/>
          </p:nvGrpSpPr>
          <p:grpSpPr>
            <a:xfrm>
              <a:off x="338035" y="1371600"/>
              <a:ext cx="3655060" cy="1572895"/>
              <a:chOff x="338035" y="1371600"/>
              <a:chExt cx="3655060" cy="157289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338035" y="1371600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60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08"/>
                    </a:lnTo>
                    <a:lnTo>
                      <a:pt x="116554" y="14273"/>
                    </a:lnTo>
                    <a:lnTo>
                      <a:pt x="73701" y="38933"/>
                    </a:lnTo>
                    <a:lnTo>
                      <a:pt x="38944" y="73699"/>
                    </a:lnTo>
                    <a:lnTo>
                      <a:pt x="14283" y="116549"/>
                    </a:lnTo>
                    <a:lnTo>
                      <a:pt x="1610" y="163983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10" y="1408859"/>
                    </a:lnTo>
                    <a:lnTo>
                      <a:pt x="14163" y="1455933"/>
                    </a:lnTo>
                    <a:lnTo>
                      <a:pt x="38944" y="1499142"/>
                    </a:lnTo>
                    <a:lnTo>
                      <a:pt x="73701" y="1533899"/>
                    </a:lnTo>
                    <a:lnTo>
                      <a:pt x="116554" y="1558560"/>
                    </a:lnTo>
                    <a:lnTo>
                      <a:pt x="163985" y="1571234"/>
                    </a:lnTo>
                    <a:lnTo>
                      <a:pt x="188645" y="1572844"/>
                    </a:lnTo>
                    <a:lnTo>
                      <a:pt x="3466083" y="1572475"/>
                    </a:lnTo>
                    <a:lnTo>
                      <a:pt x="3514864" y="1566087"/>
                    </a:lnTo>
                    <a:lnTo>
                      <a:pt x="3560406" y="1547279"/>
                    </a:lnTo>
                    <a:lnTo>
                      <a:pt x="3599549" y="1517308"/>
                    </a:lnTo>
                    <a:lnTo>
                      <a:pt x="3629520" y="1478165"/>
                    </a:lnTo>
                    <a:lnTo>
                      <a:pt x="3648214" y="1432979"/>
                    </a:lnTo>
                    <a:lnTo>
                      <a:pt x="3653049" y="1408859"/>
                    </a:lnTo>
                    <a:lnTo>
                      <a:pt x="3653119" y="1408503"/>
                    </a:lnTo>
                    <a:lnTo>
                      <a:pt x="3654706" y="1384198"/>
                    </a:lnTo>
                    <a:lnTo>
                      <a:pt x="3654729" y="1383842"/>
                    </a:lnTo>
                    <a:lnTo>
                      <a:pt x="3654361" y="188645"/>
                    </a:lnTo>
                    <a:lnTo>
                      <a:pt x="3647973" y="139860"/>
                    </a:lnTo>
                    <a:lnTo>
                      <a:pt x="3629164" y="94322"/>
                    </a:lnTo>
                    <a:lnTo>
                      <a:pt x="3599192" y="55168"/>
                    </a:lnTo>
                    <a:lnTo>
                      <a:pt x="3560038" y="25196"/>
                    </a:lnTo>
                    <a:lnTo>
                      <a:pt x="3514507" y="6388"/>
                    </a:lnTo>
                    <a:lnTo>
                      <a:pt x="3490388" y="1608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39635" y="1828800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4" h="658494">
                    <a:moveTo>
                      <a:pt x="329399" y="0"/>
                    </a:moveTo>
                    <a:lnTo>
                      <a:pt x="286227" y="2813"/>
                    </a:lnTo>
                    <a:lnTo>
                      <a:pt x="243997" y="11161"/>
                    </a:lnTo>
                    <a:lnTo>
                      <a:pt x="203250" y="24908"/>
                    </a:lnTo>
                    <a:lnTo>
                      <a:pt x="164528" y="43916"/>
                    </a:lnTo>
                    <a:lnTo>
                      <a:pt x="128681" y="67875"/>
                    </a:lnTo>
                    <a:lnTo>
                      <a:pt x="96443" y="96253"/>
                    </a:lnTo>
                    <a:lnTo>
                      <a:pt x="68187" y="128612"/>
                    </a:lnTo>
                    <a:lnTo>
                      <a:pt x="44284" y="164515"/>
                    </a:lnTo>
                    <a:lnTo>
                      <a:pt x="25063" y="203182"/>
                    </a:lnTo>
                    <a:lnTo>
                      <a:pt x="11207" y="243808"/>
                    </a:lnTo>
                    <a:lnTo>
                      <a:pt x="2819" y="285920"/>
                    </a:lnTo>
                    <a:lnTo>
                      <a:pt x="0" y="329044"/>
                    </a:lnTo>
                    <a:lnTo>
                      <a:pt x="2819" y="372160"/>
                    </a:lnTo>
                    <a:lnTo>
                      <a:pt x="11207" y="414269"/>
                    </a:lnTo>
                    <a:lnTo>
                      <a:pt x="25063" y="454893"/>
                    </a:lnTo>
                    <a:lnTo>
                      <a:pt x="44284" y="493560"/>
                    </a:lnTo>
                    <a:lnTo>
                      <a:pt x="68187" y="529463"/>
                    </a:lnTo>
                    <a:lnTo>
                      <a:pt x="96443" y="561822"/>
                    </a:lnTo>
                    <a:lnTo>
                      <a:pt x="128681" y="590200"/>
                    </a:lnTo>
                    <a:lnTo>
                      <a:pt x="164528" y="614159"/>
                    </a:lnTo>
                    <a:lnTo>
                      <a:pt x="203250" y="633230"/>
                    </a:lnTo>
                    <a:lnTo>
                      <a:pt x="243997" y="647103"/>
                    </a:lnTo>
                    <a:lnTo>
                      <a:pt x="286227" y="655575"/>
                    </a:lnTo>
                    <a:lnTo>
                      <a:pt x="329399" y="658444"/>
                    </a:lnTo>
                    <a:lnTo>
                      <a:pt x="372373" y="655575"/>
                    </a:lnTo>
                    <a:lnTo>
                      <a:pt x="414502" y="647103"/>
                    </a:lnTo>
                    <a:lnTo>
                      <a:pt x="455212" y="633230"/>
                    </a:lnTo>
                    <a:lnTo>
                      <a:pt x="493928" y="614159"/>
                    </a:lnTo>
                    <a:lnTo>
                      <a:pt x="529775" y="590200"/>
                    </a:lnTo>
                    <a:lnTo>
                      <a:pt x="562011" y="561822"/>
                    </a:lnTo>
                    <a:lnTo>
                      <a:pt x="590263" y="529463"/>
                    </a:lnTo>
                    <a:lnTo>
                      <a:pt x="614159" y="493560"/>
                    </a:lnTo>
                    <a:lnTo>
                      <a:pt x="633380" y="454893"/>
                    </a:lnTo>
                    <a:lnTo>
                      <a:pt x="647236" y="414269"/>
                    </a:lnTo>
                    <a:lnTo>
                      <a:pt x="655625" y="372160"/>
                    </a:lnTo>
                    <a:lnTo>
                      <a:pt x="658444" y="329044"/>
                    </a:lnTo>
                    <a:lnTo>
                      <a:pt x="655625" y="285920"/>
                    </a:lnTo>
                    <a:lnTo>
                      <a:pt x="647236" y="243808"/>
                    </a:lnTo>
                    <a:lnTo>
                      <a:pt x="633380" y="203182"/>
                    </a:lnTo>
                    <a:lnTo>
                      <a:pt x="614159" y="164515"/>
                    </a:lnTo>
                    <a:lnTo>
                      <a:pt x="590263" y="128612"/>
                    </a:lnTo>
                    <a:lnTo>
                      <a:pt x="562011" y="96253"/>
                    </a:lnTo>
                    <a:lnTo>
                      <a:pt x="529775" y="67875"/>
                    </a:lnTo>
                    <a:lnTo>
                      <a:pt x="493928" y="43916"/>
                    </a:lnTo>
                    <a:lnTo>
                      <a:pt x="455212" y="24908"/>
                    </a:lnTo>
                    <a:lnTo>
                      <a:pt x="414502" y="11161"/>
                    </a:lnTo>
                    <a:lnTo>
                      <a:pt x="372373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7" name="object 7" descr="route.png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97674" y="1986483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8" name="object 8"/>
            <p:cNvSpPr txBox="1"/>
            <p:nvPr/>
          </p:nvSpPr>
          <p:spPr>
            <a:xfrm>
              <a:off x="1349540" y="1769529"/>
              <a:ext cx="2235200" cy="733425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45"/>
                </a:spcBef>
              </a:pPr>
              <a:r>
                <a:rPr sz="1200" b="1" dirty="0">
                  <a:solidFill>
                    <a:srgbClr val="A8DAC8"/>
                  </a:solidFill>
                  <a:latin typeface="Aptos Black"/>
                  <a:cs typeface="Aptos Black"/>
                </a:rPr>
                <a:t>F1</a:t>
              </a:r>
              <a:r>
                <a:rPr sz="1200" b="1" spc="325" dirty="0">
                  <a:solidFill>
                    <a:srgbClr val="A8DAC8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Drives</a:t>
              </a:r>
              <a:r>
                <a:rPr sz="1500" b="1" spc="40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spc="-10" dirty="0">
                  <a:solidFill>
                    <a:srgbClr val="FFFFFF"/>
                  </a:solidFill>
                  <a:latin typeface="Aptos Black"/>
                  <a:cs typeface="Aptos Black"/>
                </a:rPr>
                <a:t>itself</a:t>
              </a:r>
              <a:endParaRPr sz="1500" dirty="0">
                <a:latin typeface="Aptos Black"/>
                <a:cs typeface="Aptos Black"/>
              </a:endParaRPr>
            </a:p>
            <a:p>
              <a:pPr marL="12700" marR="5080">
                <a:lnSpc>
                  <a:spcPct val="100000"/>
                </a:lnSpc>
                <a:spcBef>
                  <a:spcPts val="300"/>
                </a:spcBef>
              </a:pPr>
              <a:r>
                <a:rPr sz="1300" spc="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Navigates</a:t>
              </a:r>
              <a:r>
                <a:rPr sz="1300" spc="9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to</a:t>
              </a:r>
              <a:r>
                <a:rPr sz="1300" spc="1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GPS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test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points </a:t>
              </a:r>
              <a:r>
                <a:rPr sz="1300" spc="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across </a:t>
              </a:r>
              <a:r>
                <a:rPr sz="1300" spc="6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</a:t>
              </a:r>
              <a:r>
                <a:rPr sz="1300" spc="7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field</a:t>
              </a:r>
              <a:r>
                <a:rPr sz="1300" spc="7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with</a:t>
              </a:r>
              <a:r>
                <a:rPr sz="1300" spc="8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no</a:t>
              </a:r>
              <a:r>
                <a:rPr sz="1300" spc="6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driver.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9C2DBAB-61C0-5CC1-2F50-D60BD20F9B61}"/>
              </a:ext>
            </a:extLst>
          </p:cNvPr>
          <p:cNvGrpSpPr/>
          <p:nvPr/>
        </p:nvGrpSpPr>
        <p:grpSpPr>
          <a:xfrm>
            <a:off x="4194695" y="1371600"/>
            <a:ext cx="3655060" cy="1572895"/>
            <a:chOff x="8195754" y="1371600"/>
            <a:chExt cx="3655060" cy="1572895"/>
          </a:xfrm>
        </p:grpSpPr>
        <p:grpSp>
          <p:nvGrpSpPr>
            <p:cNvPr id="14" name="object 14"/>
            <p:cNvGrpSpPr/>
            <p:nvPr/>
          </p:nvGrpSpPr>
          <p:grpSpPr>
            <a:xfrm>
              <a:off x="8195754" y="1371600"/>
              <a:ext cx="3655060" cy="1572895"/>
              <a:chOff x="8195754" y="1371600"/>
              <a:chExt cx="3655060" cy="1572895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8195754" y="1371600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59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08"/>
                    </a:lnTo>
                    <a:lnTo>
                      <a:pt x="116554" y="14273"/>
                    </a:lnTo>
                    <a:lnTo>
                      <a:pt x="73701" y="38933"/>
                    </a:lnTo>
                    <a:lnTo>
                      <a:pt x="38944" y="73699"/>
                    </a:lnTo>
                    <a:lnTo>
                      <a:pt x="14283" y="116549"/>
                    </a:lnTo>
                    <a:lnTo>
                      <a:pt x="1610" y="163983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10" y="1408859"/>
                    </a:lnTo>
                    <a:lnTo>
                      <a:pt x="6323" y="1432623"/>
                    </a:lnTo>
                    <a:lnTo>
                      <a:pt x="6394" y="1432979"/>
                    </a:lnTo>
                    <a:lnTo>
                      <a:pt x="14163" y="1455933"/>
                    </a:lnTo>
                    <a:lnTo>
                      <a:pt x="14283" y="1456289"/>
                    </a:lnTo>
                    <a:lnTo>
                      <a:pt x="38944" y="1499142"/>
                    </a:lnTo>
                    <a:lnTo>
                      <a:pt x="73701" y="1533899"/>
                    </a:lnTo>
                    <a:lnTo>
                      <a:pt x="116554" y="1558560"/>
                    </a:lnTo>
                    <a:lnTo>
                      <a:pt x="163985" y="1571234"/>
                    </a:lnTo>
                    <a:lnTo>
                      <a:pt x="188645" y="1572844"/>
                    </a:lnTo>
                    <a:lnTo>
                      <a:pt x="3466083" y="1572475"/>
                    </a:lnTo>
                    <a:lnTo>
                      <a:pt x="3514864" y="1566087"/>
                    </a:lnTo>
                    <a:lnTo>
                      <a:pt x="3560406" y="1547279"/>
                    </a:lnTo>
                    <a:lnTo>
                      <a:pt x="3599554" y="1517308"/>
                    </a:lnTo>
                    <a:lnTo>
                      <a:pt x="3629520" y="1478165"/>
                    </a:lnTo>
                    <a:lnTo>
                      <a:pt x="3648214" y="1432979"/>
                    </a:lnTo>
                    <a:lnTo>
                      <a:pt x="3648335" y="1432623"/>
                    </a:lnTo>
                    <a:lnTo>
                      <a:pt x="3653049" y="1408859"/>
                    </a:lnTo>
                    <a:lnTo>
                      <a:pt x="3653119" y="1408503"/>
                    </a:lnTo>
                    <a:lnTo>
                      <a:pt x="3654706" y="1384198"/>
                    </a:lnTo>
                    <a:lnTo>
                      <a:pt x="3654361" y="188645"/>
                    </a:lnTo>
                    <a:lnTo>
                      <a:pt x="3647973" y="139860"/>
                    </a:lnTo>
                    <a:lnTo>
                      <a:pt x="3629164" y="94322"/>
                    </a:lnTo>
                    <a:lnTo>
                      <a:pt x="3599194" y="55168"/>
                    </a:lnTo>
                    <a:lnTo>
                      <a:pt x="3560051" y="25196"/>
                    </a:lnTo>
                    <a:lnTo>
                      <a:pt x="3514509" y="6388"/>
                    </a:lnTo>
                    <a:lnTo>
                      <a:pt x="3490389" y="1608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8397354" y="1828800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5" h="658494">
                    <a:moveTo>
                      <a:pt x="329399" y="0"/>
                    </a:moveTo>
                    <a:lnTo>
                      <a:pt x="286227" y="2813"/>
                    </a:lnTo>
                    <a:lnTo>
                      <a:pt x="243997" y="11161"/>
                    </a:lnTo>
                    <a:lnTo>
                      <a:pt x="203250" y="24908"/>
                    </a:lnTo>
                    <a:lnTo>
                      <a:pt x="164528" y="43916"/>
                    </a:lnTo>
                    <a:lnTo>
                      <a:pt x="128681" y="67875"/>
                    </a:lnTo>
                    <a:lnTo>
                      <a:pt x="96443" y="96253"/>
                    </a:lnTo>
                    <a:lnTo>
                      <a:pt x="68187" y="128612"/>
                    </a:lnTo>
                    <a:lnTo>
                      <a:pt x="44284" y="164515"/>
                    </a:lnTo>
                    <a:lnTo>
                      <a:pt x="25063" y="203182"/>
                    </a:lnTo>
                    <a:lnTo>
                      <a:pt x="11207" y="243808"/>
                    </a:lnTo>
                    <a:lnTo>
                      <a:pt x="2819" y="285920"/>
                    </a:lnTo>
                    <a:lnTo>
                      <a:pt x="0" y="329044"/>
                    </a:lnTo>
                    <a:lnTo>
                      <a:pt x="2819" y="372160"/>
                    </a:lnTo>
                    <a:lnTo>
                      <a:pt x="11207" y="414269"/>
                    </a:lnTo>
                    <a:lnTo>
                      <a:pt x="25063" y="454893"/>
                    </a:lnTo>
                    <a:lnTo>
                      <a:pt x="44284" y="493560"/>
                    </a:lnTo>
                    <a:lnTo>
                      <a:pt x="68187" y="529463"/>
                    </a:lnTo>
                    <a:lnTo>
                      <a:pt x="96443" y="561822"/>
                    </a:lnTo>
                    <a:lnTo>
                      <a:pt x="128681" y="590200"/>
                    </a:lnTo>
                    <a:lnTo>
                      <a:pt x="164528" y="614159"/>
                    </a:lnTo>
                    <a:lnTo>
                      <a:pt x="203250" y="633230"/>
                    </a:lnTo>
                    <a:lnTo>
                      <a:pt x="243997" y="647103"/>
                    </a:lnTo>
                    <a:lnTo>
                      <a:pt x="286227" y="655575"/>
                    </a:lnTo>
                    <a:lnTo>
                      <a:pt x="329399" y="658444"/>
                    </a:lnTo>
                    <a:lnTo>
                      <a:pt x="372373" y="655575"/>
                    </a:lnTo>
                    <a:lnTo>
                      <a:pt x="414502" y="647103"/>
                    </a:lnTo>
                    <a:lnTo>
                      <a:pt x="455212" y="633230"/>
                    </a:lnTo>
                    <a:lnTo>
                      <a:pt x="493928" y="614159"/>
                    </a:lnTo>
                    <a:lnTo>
                      <a:pt x="529775" y="590200"/>
                    </a:lnTo>
                    <a:lnTo>
                      <a:pt x="562013" y="561822"/>
                    </a:lnTo>
                    <a:lnTo>
                      <a:pt x="590269" y="529463"/>
                    </a:lnTo>
                    <a:lnTo>
                      <a:pt x="614172" y="493560"/>
                    </a:lnTo>
                    <a:lnTo>
                      <a:pt x="633391" y="454893"/>
                    </a:lnTo>
                    <a:lnTo>
                      <a:pt x="647242" y="414269"/>
                    </a:lnTo>
                    <a:lnTo>
                      <a:pt x="655627" y="372160"/>
                    </a:lnTo>
                    <a:lnTo>
                      <a:pt x="658444" y="329044"/>
                    </a:lnTo>
                    <a:lnTo>
                      <a:pt x="655627" y="285920"/>
                    </a:lnTo>
                    <a:lnTo>
                      <a:pt x="647242" y="243808"/>
                    </a:lnTo>
                    <a:lnTo>
                      <a:pt x="633391" y="203182"/>
                    </a:lnTo>
                    <a:lnTo>
                      <a:pt x="614172" y="164515"/>
                    </a:lnTo>
                    <a:lnTo>
                      <a:pt x="590269" y="128612"/>
                    </a:lnTo>
                    <a:lnTo>
                      <a:pt x="562013" y="96253"/>
                    </a:lnTo>
                    <a:lnTo>
                      <a:pt x="529775" y="67875"/>
                    </a:lnTo>
                    <a:lnTo>
                      <a:pt x="493928" y="43916"/>
                    </a:lnTo>
                    <a:lnTo>
                      <a:pt x="455212" y="24908"/>
                    </a:lnTo>
                    <a:lnTo>
                      <a:pt x="414502" y="11161"/>
                    </a:lnTo>
                    <a:lnTo>
                      <a:pt x="372373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7" name="object 17" descr="probe.png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555406" y="1986483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18" name="object 18"/>
            <p:cNvSpPr txBox="1"/>
            <p:nvPr/>
          </p:nvSpPr>
          <p:spPr>
            <a:xfrm>
              <a:off x="9207258" y="1670149"/>
              <a:ext cx="2184400" cy="931544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45"/>
                </a:spcBef>
              </a:pPr>
              <a:r>
                <a:rPr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F</a:t>
              </a:r>
              <a:r>
                <a:rPr lang="en-US"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2</a:t>
              </a:r>
              <a:r>
                <a:rPr sz="1200" b="1" spc="405" dirty="0">
                  <a:solidFill>
                    <a:srgbClr val="A8DAC8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Tests</a:t>
              </a:r>
              <a:r>
                <a:rPr sz="1500" b="1" spc="90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the</a:t>
              </a:r>
              <a:r>
                <a:rPr sz="1500" b="1" spc="90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spc="-20" dirty="0">
                  <a:solidFill>
                    <a:srgbClr val="FFFFFF"/>
                  </a:solidFill>
                  <a:latin typeface="Aptos Black"/>
                  <a:cs typeface="Aptos Black"/>
                </a:rPr>
                <a:t>soil</a:t>
              </a:r>
              <a:endParaRPr sz="1500" dirty="0">
                <a:latin typeface="Aptos Black"/>
                <a:cs typeface="Aptos Black"/>
              </a:endParaRPr>
            </a:p>
            <a:p>
              <a:pPr marL="12700" marR="5080">
                <a:lnSpc>
                  <a:spcPct val="100000"/>
                </a:lnSpc>
                <a:spcBef>
                  <a:spcPts val="300"/>
                </a:spcBef>
              </a:pPr>
              <a:r>
                <a:rPr sz="1300" spc="8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Pushes</a:t>
              </a:r>
              <a:r>
                <a:rPr sz="1300" spc="4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6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</a:t>
              </a:r>
              <a:r>
                <a:rPr sz="1300" spc="4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probe</a:t>
              </a:r>
              <a:r>
                <a:rPr sz="1300" spc="4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into</a:t>
              </a:r>
              <a:r>
                <a:rPr sz="1300" spc="3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the </a:t>
              </a:r>
              <a:r>
                <a:rPr lang="en-US"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ground and</a:t>
              </a:r>
              <a:r>
                <a:rPr sz="1300" spc="9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5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stops</a:t>
              </a:r>
              <a:r>
                <a:rPr sz="1300" spc="8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if</a:t>
              </a:r>
              <a:r>
                <a:rPr sz="1300" spc="9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it</a:t>
              </a:r>
              <a:r>
                <a:rPr sz="1300" spc="8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hits</a:t>
              </a:r>
              <a:r>
                <a:rPr sz="1300" spc="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1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 </a:t>
              </a:r>
              <a:r>
                <a:rPr sz="1300" spc="4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rock.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DEE0C0-F298-9537-B27F-BBB0A885960A}"/>
              </a:ext>
            </a:extLst>
          </p:cNvPr>
          <p:cNvGrpSpPr/>
          <p:nvPr/>
        </p:nvGrpSpPr>
        <p:grpSpPr>
          <a:xfrm>
            <a:off x="8051355" y="1371034"/>
            <a:ext cx="3655060" cy="1572895"/>
            <a:chOff x="338035" y="3145675"/>
            <a:chExt cx="3655060" cy="1572895"/>
          </a:xfrm>
        </p:grpSpPr>
        <p:grpSp>
          <p:nvGrpSpPr>
            <p:cNvPr id="19" name="object 19"/>
            <p:cNvGrpSpPr/>
            <p:nvPr/>
          </p:nvGrpSpPr>
          <p:grpSpPr>
            <a:xfrm>
              <a:off x="338035" y="3145675"/>
              <a:ext cx="3655060" cy="1572895"/>
              <a:chOff x="338035" y="3145675"/>
              <a:chExt cx="3655060" cy="1572895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338035" y="3145675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60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10"/>
                    </a:lnTo>
                    <a:lnTo>
                      <a:pt x="116554" y="14283"/>
                    </a:lnTo>
                    <a:lnTo>
                      <a:pt x="73701" y="38944"/>
                    </a:lnTo>
                    <a:lnTo>
                      <a:pt x="38944" y="73701"/>
                    </a:lnTo>
                    <a:lnTo>
                      <a:pt x="14283" y="116554"/>
                    </a:lnTo>
                    <a:lnTo>
                      <a:pt x="1610" y="163985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10" y="1408860"/>
                    </a:lnTo>
                    <a:lnTo>
                      <a:pt x="6322" y="1432623"/>
                    </a:lnTo>
                    <a:lnTo>
                      <a:pt x="6394" y="1432983"/>
                    </a:lnTo>
                    <a:lnTo>
                      <a:pt x="14161" y="1455933"/>
                    </a:lnTo>
                    <a:lnTo>
                      <a:pt x="38944" y="1499144"/>
                    </a:lnTo>
                    <a:lnTo>
                      <a:pt x="73701" y="1533910"/>
                    </a:lnTo>
                    <a:lnTo>
                      <a:pt x="116554" y="1558570"/>
                    </a:lnTo>
                    <a:lnTo>
                      <a:pt x="163985" y="1571236"/>
                    </a:lnTo>
                    <a:lnTo>
                      <a:pt x="188645" y="1572844"/>
                    </a:lnTo>
                    <a:lnTo>
                      <a:pt x="3466083" y="1572488"/>
                    </a:lnTo>
                    <a:lnTo>
                      <a:pt x="3514864" y="1566094"/>
                    </a:lnTo>
                    <a:lnTo>
                      <a:pt x="3560406" y="1547279"/>
                    </a:lnTo>
                    <a:lnTo>
                      <a:pt x="3599549" y="1517313"/>
                    </a:lnTo>
                    <a:lnTo>
                      <a:pt x="3629520" y="1478165"/>
                    </a:lnTo>
                    <a:lnTo>
                      <a:pt x="3648213" y="1432983"/>
                    </a:lnTo>
                    <a:lnTo>
                      <a:pt x="3648335" y="1432623"/>
                    </a:lnTo>
                    <a:lnTo>
                      <a:pt x="3653048" y="1408860"/>
                    </a:lnTo>
                    <a:lnTo>
                      <a:pt x="3653119" y="1408503"/>
                    </a:lnTo>
                    <a:lnTo>
                      <a:pt x="3654706" y="1384198"/>
                    </a:lnTo>
                    <a:lnTo>
                      <a:pt x="3654361" y="188645"/>
                    </a:lnTo>
                    <a:lnTo>
                      <a:pt x="3647973" y="139865"/>
                    </a:lnTo>
                    <a:lnTo>
                      <a:pt x="3629164" y="94322"/>
                    </a:lnTo>
                    <a:lnTo>
                      <a:pt x="3599192" y="55175"/>
                    </a:lnTo>
                    <a:lnTo>
                      <a:pt x="3560038" y="25209"/>
                    </a:lnTo>
                    <a:lnTo>
                      <a:pt x="3514507" y="6394"/>
                    </a:lnTo>
                    <a:lnTo>
                      <a:pt x="3490388" y="1610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539635" y="3602875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4" h="658495">
                    <a:moveTo>
                      <a:pt x="329399" y="0"/>
                    </a:moveTo>
                    <a:lnTo>
                      <a:pt x="286227" y="2813"/>
                    </a:lnTo>
                    <a:lnTo>
                      <a:pt x="243997" y="11163"/>
                    </a:lnTo>
                    <a:lnTo>
                      <a:pt x="203250" y="24913"/>
                    </a:lnTo>
                    <a:lnTo>
                      <a:pt x="164528" y="43929"/>
                    </a:lnTo>
                    <a:lnTo>
                      <a:pt x="128681" y="67882"/>
                    </a:lnTo>
                    <a:lnTo>
                      <a:pt x="96443" y="96261"/>
                    </a:lnTo>
                    <a:lnTo>
                      <a:pt x="68187" y="128623"/>
                    </a:lnTo>
                    <a:lnTo>
                      <a:pt x="44284" y="164528"/>
                    </a:lnTo>
                    <a:lnTo>
                      <a:pt x="25063" y="203192"/>
                    </a:lnTo>
                    <a:lnTo>
                      <a:pt x="11207" y="243814"/>
                    </a:lnTo>
                    <a:lnTo>
                      <a:pt x="2819" y="285922"/>
                    </a:lnTo>
                    <a:lnTo>
                      <a:pt x="0" y="329044"/>
                    </a:lnTo>
                    <a:lnTo>
                      <a:pt x="2819" y="372166"/>
                    </a:lnTo>
                    <a:lnTo>
                      <a:pt x="11207" y="414274"/>
                    </a:lnTo>
                    <a:lnTo>
                      <a:pt x="25063" y="454895"/>
                    </a:lnTo>
                    <a:lnTo>
                      <a:pt x="44284" y="493560"/>
                    </a:lnTo>
                    <a:lnTo>
                      <a:pt x="68187" y="529464"/>
                    </a:lnTo>
                    <a:lnTo>
                      <a:pt x="96443" y="561827"/>
                    </a:lnTo>
                    <a:lnTo>
                      <a:pt x="128681" y="590206"/>
                    </a:lnTo>
                    <a:lnTo>
                      <a:pt x="164528" y="614159"/>
                    </a:lnTo>
                    <a:lnTo>
                      <a:pt x="203250" y="633230"/>
                    </a:lnTo>
                    <a:lnTo>
                      <a:pt x="243997" y="647103"/>
                    </a:lnTo>
                    <a:lnTo>
                      <a:pt x="286227" y="655575"/>
                    </a:lnTo>
                    <a:lnTo>
                      <a:pt x="329399" y="658444"/>
                    </a:lnTo>
                    <a:lnTo>
                      <a:pt x="372373" y="655575"/>
                    </a:lnTo>
                    <a:lnTo>
                      <a:pt x="414502" y="647103"/>
                    </a:lnTo>
                    <a:lnTo>
                      <a:pt x="455212" y="633230"/>
                    </a:lnTo>
                    <a:lnTo>
                      <a:pt x="493928" y="614159"/>
                    </a:lnTo>
                    <a:lnTo>
                      <a:pt x="529775" y="590206"/>
                    </a:lnTo>
                    <a:lnTo>
                      <a:pt x="562011" y="561827"/>
                    </a:lnTo>
                    <a:lnTo>
                      <a:pt x="590263" y="529464"/>
                    </a:lnTo>
                    <a:lnTo>
                      <a:pt x="614159" y="493560"/>
                    </a:lnTo>
                    <a:lnTo>
                      <a:pt x="633380" y="454895"/>
                    </a:lnTo>
                    <a:lnTo>
                      <a:pt x="647236" y="414274"/>
                    </a:lnTo>
                    <a:lnTo>
                      <a:pt x="655625" y="372166"/>
                    </a:lnTo>
                    <a:lnTo>
                      <a:pt x="658444" y="329044"/>
                    </a:lnTo>
                    <a:lnTo>
                      <a:pt x="655625" y="285922"/>
                    </a:lnTo>
                    <a:lnTo>
                      <a:pt x="647236" y="243814"/>
                    </a:lnTo>
                    <a:lnTo>
                      <a:pt x="633380" y="203192"/>
                    </a:lnTo>
                    <a:lnTo>
                      <a:pt x="614159" y="164528"/>
                    </a:lnTo>
                    <a:lnTo>
                      <a:pt x="590263" y="128623"/>
                    </a:lnTo>
                    <a:lnTo>
                      <a:pt x="562011" y="96261"/>
                    </a:lnTo>
                    <a:lnTo>
                      <a:pt x="529775" y="67882"/>
                    </a:lnTo>
                    <a:lnTo>
                      <a:pt x="493928" y="43929"/>
                    </a:lnTo>
                    <a:lnTo>
                      <a:pt x="455212" y="24913"/>
                    </a:lnTo>
                    <a:lnTo>
                      <a:pt x="414502" y="11163"/>
                    </a:lnTo>
                    <a:lnTo>
                      <a:pt x="372373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2" name="object 22" descr="vial.png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97674" y="3760558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23" name="object 23"/>
            <p:cNvSpPr txBox="1"/>
            <p:nvPr/>
          </p:nvSpPr>
          <p:spPr>
            <a:xfrm>
              <a:off x="1349540" y="3543249"/>
              <a:ext cx="2443480" cy="703078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12700" marR="5080">
                <a:lnSpc>
                  <a:spcPct val="108400"/>
                </a:lnSpc>
                <a:spcBef>
                  <a:spcPts val="295"/>
                </a:spcBef>
              </a:pPr>
              <a:r>
                <a:rPr sz="1200" b="1" spc="70" dirty="0">
                  <a:solidFill>
                    <a:srgbClr val="A8DAC8"/>
                  </a:solidFill>
                  <a:latin typeface="Aptos Black"/>
                  <a:cs typeface="Aptos Black"/>
                </a:rPr>
                <a:t>F</a:t>
              </a:r>
              <a:r>
                <a:rPr lang="en-US" sz="1200" b="1" spc="70" dirty="0">
                  <a:solidFill>
                    <a:srgbClr val="A8DAC8"/>
                  </a:solidFill>
                  <a:latin typeface="Aptos Black"/>
                  <a:cs typeface="Aptos Black"/>
                </a:rPr>
                <a:t>3</a:t>
              </a:r>
              <a:r>
                <a:rPr sz="1200" b="1" spc="450" dirty="0">
                  <a:solidFill>
                    <a:srgbClr val="A8DAC8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Four</a:t>
              </a:r>
              <a:r>
                <a:rPr sz="1500" b="1" spc="114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readings</a:t>
              </a:r>
              <a:r>
                <a:rPr sz="1500" b="1" spc="114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per</a:t>
              </a:r>
              <a:r>
                <a:rPr sz="1500" b="1" spc="114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spc="-20" dirty="0">
                  <a:solidFill>
                    <a:srgbClr val="FFFFFF"/>
                  </a:solidFill>
                  <a:latin typeface="Aptos Black"/>
                  <a:cs typeface="Aptos Black"/>
                </a:rPr>
                <a:t>point </a:t>
              </a:r>
              <a:r>
                <a:rPr sz="1300" spc="2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pH,</a:t>
              </a:r>
              <a:r>
                <a:rPr sz="1300" spc="1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lang="en-US" sz="1300" spc="1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electrical </a:t>
              </a:r>
              <a:r>
                <a:rPr sz="1300" spc="2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conductivity</a:t>
              </a:r>
              <a:r>
                <a:rPr sz="1300" spc="18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8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(EC),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temperature</a:t>
              </a:r>
              <a:r>
                <a:rPr sz="1300" spc="2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and</a:t>
              </a:r>
              <a:r>
                <a:rPr sz="1300" spc="2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moisture.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140849-3328-4CAA-4D0B-DAAB0F35FD37}"/>
              </a:ext>
            </a:extLst>
          </p:cNvPr>
          <p:cNvGrpSpPr/>
          <p:nvPr/>
        </p:nvGrpSpPr>
        <p:grpSpPr>
          <a:xfrm>
            <a:off x="4194695" y="3096095"/>
            <a:ext cx="3655060" cy="1572895"/>
            <a:chOff x="8195754" y="3145675"/>
            <a:chExt cx="3655060" cy="1572895"/>
          </a:xfrm>
        </p:grpSpPr>
        <p:grpSp>
          <p:nvGrpSpPr>
            <p:cNvPr id="29" name="object 29"/>
            <p:cNvGrpSpPr/>
            <p:nvPr/>
          </p:nvGrpSpPr>
          <p:grpSpPr>
            <a:xfrm>
              <a:off x="8195754" y="3145675"/>
              <a:ext cx="3655060" cy="1572895"/>
              <a:chOff x="8195754" y="3145675"/>
              <a:chExt cx="3655060" cy="1572895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8195754" y="3145675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59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10"/>
                    </a:lnTo>
                    <a:lnTo>
                      <a:pt x="116554" y="14283"/>
                    </a:lnTo>
                    <a:lnTo>
                      <a:pt x="73701" y="38944"/>
                    </a:lnTo>
                    <a:lnTo>
                      <a:pt x="38944" y="73701"/>
                    </a:lnTo>
                    <a:lnTo>
                      <a:pt x="14283" y="116554"/>
                    </a:lnTo>
                    <a:lnTo>
                      <a:pt x="1610" y="163985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10" y="1408860"/>
                    </a:lnTo>
                    <a:lnTo>
                      <a:pt x="6322" y="1432623"/>
                    </a:lnTo>
                    <a:lnTo>
                      <a:pt x="6394" y="1432983"/>
                    </a:lnTo>
                    <a:lnTo>
                      <a:pt x="14161" y="1455933"/>
                    </a:lnTo>
                    <a:lnTo>
                      <a:pt x="38944" y="1499144"/>
                    </a:lnTo>
                    <a:lnTo>
                      <a:pt x="73701" y="1533910"/>
                    </a:lnTo>
                    <a:lnTo>
                      <a:pt x="116554" y="1558570"/>
                    </a:lnTo>
                    <a:lnTo>
                      <a:pt x="163985" y="1571236"/>
                    </a:lnTo>
                    <a:lnTo>
                      <a:pt x="188645" y="1572844"/>
                    </a:lnTo>
                    <a:lnTo>
                      <a:pt x="3466083" y="1572488"/>
                    </a:lnTo>
                    <a:lnTo>
                      <a:pt x="3514864" y="1566094"/>
                    </a:lnTo>
                    <a:lnTo>
                      <a:pt x="3560406" y="1547279"/>
                    </a:lnTo>
                    <a:lnTo>
                      <a:pt x="3599554" y="1517313"/>
                    </a:lnTo>
                    <a:lnTo>
                      <a:pt x="3629520" y="1478165"/>
                    </a:lnTo>
                    <a:lnTo>
                      <a:pt x="3648213" y="1432983"/>
                    </a:lnTo>
                    <a:lnTo>
                      <a:pt x="3648335" y="1432623"/>
                    </a:lnTo>
                    <a:lnTo>
                      <a:pt x="3653048" y="1408860"/>
                    </a:lnTo>
                    <a:lnTo>
                      <a:pt x="3653119" y="1408503"/>
                    </a:lnTo>
                    <a:lnTo>
                      <a:pt x="3654706" y="1384198"/>
                    </a:lnTo>
                    <a:lnTo>
                      <a:pt x="3654361" y="188645"/>
                    </a:lnTo>
                    <a:lnTo>
                      <a:pt x="3647973" y="139865"/>
                    </a:lnTo>
                    <a:lnTo>
                      <a:pt x="3629164" y="94322"/>
                    </a:lnTo>
                    <a:lnTo>
                      <a:pt x="3599194" y="55175"/>
                    </a:lnTo>
                    <a:lnTo>
                      <a:pt x="3560051" y="25209"/>
                    </a:lnTo>
                    <a:lnTo>
                      <a:pt x="3514509" y="6394"/>
                    </a:lnTo>
                    <a:lnTo>
                      <a:pt x="3490389" y="1610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8397354" y="3602875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5" h="658495">
                    <a:moveTo>
                      <a:pt x="329399" y="0"/>
                    </a:moveTo>
                    <a:lnTo>
                      <a:pt x="286227" y="2813"/>
                    </a:lnTo>
                    <a:lnTo>
                      <a:pt x="243997" y="11163"/>
                    </a:lnTo>
                    <a:lnTo>
                      <a:pt x="203250" y="24913"/>
                    </a:lnTo>
                    <a:lnTo>
                      <a:pt x="164528" y="43929"/>
                    </a:lnTo>
                    <a:lnTo>
                      <a:pt x="128681" y="67882"/>
                    </a:lnTo>
                    <a:lnTo>
                      <a:pt x="96443" y="96261"/>
                    </a:lnTo>
                    <a:lnTo>
                      <a:pt x="68187" y="128623"/>
                    </a:lnTo>
                    <a:lnTo>
                      <a:pt x="44284" y="164528"/>
                    </a:lnTo>
                    <a:lnTo>
                      <a:pt x="25063" y="203192"/>
                    </a:lnTo>
                    <a:lnTo>
                      <a:pt x="11207" y="243814"/>
                    </a:lnTo>
                    <a:lnTo>
                      <a:pt x="2819" y="285922"/>
                    </a:lnTo>
                    <a:lnTo>
                      <a:pt x="0" y="329044"/>
                    </a:lnTo>
                    <a:lnTo>
                      <a:pt x="2819" y="372166"/>
                    </a:lnTo>
                    <a:lnTo>
                      <a:pt x="11207" y="414274"/>
                    </a:lnTo>
                    <a:lnTo>
                      <a:pt x="25063" y="454895"/>
                    </a:lnTo>
                    <a:lnTo>
                      <a:pt x="44284" y="493560"/>
                    </a:lnTo>
                    <a:lnTo>
                      <a:pt x="68187" y="529464"/>
                    </a:lnTo>
                    <a:lnTo>
                      <a:pt x="96443" y="561827"/>
                    </a:lnTo>
                    <a:lnTo>
                      <a:pt x="128681" y="590206"/>
                    </a:lnTo>
                    <a:lnTo>
                      <a:pt x="164528" y="614159"/>
                    </a:lnTo>
                    <a:lnTo>
                      <a:pt x="203250" y="633230"/>
                    </a:lnTo>
                    <a:lnTo>
                      <a:pt x="243997" y="647103"/>
                    </a:lnTo>
                    <a:lnTo>
                      <a:pt x="286227" y="655575"/>
                    </a:lnTo>
                    <a:lnTo>
                      <a:pt x="329399" y="658444"/>
                    </a:lnTo>
                    <a:lnTo>
                      <a:pt x="372373" y="655575"/>
                    </a:lnTo>
                    <a:lnTo>
                      <a:pt x="414502" y="647103"/>
                    </a:lnTo>
                    <a:lnTo>
                      <a:pt x="455212" y="633230"/>
                    </a:lnTo>
                    <a:lnTo>
                      <a:pt x="493928" y="614159"/>
                    </a:lnTo>
                    <a:lnTo>
                      <a:pt x="529775" y="590206"/>
                    </a:lnTo>
                    <a:lnTo>
                      <a:pt x="562013" y="561827"/>
                    </a:lnTo>
                    <a:lnTo>
                      <a:pt x="590269" y="529464"/>
                    </a:lnTo>
                    <a:lnTo>
                      <a:pt x="614172" y="493560"/>
                    </a:lnTo>
                    <a:lnTo>
                      <a:pt x="633391" y="454895"/>
                    </a:lnTo>
                    <a:lnTo>
                      <a:pt x="647242" y="414274"/>
                    </a:lnTo>
                    <a:lnTo>
                      <a:pt x="655627" y="372166"/>
                    </a:lnTo>
                    <a:lnTo>
                      <a:pt x="658444" y="329044"/>
                    </a:lnTo>
                    <a:lnTo>
                      <a:pt x="655627" y="285922"/>
                    </a:lnTo>
                    <a:lnTo>
                      <a:pt x="647242" y="243814"/>
                    </a:lnTo>
                    <a:lnTo>
                      <a:pt x="633391" y="203192"/>
                    </a:lnTo>
                    <a:lnTo>
                      <a:pt x="614172" y="164528"/>
                    </a:lnTo>
                    <a:lnTo>
                      <a:pt x="590269" y="128623"/>
                    </a:lnTo>
                    <a:lnTo>
                      <a:pt x="562013" y="96261"/>
                    </a:lnTo>
                    <a:lnTo>
                      <a:pt x="529775" y="67882"/>
                    </a:lnTo>
                    <a:lnTo>
                      <a:pt x="493928" y="43929"/>
                    </a:lnTo>
                    <a:lnTo>
                      <a:pt x="455212" y="24913"/>
                    </a:lnTo>
                    <a:lnTo>
                      <a:pt x="414502" y="11163"/>
                    </a:lnTo>
                    <a:lnTo>
                      <a:pt x="372373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2" name="object 32" descr="home.png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555406" y="3760558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33" name="object 33"/>
            <p:cNvSpPr txBox="1"/>
            <p:nvPr/>
          </p:nvSpPr>
          <p:spPr>
            <a:xfrm>
              <a:off x="9207258" y="3472827"/>
              <a:ext cx="2268855" cy="9175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219710">
                <a:lnSpc>
                  <a:spcPct val="100000"/>
                </a:lnSpc>
                <a:spcBef>
                  <a:spcPts val="100"/>
                </a:spcBef>
              </a:pPr>
              <a:r>
                <a:rPr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F</a:t>
              </a:r>
              <a:r>
                <a:rPr lang="en-US"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5</a:t>
              </a:r>
              <a:r>
                <a:rPr sz="1200" b="1" spc="425" dirty="0">
                  <a:solidFill>
                    <a:srgbClr val="A8DAC8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Comes</a:t>
              </a:r>
              <a:r>
                <a:rPr sz="1500" b="1" spc="114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home</a:t>
              </a:r>
              <a:r>
                <a:rPr sz="1500" b="1" spc="105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on</a:t>
              </a:r>
              <a:r>
                <a:rPr sz="1500" b="1" spc="105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spc="-25" dirty="0">
                  <a:solidFill>
                    <a:srgbClr val="FFFFFF"/>
                  </a:solidFill>
                  <a:latin typeface="Aptos Black"/>
                  <a:cs typeface="Aptos Black"/>
                </a:rPr>
                <a:t>its own</a:t>
              </a:r>
              <a:endParaRPr sz="1500" dirty="0">
                <a:latin typeface="Aptos Black"/>
                <a:cs typeface="Aptos Black"/>
              </a:endParaRPr>
            </a:p>
            <a:p>
              <a:pPr marL="12700" marR="5080">
                <a:lnSpc>
                  <a:spcPct val="100000"/>
                </a:lnSpc>
                <a:spcBef>
                  <a:spcPts val="300"/>
                </a:spcBef>
              </a:pP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If</a:t>
              </a:r>
              <a:r>
                <a:rPr sz="1300" spc="9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the</a:t>
              </a:r>
              <a:r>
                <a:rPr sz="1300" spc="1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radio</a:t>
              </a:r>
              <a:r>
                <a:rPr sz="1300" spc="1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link</a:t>
              </a:r>
              <a:r>
                <a:rPr sz="1300" spc="1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drops,</a:t>
              </a:r>
              <a:r>
                <a:rPr sz="1300" spc="1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it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2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pulls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the</a:t>
              </a:r>
              <a:r>
                <a:rPr sz="1300" spc="9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probe</a:t>
              </a:r>
              <a:r>
                <a:rPr sz="1300" spc="9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and</a:t>
              </a:r>
              <a:r>
                <a:rPr sz="1300" spc="9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drives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back.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FE1423F-D5CF-B66A-EC86-CD8DAB88B535}"/>
              </a:ext>
            </a:extLst>
          </p:cNvPr>
          <p:cNvGrpSpPr/>
          <p:nvPr/>
        </p:nvGrpSpPr>
        <p:grpSpPr>
          <a:xfrm>
            <a:off x="338035" y="3102178"/>
            <a:ext cx="3655060" cy="1572895"/>
            <a:chOff x="338035" y="4919395"/>
            <a:chExt cx="3655060" cy="1572895"/>
          </a:xfrm>
        </p:grpSpPr>
        <p:grpSp>
          <p:nvGrpSpPr>
            <p:cNvPr id="34" name="object 34"/>
            <p:cNvGrpSpPr/>
            <p:nvPr/>
          </p:nvGrpSpPr>
          <p:grpSpPr>
            <a:xfrm>
              <a:off x="338035" y="4919395"/>
              <a:ext cx="3655060" cy="1572895"/>
              <a:chOff x="338035" y="4919395"/>
              <a:chExt cx="3655060" cy="1572895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338035" y="4919395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60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10"/>
                    </a:lnTo>
                    <a:lnTo>
                      <a:pt x="116554" y="14283"/>
                    </a:lnTo>
                    <a:lnTo>
                      <a:pt x="73701" y="38944"/>
                    </a:lnTo>
                    <a:lnTo>
                      <a:pt x="38944" y="73701"/>
                    </a:lnTo>
                    <a:lnTo>
                      <a:pt x="14283" y="116554"/>
                    </a:lnTo>
                    <a:lnTo>
                      <a:pt x="1610" y="163985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10" y="1408860"/>
                    </a:lnTo>
                    <a:lnTo>
                      <a:pt x="6322" y="1432623"/>
                    </a:lnTo>
                    <a:lnTo>
                      <a:pt x="6394" y="1432983"/>
                    </a:lnTo>
                    <a:lnTo>
                      <a:pt x="25209" y="1478521"/>
                    </a:lnTo>
                    <a:lnTo>
                      <a:pt x="55175" y="1517675"/>
                    </a:lnTo>
                    <a:lnTo>
                      <a:pt x="94322" y="1547647"/>
                    </a:lnTo>
                    <a:lnTo>
                      <a:pt x="139865" y="1566456"/>
                    </a:lnTo>
                    <a:lnTo>
                      <a:pt x="188645" y="1572844"/>
                    </a:lnTo>
                    <a:lnTo>
                      <a:pt x="3466083" y="1572488"/>
                    </a:lnTo>
                    <a:lnTo>
                      <a:pt x="3514864" y="1566094"/>
                    </a:lnTo>
                    <a:lnTo>
                      <a:pt x="3560406" y="1547279"/>
                    </a:lnTo>
                    <a:lnTo>
                      <a:pt x="3599549" y="1517313"/>
                    </a:lnTo>
                    <a:lnTo>
                      <a:pt x="3629520" y="1478165"/>
                    </a:lnTo>
                    <a:lnTo>
                      <a:pt x="3648213" y="1432983"/>
                    </a:lnTo>
                    <a:lnTo>
                      <a:pt x="3648335" y="1432623"/>
                    </a:lnTo>
                    <a:lnTo>
                      <a:pt x="3653048" y="1408860"/>
                    </a:lnTo>
                    <a:lnTo>
                      <a:pt x="3653119" y="1408503"/>
                    </a:lnTo>
                    <a:lnTo>
                      <a:pt x="3654706" y="1384198"/>
                    </a:lnTo>
                    <a:lnTo>
                      <a:pt x="3654361" y="188645"/>
                    </a:lnTo>
                    <a:lnTo>
                      <a:pt x="3647973" y="139865"/>
                    </a:lnTo>
                    <a:lnTo>
                      <a:pt x="3629164" y="94322"/>
                    </a:lnTo>
                    <a:lnTo>
                      <a:pt x="3599192" y="55175"/>
                    </a:lnTo>
                    <a:lnTo>
                      <a:pt x="3560038" y="25209"/>
                    </a:lnTo>
                    <a:lnTo>
                      <a:pt x="3514507" y="6394"/>
                    </a:lnTo>
                    <a:lnTo>
                      <a:pt x="3490388" y="1610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539635" y="5376595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4" h="658495">
                    <a:moveTo>
                      <a:pt x="329399" y="0"/>
                    </a:moveTo>
                    <a:lnTo>
                      <a:pt x="286227" y="2813"/>
                    </a:lnTo>
                    <a:lnTo>
                      <a:pt x="243997" y="11163"/>
                    </a:lnTo>
                    <a:lnTo>
                      <a:pt x="203250" y="24913"/>
                    </a:lnTo>
                    <a:lnTo>
                      <a:pt x="164528" y="43929"/>
                    </a:lnTo>
                    <a:lnTo>
                      <a:pt x="128681" y="67882"/>
                    </a:lnTo>
                    <a:lnTo>
                      <a:pt x="96443" y="96261"/>
                    </a:lnTo>
                    <a:lnTo>
                      <a:pt x="68187" y="128623"/>
                    </a:lnTo>
                    <a:lnTo>
                      <a:pt x="44284" y="164528"/>
                    </a:lnTo>
                    <a:lnTo>
                      <a:pt x="25063" y="203192"/>
                    </a:lnTo>
                    <a:lnTo>
                      <a:pt x="11207" y="243814"/>
                    </a:lnTo>
                    <a:lnTo>
                      <a:pt x="2819" y="285922"/>
                    </a:lnTo>
                    <a:lnTo>
                      <a:pt x="0" y="329044"/>
                    </a:lnTo>
                    <a:lnTo>
                      <a:pt x="2819" y="372166"/>
                    </a:lnTo>
                    <a:lnTo>
                      <a:pt x="11207" y="414274"/>
                    </a:lnTo>
                    <a:lnTo>
                      <a:pt x="25063" y="454895"/>
                    </a:lnTo>
                    <a:lnTo>
                      <a:pt x="44284" y="493560"/>
                    </a:lnTo>
                    <a:lnTo>
                      <a:pt x="68187" y="529464"/>
                    </a:lnTo>
                    <a:lnTo>
                      <a:pt x="96443" y="561827"/>
                    </a:lnTo>
                    <a:lnTo>
                      <a:pt x="128681" y="590206"/>
                    </a:lnTo>
                    <a:lnTo>
                      <a:pt x="164528" y="614159"/>
                    </a:lnTo>
                    <a:lnTo>
                      <a:pt x="203250" y="633230"/>
                    </a:lnTo>
                    <a:lnTo>
                      <a:pt x="243997" y="647103"/>
                    </a:lnTo>
                    <a:lnTo>
                      <a:pt x="286227" y="655575"/>
                    </a:lnTo>
                    <a:lnTo>
                      <a:pt x="329399" y="658444"/>
                    </a:lnTo>
                    <a:lnTo>
                      <a:pt x="372373" y="655575"/>
                    </a:lnTo>
                    <a:lnTo>
                      <a:pt x="414502" y="647103"/>
                    </a:lnTo>
                    <a:lnTo>
                      <a:pt x="455212" y="633230"/>
                    </a:lnTo>
                    <a:lnTo>
                      <a:pt x="493928" y="614159"/>
                    </a:lnTo>
                    <a:lnTo>
                      <a:pt x="529775" y="590206"/>
                    </a:lnTo>
                    <a:lnTo>
                      <a:pt x="562011" y="561827"/>
                    </a:lnTo>
                    <a:lnTo>
                      <a:pt x="590263" y="529464"/>
                    </a:lnTo>
                    <a:lnTo>
                      <a:pt x="614159" y="493560"/>
                    </a:lnTo>
                    <a:lnTo>
                      <a:pt x="633380" y="454895"/>
                    </a:lnTo>
                    <a:lnTo>
                      <a:pt x="647236" y="414274"/>
                    </a:lnTo>
                    <a:lnTo>
                      <a:pt x="655625" y="372166"/>
                    </a:lnTo>
                    <a:lnTo>
                      <a:pt x="658444" y="329044"/>
                    </a:lnTo>
                    <a:lnTo>
                      <a:pt x="655625" y="285922"/>
                    </a:lnTo>
                    <a:lnTo>
                      <a:pt x="647236" y="243814"/>
                    </a:lnTo>
                    <a:lnTo>
                      <a:pt x="633380" y="203192"/>
                    </a:lnTo>
                    <a:lnTo>
                      <a:pt x="614159" y="164528"/>
                    </a:lnTo>
                    <a:lnTo>
                      <a:pt x="590263" y="128623"/>
                    </a:lnTo>
                    <a:lnTo>
                      <a:pt x="562011" y="96261"/>
                    </a:lnTo>
                    <a:lnTo>
                      <a:pt x="529775" y="67882"/>
                    </a:lnTo>
                    <a:lnTo>
                      <a:pt x="493928" y="43929"/>
                    </a:lnTo>
                    <a:lnTo>
                      <a:pt x="455212" y="24913"/>
                    </a:lnTo>
                    <a:lnTo>
                      <a:pt x="414502" y="11163"/>
                    </a:lnTo>
                    <a:lnTo>
                      <a:pt x="372373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7" name="object 37" descr="sun.png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97674" y="5534279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38" name="object 38"/>
            <p:cNvSpPr txBox="1"/>
            <p:nvPr/>
          </p:nvSpPr>
          <p:spPr>
            <a:xfrm>
              <a:off x="1349540" y="5217972"/>
              <a:ext cx="1977389" cy="931544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12700" algn="just">
                <a:lnSpc>
                  <a:spcPct val="100000"/>
                </a:lnSpc>
                <a:spcBef>
                  <a:spcPts val="445"/>
                </a:spcBef>
              </a:pPr>
              <a:r>
                <a:rPr sz="1200" b="1" dirty="0">
                  <a:solidFill>
                    <a:srgbClr val="A8DAC8"/>
                  </a:solidFill>
                  <a:latin typeface="Aptos Black"/>
                  <a:cs typeface="Aptos Black"/>
                </a:rPr>
                <a:t>F</a:t>
              </a:r>
              <a:r>
                <a:rPr lang="en-US" sz="1200" b="1" dirty="0">
                  <a:solidFill>
                    <a:srgbClr val="A8DAC8"/>
                  </a:solidFill>
                  <a:latin typeface="Aptos Black"/>
                  <a:cs typeface="Aptos Black"/>
                </a:rPr>
                <a:t>4</a:t>
              </a:r>
              <a:r>
                <a:rPr sz="1200" b="1" spc="155" dirty="0">
                  <a:solidFill>
                    <a:srgbClr val="A8DAC8"/>
                  </a:solidFill>
                  <a:latin typeface="Aptos Black"/>
                  <a:cs typeface="Aptos Black"/>
                </a:rPr>
                <a:t> 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Sun-</a:t>
              </a:r>
              <a:r>
                <a:rPr sz="1500" b="1" spc="-10" dirty="0">
                  <a:solidFill>
                    <a:srgbClr val="FFFFFF"/>
                  </a:solidFill>
                  <a:latin typeface="Aptos Black"/>
                  <a:cs typeface="Aptos Black"/>
                </a:rPr>
                <a:t>powered</a:t>
              </a:r>
              <a:endParaRPr sz="1500" dirty="0">
                <a:latin typeface="Aptos Black"/>
                <a:cs typeface="Aptos Black"/>
              </a:endParaRPr>
            </a:p>
            <a:p>
              <a:pPr marL="12700" marR="5080" algn="just">
                <a:lnSpc>
                  <a:spcPct val="100000"/>
                </a:lnSpc>
                <a:spcBef>
                  <a:spcPts val="300"/>
                </a:spcBef>
              </a:pP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</a:t>
              </a:r>
              <a:r>
                <a:rPr sz="1300" spc="1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solar</a:t>
              </a:r>
              <a:r>
                <a:rPr sz="1300" spc="13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panel</a:t>
              </a:r>
              <a:r>
                <a:rPr sz="1300" spc="1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tops</a:t>
              </a:r>
              <a:r>
                <a:rPr sz="1300" spc="14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up</a:t>
              </a:r>
              <a:r>
                <a:rPr sz="1300" spc="1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2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the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battery;</a:t>
              </a:r>
              <a:r>
                <a:rPr sz="1300" spc="1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plug</a:t>
              </a:r>
              <a:r>
                <a:rPr sz="1300" spc="114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in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to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4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charge </a:t>
              </a:r>
              <a:r>
                <a:rPr sz="1300" spc="5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between</a:t>
              </a:r>
              <a:r>
                <a:rPr sz="1300" spc="1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3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runs.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D5E258A-B716-CEC3-53E0-1EA677468F4F}"/>
              </a:ext>
            </a:extLst>
          </p:cNvPr>
          <p:cNvGrpSpPr/>
          <p:nvPr/>
        </p:nvGrpSpPr>
        <p:grpSpPr>
          <a:xfrm>
            <a:off x="8051355" y="3102177"/>
            <a:ext cx="3655060" cy="1572895"/>
            <a:chOff x="4266717" y="4919395"/>
            <a:chExt cx="3655060" cy="1572895"/>
          </a:xfrm>
        </p:grpSpPr>
        <p:grpSp>
          <p:nvGrpSpPr>
            <p:cNvPr id="39" name="object 39"/>
            <p:cNvGrpSpPr/>
            <p:nvPr/>
          </p:nvGrpSpPr>
          <p:grpSpPr>
            <a:xfrm>
              <a:off x="4266717" y="4919395"/>
              <a:ext cx="3655060" cy="1572895"/>
              <a:chOff x="4266717" y="4919395"/>
              <a:chExt cx="3655060" cy="1572895"/>
            </a:xfrm>
          </p:grpSpPr>
          <p:sp>
            <p:nvSpPr>
              <p:cNvPr id="40" name="object 40"/>
              <p:cNvSpPr/>
              <p:nvPr/>
            </p:nvSpPr>
            <p:spPr>
              <a:xfrm>
                <a:off x="4266717" y="4919395"/>
                <a:ext cx="3655060" cy="1572895"/>
              </a:xfrm>
              <a:custGeom>
                <a:avLst/>
                <a:gdLst/>
                <a:ahLst/>
                <a:cxnLst/>
                <a:rect l="l" t="t" r="r" b="b"/>
                <a:pathLst>
                  <a:path w="3655059" h="1572895">
                    <a:moveTo>
                      <a:pt x="3465728" y="0"/>
                    </a:moveTo>
                    <a:lnTo>
                      <a:pt x="188645" y="0"/>
                    </a:lnTo>
                    <a:lnTo>
                      <a:pt x="163985" y="1610"/>
                    </a:lnTo>
                    <a:lnTo>
                      <a:pt x="116554" y="14283"/>
                    </a:lnTo>
                    <a:lnTo>
                      <a:pt x="73699" y="38944"/>
                    </a:lnTo>
                    <a:lnTo>
                      <a:pt x="38933" y="73701"/>
                    </a:lnTo>
                    <a:lnTo>
                      <a:pt x="14278" y="116554"/>
                    </a:lnTo>
                    <a:lnTo>
                      <a:pt x="1609" y="163985"/>
                    </a:lnTo>
                    <a:lnTo>
                      <a:pt x="0" y="188645"/>
                    </a:lnTo>
                    <a:lnTo>
                      <a:pt x="0" y="1384198"/>
                    </a:lnTo>
                    <a:lnTo>
                      <a:pt x="1586" y="1408503"/>
                    </a:lnTo>
                    <a:lnTo>
                      <a:pt x="1609" y="1408860"/>
                    </a:lnTo>
                    <a:lnTo>
                      <a:pt x="6321" y="1432623"/>
                    </a:lnTo>
                    <a:lnTo>
                      <a:pt x="6392" y="1432983"/>
                    </a:lnTo>
                    <a:lnTo>
                      <a:pt x="14156" y="1455933"/>
                    </a:lnTo>
                    <a:lnTo>
                      <a:pt x="38933" y="1499144"/>
                    </a:lnTo>
                    <a:lnTo>
                      <a:pt x="73699" y="1533910"/>
                    </a:lnTo>
                    <a:lnTo>
                      <a:pt x="116554" y="1558570"/>
                    </a:lnTo>
                    <a:lnTo>
                      <a:pt x="163985" y="1571236"/>
                    </a:lnTo>
                    <a:lnTo>
                      <a:pt x="188645" y="1572844"/>
                    </a:lnTo>
                    <a:lnTo>
                      <a:pt x="3466083" y="1572488"/>
                    </a:lnTo>
                    <a:lnTo>
                      <a:pt x="3514864" y="1566094"/>
                    </a:lnTo>
                    <a:lnTo>
                      <a:pt x="3560406" y="1547279"/>
                    </a:lnTo>
                    <a:lnTo>
                      <a:pt x="3599549" y="1517313"/>
                    </a:lnTo>
                    <a:lnTo>
                      <a:pt x="3629520" y="1478165"/>
                    </a:lnTo>
                    <a:lnTo>
                      <a:pt x="3648207" y="1432983"/>
                    </a:lnTo>
                    <a:lnTo>
                      <a:pt x="3648329" y="1432623"/>
                    </a:lnTo>
                    <a:lnTo>
                      <a:pt x="3653038" y="1408860"/>
                    </a:lnTo>
                    <a:lnTo>
                      <a:pt x="3653108" y="1408503"/>
                    </a:lnTo>
                    <a:lnTo>
                      <a:pt x="3654693" y="1384198"/>
                    </a:lnTo>
                    <a:lnTo>
                      <a:pt x="3654717" y="1383842"/>
                    </a:lnTo>
                    <a:lnTo>
                      <a:pt x="3654361" y="188645"/>
                    </a:lnTo>
                    <a:lnTo>
                      <a:pt x="3647973" y="139865"/>
                    </a:lnTo>
                    <a:lnTo>
                      <a:pt x="3629164" y="94322"/>
                    </a:lnTo>
                    <a:lnTo>
                      <a:pt x="3599192" y="55175"/>
                    </a:lnTo>
                    <a:lnTo>
                      <a:pt x="3560038" y="25209"/>
                    </a:lnTo>
                    <a:lnTo>
                      <a:pt x="3514502" y="6394"/>
                    </a:lnTo>
                    <a:lnTo>
                      <a:pt x="3490383" y="1610"/>
                    </a:lnTo>
                    <a:lnTo>
                      <a:pt x="3465728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4468317" y="5376595"/>
                <a:ext cx="658495" cy="658495"/>
              </a:xfrm>
              <a:custGeom>
                <a:avLst/>
                <a:gdLst/>
                <a:ahLst/>
                <a:cxnLst/>
                <a:rect l="l" t="t" r="r" b="b"/>
                <a:pathLst>
                  <a:path w="658495" h="658495">
                    <a:moveTo>
                      <a:pt x="329399" y="0"/>
                    </a:moveTo>
                    <a:lnTo>
                      <a:pt x="286222" y="2813"/>
                    </a:lnTo>
                    <a:lnTo>
                      <a:pt x="243992" y="11163"/>
                    </a:lnTo>
                    <a:lnTo>
                      <a:pt x="203248" y="24913"/>
                    </a:lnTo>
                    <a:lnTo>
                      <a:pt x="164528" y="43929"/>
                    </a:lnTo>
                    <a:lnTo>
                      <a:pt x="128675" y="67882"/>
                    </a:lnTo>
                    <a:lnTo>
                      <a:pt x="96439" y="96261"/>
                    </a:lnTo>
                    <a:lnTo>
                      <a:pt x="68186" y="128623"/>
                    </a:lnTo>
                    <a:lnTo>
                      <a:pt x="44284" y="164528"/>
                    </a:lnTo>
                    <a:lnTo>
                      <a:pt x="25063" y="203192"/>
                    </a:lnTo>
                    <a:lnTo>
                      <a:pt x="11207" y="243814"/>
                    </a:lnTo>
                    <a:lnTo>
                      <a:pt x="2819" y="285922"/>
                    </a:lnTo>
                    <a:lnTo>
                      <a:pt x="0" y="329044"/>
                    </a:lnTo>
                    <a:lnTo>
                      <a:pt x="2819" y="372166"/>
                    </a:lnTo>
                    <a:lnTo>
                      <a:pt x="11207" y="414274"/>
                    </a:lnTo>
                    <a:lnTo>
                      <a:pt x="25063" y="454895"/>
                    </a:lnTo>
                    <a:lnTo>
                      <a:pt x="44284" y="493560"/>
                    </a:lnTo>
                    <a:lnTo>
                      <a:pt x="68186" y="529464"/>
                    </a:lnTo>
                    <a:lnTo>
                      <a:pt x="96439" y="561827"/>
                    </a:lnTo>
                    <a:lnTo>
                      <a:pt x="128675" y="590206"/>
                    </a:lnTo>
                    <a:lnTo>
                      <a:pt x="164528" y="614159"/>
                    </a:lnTo>
                    <a:lnTo>
                      <a:pt x="203248" y="633230"/>
                    </a:lnTo>
                    <a:lnTo>
                      <a:pt x="243992" y="647103"/>
                    </a:lnTo>
                    <a:lnTo>
                      <a:pt x="286222" y="655575"/>
                    </a:lnTo>
                    <a:lnTo>
                      <a:pt x="329399" y="658444"/>
                    </a:lnTo>
                    <a:lnTo>
                      <a:pt x="372372" y="655575"/>
                    </a:lnTo>
                    <a:lnTo>
                      <a:pt x="414497" y="647103"/>
                    </a:lnTo>
                    <a:lnTo>
                      <a:pt x="455206" y="633230"/>
                    </a:lnTo>
                    <a:lnTo>
                      <a:pt x="493928" y="614159"/>
                    </a:lnTo>
                    <a:lnTo>
                      <a:pt x="529775" y="590206"/>
                    </a:lnTo>
                    <a:lnTo>
                      <a:pt x="562011" y="561827"/>
                    </a:lnTo>
                    <a:lnTo>
                      <a:pt x="590263" y="529464"/>
                    </a:lnTo>
                    <a:lnTo>
                      <a:pt x="614159" y="493560"/>
                    </a:lnTo>
                    <a:lnTo>
                      <a:pt x="633380" y="454895"/>
                    </a:lnTo>
                    <a:lnTo>
                      <a:pt x="647236" y="414274"/>
                    </a:lnTo>
                    <a:lnTo>
                      <a:pt x="655625" y="372166"/>
                    </a:lnTo>
                    <a:lnTo>
                      <a:pt x="658444" y="329044"/>
                    </a:lnTo>
                    <a:lnTo>
                      <a:pt x="655625" y="285922"/>
                    </a:lnTo>
                    <a:lnTo>
                      <a:pt x="647236" y="243814"/>
                    </a:lnTo>
                    <a:lnTo>
                      <a:pt x="633380" y="203192"/>
                    </a:lnTo>
                    <a:lnTo>
                      <a:pt x="614159" y="164528"/>
                    </a:lnTo>
                    <a:lnTo>
                      <a:pt x="590263" y="128623"/>
                    </a:lnTo>
                    <a:lnTo>
                      <a:pt x="562011" y="96261"/>
                    </a:lnTo>
                    <a:lnTo>
                      <a:pt x="529775" y="67882"/>
                    </a:lnTo>
                    <a:lnTo>
                      <a:pt x="493928" y="43929"/>
                    </a:lnTo>
                    <a:lnTo>
                      <a:pt x="455206" y="24913"/>
                    </a:lnTo>
                    <a:lnTo>
                      <a:pt x="414497" y="11163"/>
                    </a:lnTo>
                    <a:lnTo>
                      <a:pt x="372372" y="2813"/>
                    </a:lnTo>
                    <a:lnTo>
                      <a:pt x="329399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2" name="object 42" descr="map.png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626356" y="5534279"/>
                <a:ext cx="341998" cy="341998"/>
              </a:xfrm>
              <a:prstGeom prst="rect">
                <a:avLst/>
              </a:prstGeom>
            </p:spPr>
          </p:pic>
        </p:grpSp>
        <p:sp>
          <p:nvSpPr>
            <p:cNvPr id="43" name="object 43"/>
            <p:cNvSpPr txBox="1"/>
            <p:nvPr/>
          </p:nvSpPr>
          <p:spPr>
            <a:xfrm>
              <a:off x="5278221" y="5147907"/>
              <a:ext cx="2430780" cy="111633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42595">
                <a:lnSpc>
                  <a:spcPct val="100000"/>
                </a:lnSpc>
                <a:spcBef>
                  <a:spcPts val="100"/>
                </a:spcBef>
              </a:pPr>
              <a:r>
                <a:rPr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F</a:t>
              </a:r>
              <a:r>
                <a:rPr lang="en-US" sz="1200" b="1" spc="55" dirty="0">
                  <a:solidFill>
                    <a:srgbClr val="A8DAC8"/>
                  </a:solidFill>
                  <a:latin typeface="Aptos Black"/>
                  <a:cs typeface="Aptos Black"/>
                </a:rPr>
                <a:t>6</a:t>
              </a:r>
              <a:r>
                <a:rPr sz="1200" b="1" spc="340" dirty="0">
                  <a:solidFill>
                    <a:srgbClr val="A8DAC8"/>
                  </a:solidFill>
                  <a:latin typeface="Aptos Black"/>
                  <a:cs typeface="Aptos Black"/>
                </a:rPr>
                <a:t> </a:t>
              </a:r>
              <a:r>
                <a:rPr sz="1500" b="1" spc="160" dirty="0">
                  <a:solidFill>
                    <a:srgbClr val="FFFFFF"/>
                  </a:solidFill>
                  <a:latin typeface="Aptos Black"/>
                  <a:cs typeface="Aptos Black"/>
                </a:rPr>
                <a:t>A</a:t>
              </a:r>
              <a:r>
                <a:rPr sz="1500" b="1" spc="45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field</a:t>
              </a:r>
              <a:r>
                <a:rPr sz="1500" b="1" spc="60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lang="en-US" sz="1500" b="1" spc="60" dirty="0">
                  <a:solidFill>
                    <a:srgbClr val="FFFFFF"/>
                  </a:solidFill>
                  <a:latin typeface="Aptos Black"/>
                  <a:cs typeface="Aptos Black"/>
                </a:rPr>
                <a:t>heat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map</a:t>
              </a:r>
              <a:r>
                <a:rPr sz="1500" b="1" spc="65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dirty="0">
                  <a:solidFill>
                    <a:srgbClr val="FFFFFF"/>
                  </a:solidFill>
                  <a:latin typeface="Aptos Black"/>
                  <a:cs typeface="Aptos Black"/>
                </a:rPr>
                <a:t>for</a:t>
              </a:r>
              <a:r>
                <a:rPr sz="1500" b="1" spc="55" dirty="0">
                  <a:solidFill>
                    <a:srgbClr val="FFFFFF"/>
                  </a:solidFill>
                  <a:latin typeface="Aptos Black"/>
                  <a:cs typeface="Aptos Black"/>
                </a:rPr>
                <a:t> </a:t>
              </a:r>
              <a:r>
                <a:rPr sz="1500" b="1" spc="-25" dirty="0">
                  <a:solidFill>
                    <a:srgbClr val="FFFFFF"/>
                  </a:solidFill>
                  <a:latin typeface="Aptos Black"/>
                  <a:cs typeface="Aptos Black"/>
                </a:rPr>
                <a:t>the </a:t>
              </a:r>
              <a:r>
                <a:rPr sz="1500" b="1" spc="-10" dirty="0">
                  <a:solidFill>
                    <a:srgbClr val="FFFFFF"/>
                  </a:solidFill>
                  <a:latin typeface="Aptos Black"/>
                  <a:cs typeface="Aptos Black"/>
                </a:rPr>
                <a:t>farmer</a:t>
              </a:r>
              <a:endParaRPr sz="1500" dirty="0">
                <a:latin typeface="Aptos Black"/>
                <a:cs typeface="Aptos Black"/>
              </a:endParaRPr>
            </a:p>
            <a:p>
              <a:pPr marL="12700" marR="5080">
                <a:lnSpc>
                  <a:spcPct val="100000"/>
                </a:lnSpc>
                <a:spcBef>
                  <a:spcPts val="300"/>
                </a:spcBef>
              </a:pPr>
              <a:r>
                <a:rPr sz="1300" spc="8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The</a:t>
              </a:r>
              <a:r>
                <a:rPr sz="1300" spc="4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base</a:t>
              </a: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logs</a:t>
              </a:r>
              <a:r>
                <a:rPr sz="1300" spc="4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7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each</a:t>
              </a: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reading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with</a:t>
              </a:r>
              <a:r>
                <a:rPr sz="1300" spc="114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its</a:t>
              </a:r>
              <a:r>
                <a:rPr sz="1300" spc="1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location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for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6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</a:t>
              </a:r>
              <a:r>
                <a:rPr sz="1300" spc="10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map</a:t>
              </a:r>
              <a:r>
                <a:rPr sz="1300" spc="1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4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view </a:t>
              </a:r>
              <a:r>
                <a:rPr sz="130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and</a:t>
              </a:r>
              <a:r>
                <a:rPr sz="1300" spc="5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lang="en-US" sz="1300" spc="12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file</a:t>
              </a:r>
              <a:r>
                <a:rPr sz="1300" spc="7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 </a:t>
              </a:r>
              <a:r>
                <a:rPr sz="1300" spc="-10" dirty="0">
                  <a:solidFill>
                    <a:srgbClr val="D3ECE3"/>
                  </a:solidFill>
                  <a:latin typeface="Segoe UI Symbol"/>
                  <a:cs typeface="Segoe UI Symbol"/>
                </a:rPr>
                <a:t>export.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721735" cy="532765"/>
          </a:xfrm>
          <a:custGeom>
            <a:avLst/>
            <a:gdLst/>
            <a:ahLst/>
            <a:cxnLst/>
            <a:rect l="l" t="t" r="r" b="b"/>
            <a:pathLst>
              <a:path w="3721735" h="532765">
                <a:moveTo>
                  <a:pt x="3721315" y="0"/>
                </a:moveTo>
                <a:lnTo>
                  <a:pt x="0" y="0"/>
                </a:lnTo>
                <a:lnTo>
                  <a:pt x="0" y="532434"/>
                </a:lnTo>
                <a:lnTo>
                  <a:pt x="1860842" y="532434"/>
                </a:lnTo>
                <a:lnTo>
                  <a:pt x="3721315" y="532434"/>
                </a:lnTo>
                <a:lnTo>
                  <a:pt x="3721315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>
              <a:lnSpc>
                <a:spcPct val="100000"/>
              </a:lnSpc>
              <a:spcBef>
                <a:spcPts val="100"/>
              </a:spcBef>
            </a:pPr>
            <a:r>
              <a:rPr spc="105"/>
              <a:t>Constraints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50533" y="1336371"/>
            <a:ext cx="2672715" cy="2432685"/>
            <a:chOff x="338035" y="1370876"/>
            <a:chExt cx="2672715" cy="2432685"/>
          </a:xfrm>
        </p:grpSpPr>
        <p:sp>
          <p:nvSpPr>
            <p:cNvPr id="5" name="object 5"/>
            <p:cNvSpPr/>
            <p:nvPr/>
          </p:nvSpPr>
          <p:spPr>
            <a:xfrm>
              <a:off x="338035" y="1370876"/>
              <a:ext cx="2672715" cy="2432685"/>
            </a:xfrm>
            <a:custGeom>
              <a:avLst/>
              <a:gdLst/>
              <a:ahLst/>
              <a:cxnLst/>
              <a:rect l="l" t="t" r="r" b="b"/>
              <a:pathLst>
                <a:path w="2672715" h="2432685">
                  <a:moveTo>
                    <a:pt x="243725" y="0"/>
                  </a:moveTo>
                  <a:lnTo>
                    <a:pt x="180724" y="8415"/>
                  </a:lnTo>
                  <a:lnTo>
                    <a:pt x="122046" y="32766"/>
                  </a:lnTo>
                  <a:lnTo>
                    <a:pt x="71645" y="71283"/>
                  </a:lnTo>
                  <a:lnTo>
                    <a:pt x="33121" y="121678"/>
                  </a:lnTo>
                  <a:lnTo>
                    <a:pt x="8643" y="180362"/>
                  </a:lnTo>
                  <a:lnTo>
                    <a:pt x="368" y="243370"/>
                  </a:lnTo>
                  <a:lnTo>
                    <a:pt x="0" y="2189162"/>
                  </a:lnTo>
                  <a:lnTo>
                    <a:pt x="2131" y="2221033"/>
                  </a:lnTo>
                  <a:lnTo>
                    <a:pt x="18682" y="2282213"/>
                  </a:lnTo>
                  <a:lnTo>
                    <a:pt x="50403" y="2337392"/>
                  </a:lnTo>
                  <a:lnTo>
                    <a:pt x="95132" y="2382123"/>
                  </a:lnTo>
                  <a:lnTo>
                    <a:pt x="150312" y="2413997"/>
                  </a:lnTo>
                  <a:lnTo>
                    <a:pt x="211493" y="2430440"/>
                  </a:lnTo>
                  <a:lnTo>
                    <a:pt x="243370" y="2432519"/>
                  </a:lnTo>
                  <a:lnTo>
                    <a:pt x="2429281" y="2432519"/>
                  </a:lnTo>
                  <a:lnTo>
                    <a:pt x="2460378" y="2430440"/>
                  </a:lnTo>
                  <a:lnTo>
                    <a:pt x="2460895" y="2430440"/>
                  </a:lnTo>
                  <a:lnTo>
                    <a:pt x="2522332" y="2413842"/>
                  </a:lnTo>
                  <a:lnTo>
                    <a:pt x="2577511" y="2382123"/>
                  </a:lnTo>
                  <a:lnTo>
                    <a:pt x="2622242" y="2337392"/>
                  </a:lnTo>
                  <a:lnTo>
                    <a:pt x="2654116" y="2282213"/>
                  </a:lnTo>
                  <a:lnTo>
                    <a:pt x="2670558" y="2221033"/>
                  </a:lnTo>
                  <a:lnTo>
                    <a:pt x="2672638" y="2189162"/>
                  </a:lnTo>
                  <a:lnTo>
                    <a:pt x="2672615" y="243370"/>
                  </a:lnTo>
                  <a:lnTo>
                    <a:pt x="2664225" y="180724"/>
                  </a:lnTo>
                  <a:lnTo>
                    <a:pt x="2639885" y="122047"/>
                  </a:lnTo>
                  <a:lnTo>
                    <a:pt x="2601361" y="71645"/>
                  </a:lnTo>
                  <a:lnTo>
                    <a:pt x="2550960" y="33121"/>
                  </a:lnTo>
                  <a:lnTo>
                    <a:pt x="2492282" y="8643"/>
                  </a:lnTo>
                  <a:lnTo>
                    <a:pt x="2429281" y="368"/>
                  </a:lnTo>
                  <a:lnTo>
                    <a:pt x="243725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6635" y="169128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15" y="9313"/>
                  </a:lnTo>
                  <a:lnTo>
                    <a:pt x="137160" y="36715"/>
                  </a:lnTo>
                  <a:lnTo>
                    <a:pt x="80329" y="80317"/>
                  </a:lnTo>
                  <a:lnTo>
                    <a:pt x="36728" y="137159"/>
                  </a:lnTo>
                  <a:lnTo>
                    <a:pt x="9315" y="203306"/>
                  </a:lnTo>
                  <a:lnTo>
                    <a:pt x="0" y="274319"/>
                  </a:lnTo>
                  <a:lnTo>
                    <a:pt x="2345" y="310226"/>
                  </a:lnTo>
                  <a:lnTo>
                    <a:pt x="20809" y="379209"/>
                  </a:lnTo>
                  <a:lnTo>
                    <a:pt x="56723" y="441397"/>
                  </a:lnTo>
                  <a:lnTo>
                    <a:pt x="107242" y="491916"/>
                  </a:lnTo>
                  <a:lnTo>
                    <a:pt x="169430" y="527830"/>
                  </a:lnTo>
                  <a:lnTo>
                    <a:pt x="238413" y="546294"/>
                  </a:lnTo>
                  <a:lnTo>
                    <a:pt x="274320" y="548639"/>
                  </a:lnTo>
                  <a:lnTo>
                    <a:pt x="310233" y="546294"/>
                  </a:lnTo>
                  <a:lnTo>
                    <a:pt x="379217" y="527830"/>
                  </a:lnTo>
                  <a:lnTo>
                    <a:pt x="441404" y="491916"/>
                  </a:lnTo>
                  <a:lnTo>
                    <a:pt x="491929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40" y="274319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9" y="107235"/>
                  </a:lnTo>
                  <a:lnTo>
                    <a:pt x="441404" y="56710"/>
                  </a:lnTo>
                  <a:lnTo>
                    <a:pt x="379217" y="20804"/>
                  </a:lnTo>
                  <a:lnTo>
                    <a:pt x="310233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dollar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754" y="1823046"/>
              <a:ext cx="284759" cy="28475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752233" y="1824076"/>
            <a:ext cx="217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65">
                <a:solidFill>
                  <a:srgbClr val="A8DAC8"/>
                </a:solidFill>
                <a:latin typeface="Aptos Black"/>
                <a:cs typeface="Aptos Black"/>
              </a:rPr>
              <a:t>C1</a:t>
            </a:r>
            <a:endParaRPr sz="1300">
              <a:latin typeface="Aptos Black"/>
              <a:cs typeface="Aptos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6802" y="2396397"/>
            <a:ext cx="1972945" cy="68307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00" b="1" spc="215" dirty="0">
                <a:solidFill>
                  <a:srgbClr val="FFFFFF"/>
                </a:solidFill>
                <a:latin typeface="Aptos Black"/>
                <a:cs typeface="Aptos Black"/>
              </a:rPr>
              <a:t>≤</a:t>
            </a:r>
            <a:r>
              <a:rPr sz="2200" b="1" spc="6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2200" b="1" spc="50" dirty="0">
                <a:solidFill>
                  <a:srgbClr val="FFFFFF"/>
                </a:solidFill>
                <a:latin typeface="Aptos Black"/>
                <a:cs typeface="Aptos Black"/>
              </a:rPr>
              <a:t>$1,000</a:t>
            </a:r>
            <a:endParaRPr sz="2200" dirty="0">
              <a:latin typeface="Aptos Black"/>
              <a:cs typeface="Aptos Black"/>
            </a:endParaRPr>
          </a:p>
          <a:p>
            <a:pPr marL="12700" marR="5080">
              <a:lnSpc>
                <a:spcPct val="109100"/>
              </a:lnSpc>
              <a:spcBef>
                <a:spcPts val="245"/>
              </a:spcBef>
            </a:pPr>
            <a:r>
              <a:rPr sz="1400" b="1" dirty="0">
                <a:solidFill>
                  <a:srgbClr val="D3ECE3"/>
                </a:solidFill>
                <a:latin typeface="Aptos Black"/>
                <a:cs typeface="Aptos Black"/>
              </a:rPr>
              <a:t>Total</a:t>
            </a:r>
            <a:r>
              <a:rPr sz="1400" b="1" spc="50" dirty="0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400" b="1" dirty="0">
                <a:solidFill>
                  <a:srgbClr val="D3ECE3"/>
                </a:solidFill>
                <a:latin typeface="Aptos Black"/>
                <a:cs typeface="Aptos Black"/>
              </a:rPr>
              <a:t>project</a:t>
            </a:r>
            <a:r>
              <a:rPr sz="1400" b="1" spc="50" dirty="0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400" b="1" spc="-10" dirty="0">
                <a:solidFill>
                  <a:srgbClr val="D3ECE3"/>
                </a:solidFill>
                <a:latin typeface="Aptos Black"/>
                <a:cs typeface="Aptos Black"/>
              </a:rPr>
              <a:t>budget </a:t>
            </a:r>
            <a:endParaRPr sz="1300" dirty="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97137" y="1336371"/>
            <a:ext cx="2672715" cy="2432685"/>
            <a:chOff x="3284639" y="1370876"/>
            <a:chExt cx="2672715" cy="2432685"/>
          </a:xfrm>
        </p:grpSpPr>
        <p:sp>
          <p:nvSpPr>
            <p:cNvPr id="11" name="object 11"/>
            <p:cNvSpPr/>
            <p:nvPr/>
          </p:nvSpPr>
          <p:spPr>
            <a:xfrm>
              <a:off x="3284639" y="1370876"/>
              <a:ext cx="2672715" cy="2432685"/>
            </a:xfrm>
            <a:custGeom>
              <a:avLst/>
              <a:gdLst/>
              <a:ahLst/>
              <a:cxnLst/>
              <a:rect l="l" t="t" r="r" b="b"/>
              <a:pathLst>
                <a:path w="2672715" h="2432685">
                  <a:moveTo>
                    <a:pt x="243725" y="0"/>
                  </a:moveTo>
                  <a:lnTo>
                    <a:pt x="180719" y="8415"/>
                  </a:lnTo>
                  <a:lnTo>
                    <a:pt x="122047" y="32766"/>
                  </a:lnTo>
                  <a:lnTo>
                    <a:pt x="71640" y="71283"/>
                  </a:lnTo>
                  <a:lnTo>
                    <a:pt x="33121" y="121678"/>
                  </a:lnTo>
                  <a:lnTo>
                    <a:pt x="8637" y="180362"/>
                  </a:lnTo>
                  <a:lnTo>
                    <a:pt x="355" y="243370"/>
                  </a:lnTo>
                  <a:lnTo>
                    <a:pt x="0" y="2189162"/>
                  </a:lnTo>
                  <a:lnTo>
                    <a:pt x="2131" y="2221033"/>
                  </a:lnTo>
                  <a:lnTo>
                    <a:pt x="18682" y="2282213"/>
                  </a:lnTo>
                  <a:lnTo>
                    <a:pt x="50401" y="2337392"/>
                  </a:lnTo>
                  <a:lnTo>
                    <a:pt x="95127" y="2382123"/>
                  </a:lnTo>
                  <a:lnTo>
                    <a:pt x="150311" y="2413997"/>
                  </a:lnTo>
                  <a:lnTo>
                    <a:pt x="211488" y="2430440"/>
                  </a:lnTo>
                  <a:lnTo>
                    <a:pt x="243357" y="2432519"/>
                  </a:lnTo>
                  <a:lnTo>
                    <a:pt x="2429281" y="2432519"/>
                  </a:lnTo>
                  <a:lnTo>
                    <a:pt x="2460376" y="2430440"/>
                  </a:lnTo>
                  <a:lnTo>
                    <a:pt x="2460894" y="2430440"/>
                  </a:lnTo>
                  <a:lnTo>
                    <a:pt x="2522326" y="2413842"/>
                  </a:lnTo>
                  <a:lnTo>
                    <a:pt x="2577511" y="2382123"/>
                  </a:lnTo>
                  <a:lnTo>
                    <a:pt x="2622242" y="2337392"/>
                  </a:lnTo>
                  <a:lnTo>
                    <a:pt x="2654111" y="2282213"/>
                  </a:lnTo>
                  <a:lnTo>
                    <a:pt x="2670557" y="2221033"/>
                  </a:lnTo>
                  <a:lnTo>
                    <a:pt x="2672638" y="2189162"/>
                  </a:lnTo>
                  <a:lnTo>
                    <a:pt x="2672615" y="243370"/>
                  </a:lnTo>
                  <a:lnTo>
                    <a:pt x="2664225" y="180724"/>
                  </a:lnTo>
                  <a:lnTo>
                    <a:pt x="2639885" y="122047"/>
                  </a:lnTo>
                  <a:lnTo>
                    <a:pt x="2601361" y="71645"/>
                  </a:lnTo>
                  <a:lnTo>
                    <a:pt x="2550960" y="33121"/>
                  </a:lnTo>
                  <a:lnTo>
                    <a:pt x="2492278" y="8643"/>
                  </a:lnTo>
                  <a:lnTo>
                    <a:pt x="2429281" y="368"/>
                  </a:lnTo>
                  <a:lnTo>
                    <a:pt x="243725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13239" y="169128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03311" y="9313"/>
                  </a:lnTo>
                  <a:lnTo>
                    <a:pt x="137160" y="36715"/>
                  </a:lnTo>
                  <a:lnTo>
                    <a:pt x="80327" y="80317"/>
                  </a:lnTo>
                  <a:lnTo>
                    <a:pt x="36715" y="137159"/>
                  </a:lnTo>
                  <a:lnTo>
                    <a:pt x="9313" y="203306"/>
                  </a:lnTo>
                  <a:lnTo>
                    <a:pt x="0" y="274319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7" y="441397"/>
                  </a:lnTo>
                  <a:lnTo>
                    <a:pt x="107242" y="491916"/>
                  </a:lnTo>
                  <a:lnTo>
                    <a:pt x="169424" y="527830"/>
                  </a:lnTo>
                  <a:lnTo>
                    <a:pt x="238411" y="546294"/>
                  </a:lnTo>
                  <a:lnTo>
                    <a:pt x="274320" y="548639"/>
                  </a:lnTo>
                  <a:lnTo>
                    <a:pt x="310228" y="546294"/>
                  </a:lnTo>
                  <a:lnTo>
                    <a:pt x="379215" y="527830"/>
                  </a:lnTo>
                  <a:lnTo>
                    <a:pt x="441399" y="491916"/>
                  </a:lnTo>
                  <a:lnTo>
                    <a:pt x="491927" y="441397"/>
                  </a:lnTo>
                  <a:lnTo>
                    <a:pt x="527835" y="379209"/>
                  </a:lnTo>
                  <a:lnTo>
                    <a:pt x="546294" y="310226"/>
                  </a:lnTo>
                  <a:lnTo>
                    <a:pt x="548640" y="274319"/>
                  </a:lnTo>
                  <a:lnTo>
                    <a:pt x="546294" y="238406"/>
                  </a:lnTo>
                  <a:lnTo>
                    <a:pt x="527835" y="169422"/>
                  </a:lnTo>
                  <a:lnTo>
                    <a:pt x="491927" y="107235"/>
                  </a:lnTo>
                  <a:lnTo>
                    <a:pt x="441399" y="56710"/>
                  </a:lnTo>
                  <a:lnTo>
                    <a:pt x="379215" y="20804"/>
                  </a:lnTo>
                  <a:lnTo>
                    <a:pt x="310228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calendar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5357" y="1823046"/>
              <a:ext cx="284759" cy="28475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698837" y="1824076"/>
            <a:ext cx="2501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>
                <a:solidFill>
                  <a:srgbClr val="A8DAC8"/>
                </a:solidFill>
                <a:latin typeface="Aptos Black"/>
                <a:cs typeface="Aptos Black"/>
              </a:rPr>
              <a:t>C2</a:t>
            </a:r>
            <a:endParaRPr sz="1300">
              <a:latin typeface="Aptos Black"/>
              <a:cs typeface="Aptos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3392" y="2396397"/>
            <a:ext cx="2134235" cy="68108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00" b="1" spc="85" dirty="0">
                <a:solidFill>
                  <a:srgbClr val="FFFFFF"/>
                </a:solidFill>
                <a:latin typeface="Aptos Black"/>
                <a:cs typeface="Aptos Black"/>
              </a:rPr>
              <a:t>Apr</a:t>
            </a:r>
            <a:r>
              <a:rPr sz="2200" b="1" spc="75" dirty="0">
                <a:solidFill>
                  <a:srgbClr val="FFFFFF"/>
                </a:solidFill>
                <a:latin typeface="Aptos Black"/>
                <a:cs typeface="Aptos Black"/>
              </a:rPr>
              <a:t> 2027</a:t>
            </a:r>
            <a:endParaRPr sz="2200" dirty="0">
              <a:latin typeface="Aptos Black"/>
              <a:cs typeface="Aptos Black"/>
            </a:endParaRPr>
          </a:p>
          <a:p>
            <a:pPr marL="12700" marR="5080">
              <a:lnSpc>
                <a:spcPct val="109100"/>
              </a:lnSpc>
              <a:spcBef>
                <a:spcPts val="245"/>
              </a:spcBef>
            </a:pPr>
            <a:r>
              <a:rPr sz="1400" b="1" dirty="0">
                <a:solidFill>
                  <a:srgbClr val="D3ECE3"/>
                </a:solidFill>
                <a:latin typeface="Aptos Black"/>
                <a:cs typeface="Aptos Black"/>
              </a:rPr>
              <a:t>Field-ready</a:t>
            </a:r>
            <a:r>
              <a:rPr sz="1400" b="1" spc="280" dirty="0">
                <a:solidFill>
                  <a:srgbClr val="D3ECE3"/>
                </a:solidFill>
                <a:latin typeface="Aptos Black"/>
                <a:cs typeface="Aptos Black"/>
              </a:rPr>
              <a:t> </a:t>
            </a:r>
            <a:r>
              <a:rPr sz="1400" b="1" spc="-10" dirty="0">
                <a:solidFill>
                  <a:srgbClr val="D3ECE3"/>
                </a:solidFill>
                <a:latin typeface="Aptos Black"/>
                <a:cs typeface="Aptos Black"/>
              </a:rPr>
              <a:t>prototype</a:t>
            </a:r>
            <a:endParaRPr sz="1300" dirty="0">
              <a:latin typeface="Segoe UI Symbol"/>
              <a:cs typeface="Segoe UI Symbol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D97158-5680-B02F-4C3A-D110AAB6A5C8}"/>
              </a:ext>
            </a:extLst>
          </p:cNvPr>
          <p:cNvGrpSpPr/>
          <p:nvPr/>
        </p:nvGrpSpPr>
        <p:grpSpPr>
          <a:xfrm>
            <a:off x="7831515" y="1342533"/>
            <a:ext cx="2672715" cy="2432685"/>
            <a:chOff x="338035" y="4077360"/>
            <a:chExt cx="2672715" cy="2432685"/>
          </a:xfrm>
        </p:grpSpPr>
        <p:grpSp>
          <p:nvGrpSpPr>
            <p:cNvPr id="28" name="object 28"/>
            <p:cNvGrpSpPr/>
            <p:nvPr/>
          </p:nvGrpSpPr>
          <p:grpSpPr>
            <a:xfrm>
              <a:off x="338035" y="4077360"/>
              <a:ext cx="2672715" cy="2432685"/>
              <a:chOff x="338035" y="4077360"/>
              <a:chExt cx="2672715" cy="243268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338035" y="4077360"/>
                <a:ext cx="2672715" cy="2432685"/>
              </a:xfrm>
              <a:custGeom>
                <a:avLst/>
                <a:gdLst/>
                <a:ahLst/>
                <a:cxnLst/>
                <a:rect l="l" t="t" r="r" b="b"/>
                <a:pathLst>
                  <a:path w="2672715" h="2432684">
                    <a:moveTo>
                      <a:pt x="243725" y="0"/>
                    </a:moveTo>
                    <a:lnTo>
                      <a:pt x="180724" y="8413"/>
                    </a:lnTo>
                    <a:lnTo>
                      <a:pt x="122046" y="32753"/>
                    </a:lnTo>
                    <a:lnTo>
                      <a:pt x="71645" y="71277"/>
                    </a:lnTo>
                    <a:lnTo>
                      <a:pt x="33121" y="121678"/>
                    </a:lnTo>
                    <a:lnTo>
                      <a:pt x="8643" y="180360"/>
                    </a:lnTo>
                    <a:lnTo>
                      <a:pt x="368" y="243357"/>
                    </a:lnTo>
                    <a:lnTo>
                      <a:pt x="0" y="2189162"/>
                    </a:lnTo>
                    <a:lnTo>
                      <a:pt x="2131" y="2221031"/>
                    </a:lnTo>
                    <a:lnTo>
                      <a:pt x="18682" y="2282208"/>
                    </a:lnTo>
                    <a:lnTo>
                      <a:pt x="50403" y="2337392"/>
                    </a:lnTo>
                    <a:lnTo>
                      <a:pt x="95132" y="2382117"/>
                    </a:lnTo>
                    <a:lnTo>
                      <a:pt x="150312" y="2413987"/>
                    </a:lnTo>
                    <a:lnTo>
                      <a:pt x="211493" y="2430438"/>
                    </a:lnTo>
                    <a:lnTo>
                      <a:pt x="243370" y="2432519"/>
                    </a:lnTo>
                    <a:lnTo>
                      <a:pt x="2429281" y="2432519"/>
                    </a:lnTo>
                    <a:lnTo>
                      <a:pt x="2460404" y="2430438"/>
                    </a:lnTo>
                    <a:lnTo>
                      <a:pt x="2460904" y="2430438"/>
                    </a:lnTo>
                    <a:lnTo>
                      <a:pt x="2522332" y="2413837"/>
                    </a:lnTo>
                    <a:lnTo>
                      <a:pt x="2577511" y="2382117"/>
                    </a:lnTo>
                    <a:lnTo>
                      <a:pt x="2622242" y="2337392"/>
                    </a:lnTo>
                    <a:lnTo>
                      <a:pt x="2654116" y="2282208"/>
                    </a:lnTo>
                    <a:lnTo>
                      <a:pt x="2670558" y="2221031"/>
                    </a:lnTo>
                    <a:lnTo>
                      <a:pt x="2672638" y="2189162"/>
                    </a:lnTo>
                    <a:lnTo>
                      <a:pt x="2672614" y="243357"/>
                    </a:lnTo>
                    <a:lnTo>
                      <a:pt x="2664225" y="180717"/>
                    </a:lnTo>
                    <a:lnTo>
                      <a:pt x="2639885" y="122034"/>
                    </a:lnTo>
                    <a:lnTo>
                      <a:pt x="2601361" y="71639"/>
                    </a:lnTo>
                    <a:lnTo>
                      <a:pt x="2550960" y="33121"/>
                    </a:lnTo>
                    <a:lnTo>
                      <a:pt x="2492282" y="8637"/>
                    </a:lnTo>
                    <a:lnTo>
                      <a:pt x="2429281" y="355"/>
                    </a:lnTo>
                    <a:lnTo>
                      <a:pt x="243725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566635" y="4397756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39">
                    <a:moveTo>
                      <a:pt x="274320" y="0"/>
                    </a:moveTo>
                    <a:lnTo>
                      <a:pt x="203315" y="9315"/>
                    </a:lnTo>
                    <a:lnTo>
                      <a:pt x="137160" y="36728"/>
                    </a:lnTo>
                    <a:lnTo>
                      <a:pt x="80329" y="80329"/>
                    </a:lnTo>
                    <a:lnTo>
                      <a:pt x="36728" y="137160"/>
                    </a:lnTo>
                    <a:lnTo>
                      <a:pt x="9315" y="203315"/>
                    </a:lnTo>
                    <a:lnTo>
                      <a:pt x="0" y="274320"/>
                    </a:lnTo>
                    <a:lnTo>
                      <a:pt x="2345" y="310233"/>
                    </a:lnTo>
                    <a:lnTo>
                      <a:pt x="20809" y="379217"/>
                    </a:lnTo>
                    <a:lnTo>
                      <a:pt x="56723" y="441404"/>
                    </a:lnTo>
                    <a:lnTo>
                      <a:pt x="107242" y="491929"/>
                    </a:lnTo>
                    <a:lnTo>
                      <a:pt x="169430" y="527835"/>
                    </a:lnTo>
                    <a:lnTo>
                      <a:pt x="238413" y="546294"/>
                    </a:lnTo>
                    <a:lnTo>
                      <a:pt x="274320" y="548640"/>
                    </a:lnTo>
                    <a:lnTo>
                      <a:pt x="310233" y="546294"/>
                    </a:lnTo>
                    <a:lnTo>
                      <a:pt x="379217" y="527835"/>
                    </a:lnTo>
                    <a:lnTo>
                      <a:pt x="441404" y="491929"/>
                    </a:lnTo>
                    <a:lnTo>
                      <a:pt x="491929" y="441404"/>
                    </a:lnTo>
                    <a:lnTo>
                      <a:pt x="527835" y="379217"/>
                    </a:lnTo>
                    <a:lnTo>
                      <a:pt x="546294" y="310233"/>
                    </a:lnTo>
                    <a:lnTo>
                      <a:pt x="548640" y="274320"/>
                    </a:lnTo>
                    <a:lnTo>
                      <a:pt x="546294" y="238413"/>
                    </a:lnTo>
                    <a:lnTo>
                      <a:pt x="527835" y="169430"/>
                    </a:lnTo>
                    <a:lnTo>
                      <a:pt x="491929" y="107242"/>
                    </a:lnTo>
                    <a:lnTo>
                      <a:pt x="441404" y="56723"/>
                    </a:lnTo>
                    <a:lnTo>
                      <a:pt x="379217" y="20809"/>
                    </a:lnTo>
                    <a:lnTo>
                      <a:pt x="310233" y="2345"/>
                    </a:lnTo>
                    <a:lnTo>
                      <a:pt x="274320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1" name="object 31" descr="signal.png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98754" y="4529518"/>
                <a:ext cx="284759" cy="284759"/>
              </a:xfrm>
              <a:prstGeom prst="rect">
                <a:avLst/>
              </a:prstGeom>
            </p:spPr>
          </p:pic>
        </p:grpSp>
        <p:sp>
          <p:nvSpPr>
            <p:cNvPr id="32" name="object 32"/>
            <p:cNvSpPr txBox="1"/>
            <p:nvPr/>
          </p:nvSpPr>
          <p:spPr>
            <a:xfrm>
              <a:off x="1239735" y="4565421"/>
              <a:ext cx="251460" cy="2128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300" b="1" spc="-25" dirty="0">
                  <a:solidFill>
                    <a:srgbClr val="A8DAC8"/>
                  </a:solidFill>
                  <a:latin typeface="Aptos Black"/>
                  <a:cs typeface="Aptos Black"/>
                </a:rPr>
                <a:t>C</a:t>
              </a:r>
              <a:r>
                <a:rPr lang="en-US" sz="1300" b="1" spc="-25" dirty="0">
                  <a:solidFill>
                    <a:srgbClr val="A8DAC8"/>
                  </a:solidFill>
                  <a:latin typeface="Aptos Black"/>
                  <a:cs typeface="Aptos Black"/>
                </a:rPr>
                <a:t>3</a:t>
              </a:r>
              <a:endParaRPr sz="1300" dirty="0">
                <a:latin typeface="Aptos Black"/>
                <a:cs typeface="Aptos Black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554304" y="5137387"/>
              <a:ext cx="2300605" cy="882934"/>
            </a:xfrm>
            <a:prstGeom prst="rect">
              <a:avLst/>
            </a:prstGeom>
          </p:spPr>
          <p:txBody>
            <a:bodyPr vert="horz" wrap="square" lIns="0" tIns="920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25"/>
                </a:spcBef>
              </a:pPr>
              <a:r>
                <a:rPr lang="en-US" sz="2200" b="1" spc="-65" dirty="0">
                  <a:solidFill>
                    <a:srgbClr val="FFFFFF"/>
                  </a:solidFill>
                  <a:latin typeface="Aptos Black"/>
                  <a:cs typeface="Aptos Black"/>
                </a:rPr>
                <a:t>Communication</a:t>
              </a:r>
            </a:p>
            <a:p>
              <a:pPr marL="12700">
                <a:lnSpc>
                  <a:spcPct val="100000"/>
                </a:lnSpc>
                <a:spcBef>
                  <a:spcPts val="400"/>
                </a:spcBef>
              </a:pPr>
              <a:r>
                <a:rPr lang="en-US" sz="1300" dirty="0">
                  <a:solidFill>
                    <a:srgbClr val="D3ECE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must be transmitted wirelessly</a:t>
              </a:r>
              <a:endParaRPr lang="en-US" sz="13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F7CCC1C-9E78-5BAC-117F-AE2FAC357811}"/>
              </a:ext>
            </a:extLst>
          </p:cNvPr>
          <p:cNvGrpSpPr/>
          <p:nvPr/>
        </p:nvGrpSpPr>
        <p:grpSpPr>
          <a:xfrm>
            <a:off x="3276312" y="3960034"/>
            <a:ext cx="2672715" cy="2432685"/>
            <a:chOff x="6231242" y="4077360"/>
            <a:chExt cx="2672715" cy="2432685"/>
          </a:xfrm>
        </p:grpSpPr>
        <p:grpSp>
          <p:nvGrpSpPr>
            <p:cNvPr id="40" name="object 40"/>
            <p:cNvGrpSpPr/>
            <p:nvPr/>
          </p:nvGrpSpPr>
          <p:grpSpPr>
            <a:xfrm>
              <a:off x="6231242" y="4077360"/>
              <a:ext cx="2672715" cy="2432685"/>
              <a:chOff x="6231242" y="4077360"/>
              <a:chExt cx="2672715" cy="2432685"/>
            </a:xfrm>
          </p:grpSpPr>
          <p:sp>
            <p:nvSpPr>
              <p:cNvPr id="41" name="object 41"/>
              <p:cNvSpPr/>
              <p:nvPr/>
            </p:nvSpPr>
            <p:spPr>
              <a:xfrm>
                <a:off x="6231242" y="4077360"/>
                <a:ext cx="2672715" cy="2432685"/>
              </a:xfrm>
              <a:custGeom>
                <a:avLst/>
                <a:gdLst/>
                <a:ahLst/>
                <a:cxnLst/>
                <a:rect l="l" t="t" r="r" b="b"/>
                <a:pathLst>
                  <a:path w="2672715" h="2432684">
                    <a:moveTo>
                      <a:pt x="243712" y="0"/>
                    </a:moveTo>
                    <a:lnTo>
                      <a:pt x="180716" y="8413"/>
                    </a:lnTo>
                    <a:lnTo>
                      <a:pt x="122034" y="32753"/>
                    </a:lnTo>
                    <a:lnTo>
                      <a:pt x="71639" y="71277"/>
                    </a:lnTo>
                    <a:lnTo>
                      <a:pt x="33121" y="121678"/>
                    </a:lnTo>
                    <a:lnTo>
                      <a:pt x="8637" y="180360"/>
                    </a:lnTo>
                    <a:lnTo>
                      <a:pt x="355" y="243357"/>
                    </a:lnTo>
                    <a:lnTo>
                      <a:pt x="0" y="2189162"/>
                    </a:lnTo>
                    <a:lnTo>
                      <a:pt x="2131" y="2221031"/>
                    </a:lnTo>
                    <a:lnTo>
                      <a:pt x="18677" y="2282208"/>
                    </a:lnTo>
                    <a:lnTo>
                      <a:pt x="50396" y="2337392"/>
                    </a:lnTo>
                    <a:lnTo>
                      <a:pt x="95127" y="2382117"/>
                    </a:lnTo>
                    <a:lnTo>
                      <a:pt x="150311" y="2413987"/>
                    </a:lnTo>
                    <a:lnTo>
                      <a:pt x="211488" y="2430438"/>
                    </a:lnTo>
                    <a:lnTo>
                      <a:pt x="243357" y="2432519"/>
                    </a:lnTo>
                    <a:lnTo>
                      <a:pt x="2429281" y="2432519"/>
                    </a:lnTo>
                    <a:lnTo>
                      <a:pt x="2460403" y="2430438"/>
                    </a:lnTo>
                    <a:lnTo>
                      <a:pt x="2460902" y="2430438"/>
                    </a:lnTo>
                    <a:lnTo>
                      <a:pt x="2522326" y="2413837"/>
                    </a:lnTo>
                    <a:lnTo>
                      <a:pt x="2577506" y="2382117"/>
                    </a:lnTo>
                    <a:lnTo>
                      <a:pt x="2622235" y="2337392"/>
                    </a:lnTo>
                    <a:lnTo>
                      <a:pt x="2654106" y="2282208"/>
                    </a:lnTo>
                    <a:lnTo>
                      <a:pt x="2670556" y="2221031"/>
                    </a:lnTo>
                    <a:lnTo>
                      <a:pt x="2672638" y="2189162"/>
                    </a:lnTo>
                    <a:lnTo>
                      <a:pt x="2672614" y="243357"/>
                    </a:lnTo>
                    <a:lnTo>
                      <a:pt x="2664223" y="180717"/>
                    </a:lnTo>
                    <a:lnTo>
                      <a:pt x="2639872" y="122034"/>
                    </a:lnTo>
                    <a:lnTo>
                      <a:pt x="2601355" y="71639"/>
                    </a:lnTo>
                    <a:lnTo>
                      <a:pt x="2550960" y="33121"/>
                    </a:lnTo>
                    <a:lnTo>
                      <a:pt x="2492278" y="8637"/>
                    </a:lnTo>
                    <a:lnTo>
                      <a:pt x="2429281" y="355"/>
                    </a:lnTo>
                    <a:lnTo>
                      <a:pt x="243712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6459842" y="4397756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39">
                    <a:moveTo>
                      <a:pt x="274320" y="0"/>
                    </a:moveTo>
                    <a:lnTo>
                      <a:pt x="203306" y="9315"/>
                    </a:lnTo>
                    <a:lnTo>
                      <a:pt x="137159" y="36728"/>
                    </a:lnTo>
                    <a:lnTo>
                      <a:pt x="80322" y="80329"/>
                    </a:lnTo>
                    <a:lnTo>
                      <a:pt x="36715" y="137160"/>
                    </a:lnTo>
                    <a:lnTo>
                      <a:pt x="9313" y="203315"/>
                    </a:lnTo>
                    <a:lnTo>
                      <a:pt x="0" y="274320"/>
                    </a:lnTo>
                    <a:lnTo>
                      <a:pt x="2345" y="310233"/>
                    </a:lnTo>
                    <a:lnTo>
                      <a:pt x="20804" y="379217"/>
                    </a:lnTo>
                    <a:lnTo>
                      <a:pt x="56712" y="441404"/>
                    </a:lnTo>
                    <a:lnTo>
                      <a:pt x="107240" y="491929"/>
                    </a:lnTo>
                    <a:lnTo>
                      <a:pt x="169422" y="527835"/>
                    </a:lnTo>
                    <a:lnTo>
                      <a:pt x="238406" y="546294"/>
                    </a:lnTo>
                    <a:lnTo>
                      <a:pt x="274320" y="548640"/>
                    </a:lnTo>
                    <a:lnTo>
                      <a:pt x="310228" y="546294"/>
                    </a:lnTo>
                    <a:lnTo>
                      <a:pt x="379215" y="527835"/>
                    </a:lnTo>
                    <a:lnTo>
                      <a:pt x="441397" y="491929"/>
                    </a:lnTo>
                    <a:lnTo>
                      <a:pt x="491916" y="441404"/>
                    </a:lnTo>
                    <a:lnTo>
                      <a:pt x="527830" y="379217"/>
                    </a:lnTo>
                    <a:lnTo>
                      <a:pt x="546294" y="310233"/>
                    </a:lnTo>
                    <a:lnTo>
                      <a:pt x="548640" y="274320"/>
                    </a:lnTo>
                    <a:lnTo>
                      <a:pt x="546294" y="238413"/>
                    </a:lnTo>
                    <a:lnTo>
                      <a:pt x="527830" y="169430"/>
                    </a:lnTo>
                    <a:lnTo>
                      <a:pt x="491916" y="107242"/>
                    </a:lnTo>
                    <a:lnTo>
                      <a:pt x="441397" y="56723"/>
                    </a:lnTo>
                    <a:lnTo>
                      <a:pt x="379215" y="20809"/>
                    </a:lnTo>
                    <a:lnTo>
                      <a:pt x="310228" y="2345"/>
                    </a:lnTo>
                    <a:lnTo>
                      <a:pt x="274320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43" descr="sun.png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591960" y="4529518"/>
                <a:ext cx="284759" cy="284759"/>
              </a:xfrm>
              <a:prstGeom prst="rect">
                <a:avLst/>
              </a:prstGeom>
            </p:spPr>
          </p:pic>
        </p:grpSp>
        <p:sp>
          <p:nvSpPr>
            <p:cNvPr id="44" name="object 44"/>
            <p:cNvSpPr txBox="1"/>
            <p:nvPr/>
          </p:nvSpPr>
          <p:spPr>
            <a:xfrm>
              <a:off x="7132942" y="4565421"/>
              <a:ext cx="241935" cy="2128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300" spc="-25" dirty="0">
                  <a:solidFill>
                    <a:srgbClr val="A8DAC8"/>
                  </a:solidFill>
                  <a:latin typeface="Aptos Black"/>
                  <a:cs typeface="Aptos Black"/>
                </a:rPr>
                <a:t>C4</a:t>
              </a:r>
              <a:endParaRPr sz="1300" dirty="0">
                <a:latin typeface="Aptos Black"/>
                <a:cs typeface="Aptos Black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6482588" y="4895856"/>
              <a:ext cx="2056764" cy="1406154"/>
            </a:xfrm>
            <a:prstGeom prst="rect">
              <a:avLst/>
            </a:prstGeom>
          </p:spPr>
          <p:txBody>
            <a:bodyPr vert="horz" wrap="square" lIns="0" tIns="92075" rIns="0" bIns="0" rtlCol="0">
              <a:spAutoFit/>
            </a:bodyPr>
            <a:lstStyle/>
            <a:p>
              <a:pPr marL="12700" algn="just">
                <a:lnSpc>
                  <a:spcPct val="100000"/>
                </a:lnSpc>
                <a:spcBef>
                  <a:spcPts val="725"/>
                </a:spcBef>
              </a:pPr>
              <a:r>
                <a:rPr lang="en-US" sz="2200" spc="-65" dirty="0">
                  <a:solidFill>
                    <a:srgbClr val="FFFFFF"/>
                  </a:solidFill>
                  <a:latin typeface="Aptos Black"/>
                  <a:cs typeface="Aptos Black"/>
                </a:rPr>
                <a:t>Weather Proof</a:t>
              </a:r>
              <a:endParaRPr lang="en-US" sz="2200" dirty="0">
                <a:latin typeface="Aptos Black"/>
                <a:cs typeface="Aptos Black"/>
              </a:endParaRPr>
            </a:p>
            <a:p>
              <a:pPr marL="12700">
                <a:lnSpc>
                  <a:spcPct val="100000"/>
                </a:lnSpc>
                <a:spcBef>
                  <a:spcPts val="400"/>
                </a:spcBef>
              </a:pPr>
              <a:r>
                <a:rPr lang="en-US" sz="1200" dirty="0">
                  <a:solidFill>
                    <a:srgbClr val="D3ECE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 enclosure must protect the electronics from dust particles larger than 2.5mm and water spraying from a 60-degree angle</a:t>
              </a:r>
              <a:endParaRPr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B19A28-0A18-6EE5-BF79-757DCC7289AC}"/>
              </a:ext>
            </a:extLst>
          </p:cNvPr>
          <p:cNvGrpSpPr/>
          <p:nvPr/>
        </p:nvGrpSpPr>
        <p:grpSpPr>
          <a:xfrm>
            <a:off x="6133494" y="3960034"/>
            <a:ext cx="2672715" cy="2432685"/>
            <a:chOff x="5272954" y="4093032"/>
            <a:chExt cx="2672715" cy="2432685"/>
          </a:xfrm>
        </p:grpSpPr>
        <p:grpSp>
          <p:nvGrpSpPr>
            <p:cNvPr id="46" name="object 46"/>
            <p:cNvGrpSpPr/>
            <p:nvPr/>
          </p:nvGrpSpPr>
          <p:grpSpPr>
            <a:xfrm>
              <a:off x="5272954" y="4093032"/>
              <a:ext cx="2672715" cy="2432685"/>
              <a:chOff x="9177845" y="4077360"/>
              <a:chExt cx="2672715" cy="2432685"/>
            </a:xfrm>
          </p:grpSpPr>
          <p:sp>
            <p:nvSpPr>
              <p:cNvPr id="47" name="object 47"/>
              <p:cNvSpPr/>
              <p:nvPr/>
            </p:nvSpPr>
            <p:spPr>
              <a:xfrm>
                <a:off x="9177845" y="4077360"/>
                <a:ext cx="2672715" cy="2432685"/>
              </a:xfrm>
              <a:custGeom>
                <a:avLst/>
                <a:gdLst/>
                <a:ahLst/>
                <a:cxnLst/>
                <a:rect l="l" t="t" r="r" b="b"/>
                <a:pathLst>
                  <a:path w="2672715" h="2432684">
                    <a:moveTo>
                      <a:pt x="243713" y="0"/>
                    </a:moveTo>
                    <a:lnTo>
                      <a:pt x="180716" y="8413"/>
                    </a:lnTo>
                    <a:lnTo>
                      <a:pt x="122034" y="32753"/>
                    </a:lnTo>
                    <a:lnTo>
                      <a:pt x="71632" y="71277"/>
                    </a:lnTo>
                    <a:lnTo>
                      <a:pt x="33108" y="121678"/>
                    </a:lnTo>
                    <a:lnTo>
                      <a:pt x="8635" y="180360"/>
                    </a:lnTo>
                    <a:lnTo>
                      <a:pt x="355" y="243357"/>
                    </a:lnTo>
                    <a:lnTo>
                      <a:pt x="0" y="2189162"/>
                    </a:lnTo>
                    <a:lnTo>
                      <a:pt x="2131" y="2221031"/>
                    </a:lnTo>
                    <a:lnTo>
                      <a:pt x="18677" y="2282208"/>
                    </a:lnTo>
                    <a:lnTo>
                      <a:pt x="50396" y="2337392"/>
                    </a:lnTo>
                    <a:lnTo>
                      <a:pt x="95127" y="2382117"/>
                    </a:lnTo>
                    <a:lnTo>
                      <a:pt x="150306" y="2413987"/>
                    </a:lnTo>
                    <a:lnTo>
                      <a:pt x="211486" y="2430438"/>
                    </a:lnTo>
                    <a:lnTo>
                      <a:pt x="243357" y="2432519"/>
                    </a:lnTo>
                    <a:lnTo>
                      <a:pt x="2429268" y="2432519"/>
                    </a:lnTo>
                    <a:lnTo>
                      <a:pt x="2460397" y="2430438"/>
                    </a:lnTo>
                    <a:lnTo>
                      <a:pt x="2460897" y="2430438"/>
                    </a:lnTo>
                    <a:lnTo>
                      <a:pt x="2522326" y="2413837"/>
                    </a:lnTo>
                    <a:lnTo>
                      <a:pt x="2577506" y="2382117"/>
                    </a:lnTo>
                    <a:lnTo>
                      <a:pt x="2622235" y="2337392"/>
                    </a:lnTo>
                    <a:lnTo>
                      <a:pt x="2654106" y="2282208"/>
                    </a:lnTo>
                    <a:lnTo>
                      <a:pt x="2670556" y="2221031"/>
                    </a:lnTo>
                    <a:lnTo>
                      <a:pt x="2672638" y="2189162"/>
                    </a:lnTo>
                    <a:lnTo>
                      <a:pt x="2672614" y="243357"/>
                    </a:lnTo>
                    <a:lnTo>
                      <a:pt x="2664223" y="180717"/>
                    </a:lnTo>
                    <a:lnTo>
                      <a:pt x="2639872" y="122034"/>
                    </a:lnTo>
                    <a:lnTo>
                      <a:pt x="2601355" y="71639"/>
                    </a:lnTo>
                    <a:lnTo>
                      <a:pt x="2550960" y="33121"/>
                    </a:lnTo>
                    <a:lnTo>
                      <a:pt x="2492276" y="8637"/>
                    </a:lnTo>
                    <a:lnTo>
                      <a:pt x="2429268" y="355"/>
                    </a:lnTo>
                    <a:lnTo>
                      <a:pt x="243713" y="0"/>
                    </a:lnTo>
                    <a:close/>
                  </a:path>
                </a:pathLst>
              </a:custGeom>
              <a:solidFill>
                <a:srgbClr val="3C8F7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9406445" y="4397756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39">
                    <a:moveTo>
                      <a:pt x="274320" y="0"/>
                    </a:moveTo>
                    <a:lnTo>
                      <a:pt x="203306" y="9315"/>
                    </a:lnTo>
                    <a:lnTo>
                      <a:pt x="137160" y="36728"/>
                    </a:lnTo>
                    <a:lnTo>
                      <a:pt x="80317" y="80329"/>
                    </a:lnTo>
                    <a:lnTo>
                      <a:pt x="36715" y="137160"/>
                    </a:lnTo>
                    <a:lnTo>
                      <a:pt x="9313" y="203315"/>
                    </a:lnTo>
                    <a:lnTo>
                      <a:pt x="0" y="274320"/>
                    </a:lnTo>
                    <a:lnTo>
                      <a:pt x="2345" y="310233"/>
                    </a:lnTo>
                    <a:lnTo>
                      <a:pt x="20804" y="379217"/>
                    </a:lnTo>
                    <a:lnTo>
                      <a:pt x="56710" y="441404"/>
                    </a:lnTo>
                    <a:lnTo>
                      <a:pt x="107235" y="491929"/>
                    </a:lnTo>
                    <a:lnTo>
                      <a:pt x="169422" y="527835"/>
                    </a:lnTo>
                    <a:lnTo>
                      <a:pt x="238406" y="546294"/>
                    </a:lnTo>
                    <a:lnTo>
                      <a:pt x="274320" y="548640"/>
                    </a:lnTo>
                    <a:lnTo>
                      <a:pt x="310226" y="546294"/>
                    </a:lnTo>
                    <a:lnTo>
                      <a:pt x="379209" y="527835"/>
                    </a:lnTo>
                    <a:lnTo>
                      <a:pt x="441397" y="491929"/>
                    </a:lnTo>
                    <a:lnTo>
                      <a:pt x="491916" y="441404"/>
                    </a:lnTo>
                    <a:lnTo>
                      <a:pt x="527824" y="379217"/>
                    </a:lnTo>
                    <a:lnTo>
                      <a:pt x="546292" y="310233"/>
                    </a:lnTo>
                    <a:lnTo>
                      <a:pt x="548640" y="274320"/>
                    </a:lnTo>
                    <a:lnTo>
                      <a:pt x="546292" y="238413"/>
                    </a:lnTo>
                    <a:lnTo>
                      <a:pt x="527824" y="169430"/>
                    </a:lnTo>
                    <a:lnTo>
                      <a:pt x="491916" y="107242"/>
                    </a:lnTo>
                    <a:lnTo>
                      <a:pt x="441397" y="56723"/>
                    </a:lnTo>
                    <a:lnTo>
                      <a:pt x="379209" y="20809"/>
                    </a:lnTo>
                    <a:lnTo>
                      <a:pt x="310226" y="2345"/>
                    </a:lnTo>
                    <a:lnTo>
                      <a:pt x="274320" y="0"/>
                    </a:lnTo>
                    <a:close/>
                  </a:path>
                </a:pathLst>
              </a:custGeom>
              <a:solidFill>
                <a:srgbClr val="D3EC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9" name="object 49" descr="bolt.png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538563" y="4529518"/>
                <a:ext cx="284759" cy="284759"/>
              </a:xfrm>
              <a:prstGeom prst="rect">
                <a:avLst/>
              </a:prstGeom>
            </p:spPr>
          </p:pic>
        </p:grpSp>
        <p:sp>
          <p:nvSpPr>
            <p:cNvPr id="50" name="object 50"/>
            <p:cNvSpPr txBox="1"/>
            <p:nvPr/>
          </p:nvSpPr>
          <p:spPr>
            <a:xfrm>
              <a:off x="6174654" y="4581093"/>
              <a:ext cx="253365" cy="2128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1300" spc="25" dirty="0">
                  <a:solidFill>
                    <a:srgbClr val="A8DAC8"/>
                  </a:solidFill>
                  <a:latin typeface="Aptos Black"/>
                  <a:cs typeface="Aptos Black"/>
                </a:rPr>
                <a:t>C5</a:t>
              </a:r>
              <a:endParaRPr sz="1300" dirty="0">
                <a:latin typeface="Aptos Black"/>
                <a:cs typeface="Aptos Black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5489210" y="5153059"/>
              <a:ext cx="2162810" cy="683072"/>
            </a:xfrm>
            <a:prstGeom prst="rect">
              <a:avLst/>
            </a:prstGeom>
          </p:spPr>
          <p:txBody>
            <a:bodyPr vert="horz" wrap="square" lIns="0" tIns="92075" rIns="0" bIns="0" rtlCol="0">
              <a:spAutoFit/>
            </a:bodyPr>
            <a:lstStyle/>
            <a:p>
              <a:pPr marL="12700" algn="just">
                <a:lnSpc>
                  <a:spcPct val="100000"/>
                </a:lnSpc>
                <a:spcBef>
                  <a:spcPts val="725"/>
                </a:spcBef>
              </a:pPr>
              <a:r>
                <a:rPr lang="en-US" sz="2200" spc="-65" dirty="0">
                  <a:solidFill>
                    <a:srgbClr val="FFFFFF"/>
                  </a:solidFill>
                  <a:latin typeface="Aptos Black"/>
                  <a:cs typeface="Aptos Black"/>
                </a:rPr>
                <a:t>Solar Charging</a:t>
              </a:r>
              <a:endParaRPr sz="2200" dirty="0">
                <a:latin typeface="Aptos Black"/>
                <a:cs typeface="Aptos Black"/>
              </a:endParaRPr>
            </a:p>
            <a:p>
              <a:pPr marL="12700" marR="5080" algn="just">
                <a:lnSpc>
                  <a:spcPct val="109100"/>
                </a:lnSpc>
                <a:spcBef>
                  <a:spcPts val="245"/>
                </a:spcBef>
              </a:pPr>
              <a:r>
                <a:rPr lang="en-US" sz="1300" spc="3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No power out in the field</a:t>
              </a:r>
              <a:r>
                <a:rPr sz="1300" spc="35" dirty="0">
                  <a:solidFill>
                    <a:srgbClr val="D3ECE3"/>
                  </a:solidFill>
                  <a:latin typeface="Segoe UI Symbol"/>
                  <a:cs typeface="Segoe UI Symbol"/>
                </a:rPr>
                <a:t>.</a:t>
              </a:r>
              <a:endParaRPr sz="1300" dirty="0">
                <a:latin typeface="Segoe UI Symbol"/>
                <a:cs typeface="Segoe UI Symbo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968750" cy="532765"/>
          </a:xfrm>
          <a:custGeom>
            <a:avLst/>
            <a:gdLst/>
            <a:ahLst/>
            <a:cxnLst/>
            <a:rect l="l" t="t" r="r" b="b"/>
            <a:pathLst>
              <a:path w="3968750" h="532765">
                <a:moveTo>
                  <a:pt x="3968280" y="0"/>
                </a:moveTo>
                <a:lnTo>
                  <a:pt x="0" y="0"/>
                </a:lnTo>
                <a:lnTo>
                  <a:pt x="0" y="532434"/>
                </a:lnTo>
                <a:lnTo>
                  <a:pt x="1984311" y="532434"/>
                </a:lnTo>
                <a:lnTo>
                  <a:pt x="3968280" y="532434"/>
                </a:lnTo>
                <a:lnTo>
                  <a:pt x="396828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0"/>
              </a:spcBef>
            </a:pPr>
            <a:r>
              <a:rPr spc="85"/>
              <a:t>Requirements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239069"/>
              </p:ext>
            </p:extLst>
          </p:nvPr>
        </p:nvGraphicFramePr>
        <p:xfrm>
          <a:off x="334276" y="1367472"/>
          <a:ext cx="11511277" cy="508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8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2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ID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Requirement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Target</a:t>
                      </a:r>
                      <a:r>
                        <a:rPr sz="1200" b="1" spc="18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(measurable)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Feature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How</a:t>
                      </a:r>
                      <a:r>
                        <a:rPr sz="1200" b="1" spc="13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we</a:t>
                      </a:r>
                      <a:r>
                        <a:rPr sz="1200" b="1" spc="12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verify</a:t>
                      </a:r>
                      <a:r>
                        <a:rPr sz="1200" b="1" spc="13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2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it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8572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R1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Reach</a:t>
                      </a:r>
                      <a:r>
                        <a:rPr sz="1150" spc="10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7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each</a:t>
                      </a:r>
                      <a:r>
                        <a:rPr sz="1150" spc="1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1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commanded</a:t>
                      </a:r>
                      <a:r>
                        <a:rPr sz="1150" spc="9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1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r>
                        <a:rPr sz="1150" spc="10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point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Within</a:t>
                      </a:r>
                      <a:r>
                        <a:rPr sz="115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target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-25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F1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GPS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</a:t>
                      </a:r>
                      <a:r>
                        <a:rPr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vs.</a:t>
                      </a:r>
                      <a:r>
                        <a:rPr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surveyed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marker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R2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Drive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across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field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15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0.5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m/s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cruise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grass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F1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Timed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run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R3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Climb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slopes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full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load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15</a:t>
                      </a:r>
                      <a:r>
                        <a:rPr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%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grade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15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kg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7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7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Ramp</a:t>
                      </a:r>
                      <a:r>
                        <a:rPr sz="1150" spc="1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3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R4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</a:t>
                      </a:r>
                      <a:r>
                        <a:rPr lang="en-US"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lang="en-US"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e-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</a:t>
                      </a:r>
                      <a:endParaRPr lang="en-US"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Motors</a:t>
                      </a:r>
                      <a:r>
                        <a:rPr lang="en-US"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stopped</a:t>
                      </a:r>
                      <a:r>
                        <a:rPr lang="en-US"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lang="en-US"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≤</a:t>
                      </a:r>
                      <a:r>
                        <a:rPr lang="en-US"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-1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</a:t>
                      </a:r>
                      <a:r>
                        <a:rPr lang="en-US"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</a:t>
                      </a:r>
                      <a:endParaRPr lang="en-US"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F1, </a:t>
                      </a:r>
                      <a:r>
                        <a:rPr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F2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Timed</a:t>
                      </a:r>
                      <a:r>
                        <a:rPr sz="1150" spc="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video,</a:t>
                      </a:r>
                      <a:r>
                        <a:rPr sz="1150" spc="1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10</a:t>
                      </a:r>
                      <a:r>
                        <a:rPr sz="1150" spc="1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trials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R5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Stay</a:t>
                      </a:r>
                      <a:r>
                        <a:rPr sz="115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inside</a:t>
                      </a:r>
                      <a:r>
                        <a:rPr sz="115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field</a:t>
                      </a:r>
                      <a:r>
                        <a:rPr sz="115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boundary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r>
                        <a:rPr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geofence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breaches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10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runs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Simulator</a:t>
                      </a:r>
                      <a:r>
                        <a:rPr sz="115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field</a:t>
                      </a:r>
                      <a:r>
                        <a:rPr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runs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R6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4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Insert,</a:t>
                      </a:r>
                      <a:r>
                        <a:rPr sz="1150" spc="1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read</a:t>
                      </a:r>
                      <a:r>
                        <a:rPr sz="1150" spc="1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150" spc="13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retract</a:t>
                      </a:r>
                      <a:r>
                        <a:rPr sz="1150" spc="1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13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probe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Full</a:t>
                      </a:r>
                      <a:r>
                        <a:rPr lang="en-US" sz="115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cycle</a:t>
                      </a:r>
                      <a:r>
                        <a:rPr lang="en-US" sz="115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≤</a:t>
                      </a:r>
                      <a:r>
                        <a:rPr lang="en-US" sz="115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60</a:t>
                      </a:r>
                      <a:r>
                        <a:rPr lang="en-US"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</a:t>
                      </a:r>
                      <a:endParaRPr lang="en-US"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 spc="7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F2, F3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Soil-bin</a:t>
                      </a:r>
                      <a:r>
                        <a:rPr sz="1150" spc="2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test,</a:t>
                      </a:r>
                      <a:r>
                        <a:rPr sz="1150" spc="229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stopwatch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R7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Detect</a:t>
                      </a:r>
                      <a:r>
                        <a:rPr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rock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strike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Push</a:t>
                      </a:r>
                      <a:r>
                        <a:rPr lang="en-US" sz="115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stops</a:t>
                      </a:r>
                      <a:r>
                        <a:rPr lang="en-US"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≤</a:t>
                      </a:r>
                      <a:r>
                        <a:rPr lang="en-US"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-1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</a:t>
                      </a:r>
                      <a:r>
                        <a:rPr lang="en-US"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</a:t>
                      </a:r>
                      <a:r>
                        <a:rPr lang="en-US"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after</a:t>
                      </a:r>
                      <a:r>
                        <a:rPr lang="en-US"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lang="en-US"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stall</a:t>
                      </a:r>
                      <a:endParaRPr lang="en-US"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6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Buried-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brick</a:t>
                      </a:r>
                      <a:r>
                        <a:rPr sz="1150" spc="3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R8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Report</a:t>
                      </a:r>
                      <a:r>
                        <a:rPr sz="115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four</a:t>
                      </a:r>
                      <a:r>
                        <a:rPr sz="115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</a:t>
                      </a:r>
                      <a:r>
                        <a:rPr sz="1150" spc="1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values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pH</a:t>
                      </a:r>
                      <a:r>
                        <a:rPr sz="115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±0.5,</a:t>
                      </a:r>
                      <a:r>
                        <a:rPr sz="115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temperature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±1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°C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vs.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reference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8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8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3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samples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vs.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handheld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meter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R9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Deliver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results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9</a:t>
                      </a:r>
                      <a:r>
                        <a:rPr lang="en-US" sz="115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r>
                        <a:rPr sz="115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%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messages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500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line</a:t>
                      </a:r>
                      <a:r>
                        <a:rPr sz="115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15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sight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6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6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100-</a:t>
                      </a:r>
                      <a:r>
                        <a:rPr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message</a:t>
                      </a:r>
                      <a:r>
                        <a:rPr sz="1150" spc="1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range</a:t>
                      </a:r>
                      <a:r>
                        <a:rPr sz="1150" spc="1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R10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Return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home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when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link</a:t>
                      </a:r>
                      <a:r>
                        <a:rPr sz="115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drops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Loss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detected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≤</a:t>
                      </a:r>
                      <a:r>
                        <a:rPr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s;</a:t>
                      </a:r>
                      <a:r>
                        <a:rPr sz="115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probe</a:t>
                      </a: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up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before</a:t>
                      </a: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moving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70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F6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r>
                        <a:rPr sz="115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radio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switched</a:t>
                      </a:r>
                      <a:r>
                        <a:rPr sz="115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off</a:t>
                      </a:r>
                      <a:r>
                        <a:rPr sz="115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mid-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R11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Survey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one</a:t>
                      </a:r>
                      <a:r>
                        <a:rPr sz="115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charge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lang="en-US"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r>
                        <a:rPr lang="en-US" sz="115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</a:t>
                      </a:r>
                      <a:r>
                        <a:rPr lang="en-US"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lang="en-US"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operation</a:t>
                      </a:r>
                      <a:r>
                        <a:rPr lang="en-US" sz="115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lang="en-US"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no</a:t>
                      </a:r>
                      <a:r>
                        <a:rPr lang="en-US" sz="115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sun</a:t>
                      </a:r>
                      <a:endParaRPr lang="en-US"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3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3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4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Battery</a:t>
                      </a:r>
                      <a:r>
                        <a:rPr sz="1150" spc="2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run-down</a:t>
                      </a:r>
                      <a:r>
                        <a:rPr sz="1150" spc="2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R12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</a:t>
                      </a:r>
                      <a:r>
                        <a:rPr sz="1150" spc="9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150" spc="9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map</a:t>
                      </a:r>
                      <a:r>
                        <a:rPr lang="en-US" sz="1150" spc="8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result</a:t>
                      </a:r>
                      <a:r>
                        <a:rPr lang="en-US" sz="1150" spc="-1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lang="en-US" sz="1150" spc="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90</a:t>
                      </a:r>
                      <a:r>
                        <a:rPr sz="1150" spc="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%</a:t>
                      </a:r>
                      <a:r>
                        <a:rPr sz="1150" spc="3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150" spc="2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received</a:t>
                      </a:r>
                      <a:r>
                        <a:rPr sz="1150" spc="3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4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results</a:t>
                      </a:r>
                      <a:r>
                        <a:rPr sz="1150" spc="2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saved</a:t>
                      </a:r>
                      <a:r>
                        <a:rPr sz="1150" spc="4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150" spc="3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8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GPS</a:t>
                      </a:r>
                      <a:r>
                        <a:rPr sz="1150" spc="4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150" spc="2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spc="6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F</a:t>
                      </a:r>
                      <a:r>
                        <a:rPr lang="en-US" sz="1150" spc="65" dirty="0">
                          <a:solidFill>
                            <a:srgbClr val="235F49"/>
                          </a:solidFill>
                          <a:latin typeface="Segoe UI Symbol"/>
                          <a:cs typeface="Segoe UI Symbol"/>
                        </a:rPr>
                        <a:t>6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Robot</a:t>
                      </a:r>
                      <a:r>
                        <a:rPr sz="1150" spc="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</a:t>
                      </a:r>
                      <a:r>
                        <a:rPr sz="1150" spc="4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9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vs.</a:t>
                      </a:r>
                      <a:r>
                        <a:rPr sz="1150" spc="2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6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r>
                        <a:rPr sz="1150" spc="4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8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CSV</a:t>
                      </a:r>
                      <a:endParaRPr sz="115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350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227705" cy="532765"/>
          </a:xfrm>
          <a:custGeom>
            <a:avLst/>
            <a:gdLst/>
            <a:ahLst/>
            <a:cxnLst/>
            <a:rect l="l" t="t" r="r" b="b"/>
            <a:pathLst>
              <a:path w="3227704" h="532765">
                <a:moveTo>
                  <a:pt x="3227400" y="0"/>
                </a:moveTo>
                <a:lnTo>
                  <a:pt x="0" y="0"/>
                </a:lnTo>
                <a:lnTo>
                  <a:pt x="0" y="532434"/>
                </a:lnTo>
                <a:lnTo>
                  <a:pt x="1613877" y="532434"/>
                </a:lnTo>
                <a:lnTo>
                  <a:pt x="3227400" y="532434"/>
                </a:lnTo>
                <a:lnTo>
                  <a:pt x="322740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spc="125"/>
              <a:t>Standards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7680" y="1371244"/>
            <a:ext cx="5619750" cy="1116330"/>
            <a:chOff x="337680" y="1371244"/>
            <a:chExt cx="5619750" cy="1116330"/>
          </a:xfrm>
        </p:grpSpPr>
        <p:sp>
          <p:nvSpPr>
            <p:cNvPr id="5" name="object 5"/>
            <p:cNvSpPr/>
            <p:nvPr/>
          </p:nvSpPr>
          <p:spPr>
            <a:xfrm>
              <a:off x="337680" y="1371244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30">
                  <a:moveTo>
                    <a:pt x="167754" y="0"/>
                  </a:moveTo>
                  <a:lnTo>
                    <a:pt x="124332" y="5756"/>
                  </a:lnTo>
                  <a:lnTo>
                    <a:pt x="83883" y="22313"/>
                  </a:lnTo>
                  <a:lnTo>
                    <a:pt x="49363" y="49044"/>
                  </a:lnTo>
                  <a:lnTo>
                    <a:pt x="22682" y="83870"/>
                  </a:lnTo>
                  <a:lnTo>
                    <a:pt x="5984" y="124015"/>
                  </a:lnTo>
                  <a:lnTo>
                    <a:pt x="355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12706" y="1012587"/>
                  </a:lnTo>
                  <a:lnTo>
                    <a:pt x="34468" y="1050444"/>
                  </a:lnTo>
                  <a:lnTo>
                    <a:pt x="65555" y="1081429"/>
                  </a:lnTo>
                  <a:lnTo>
                    <a:pt x="103412" y="1103387"/>
                  </a:lnTo>
                  <a:lnTo>
                    <a:pt x="145441" y="1114586"/>
                  </a:lnTo>
                  <a:lnTo>
                    <a:pt x="167398" y="1115999"/>
                  </a:lnTo>
                  <a:lnTo>
                    <a:pt x="5451843" y="1115999"/>
                  </a:lnTo>
                  <a:lnTo>
                    <a:pt x="5473055" y="1114586"/>
                  </a:lnTo>
                  <a:lnTo>
                    <a:pt x="5473556" y="1114586"/>
                  </a:lnTo>
                  <a:lnTo>
                    <a:pt x="5515979" y="1103237"/>
                  </a:lnTo>
                  <a:lnTo>
                    <a:pt x="5553828" y="1081429"/>
                  </a:lnTo>
                  <a:lnTo>
                    <a:pt x="5584672" y="1050444"/>
                  </a:lnTo>
                  <a:lnTo>
                    <a:pt x="5606560" y="1012737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79" y="124331"/>
                  </a:lnTo>
                  <a:lnTo>
                    <a:pt x="5596915" y="83870"/>
                  </a:lnTo>
                  <a:lnTo>
                    <a:pt x="5570189" y="49360"/>
                  </a:lnTo>
                  <a:lnTo>
                    <a:pt x="5535358" y="22669"/>
                  </a:lnTo>
                  <a:lnTo>
                    <a:pt x="5495220" y="5978"/>
                  </a:lnTo>
                  <a:lnTo>
                    <a:pt x="5451843" y="355"/>
                  </a:lnTo>
                  <a:lnTo>
                    <a:pt x="167754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6635" y="1608836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39" y="0"/>
                  </a:moveTo>
                  <a:lnTo>
                    <a:pt x="278201" y="2746"/>
                  </a:lnTo>
                  <a:lnTo>
                    <a:pt x="237240" y="10895"/>
                  </a:lnTo>
                  <a:lnTo>
                    <a:pt x="197630" y="24308"/>
                  </a:lnTo>
                  <a:lnTo>
                    <a:pt x="159842" y="42849"/>
                  </a:lnTo>
                  <a:lnTo>
                    <a:pt x="125006" y="66146"/>
                  </a:lnTo>
                  <a:lnTo>
                    <a:pt x="93649" y="93694"/>
                  </a:lnTo>
                  <a:lnTo>
                    <a:pt x="66141" y="125156"/>
                  </a:lnTo>
                  <a:lnTo>
                    <a:pt x="42849" y="160197"/>
                  </a:lnTo>
                  <a:lnTo>
                    <a:pt x="24308" y="197780"/>
                  </a:lnTo>
                  <a:lnTo>
                    <a:pt x="10895" y="237285"/>
                  </a:lnTo>
                  <a:lnTo>
                    <a:pt x="2746" y="278207"/>
                  </a:lnTo>
                  <a:lnTo>
                    <a:pt x="0" y="320039"/>
                  </a:lnTo>
                  <a:lnTo>
                    <a:pt x="2746" y="361878"/>
                  </a:lnTo>
                  <a:lnTo>
                    <a:pt x="10895" y="402839"/>
                  </a:lnTo>
                  <a:lnTo>
                    <a:pt x="24308" y="442449"/>
                  </a:lnTo>
                  <a:lnTo>
                    <a:pt x="42849" y="480237"/>
                  </a:lnTo>
                  <a:lnTo>
                    <a:pt x="66146" y="515075"/>
                  </a:lnTo>
                  <a:lnTo>
                    <a:pt x="93694" y="546436"/>
                  </a:lnTo>
                  <a:lnTo>
                    <a:pt x="125156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39" y="640079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80" y="320039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6"/>
                  </a:lnTo>
                  <a:lnTo>
                    <a:pt x="546436" y="93694"/>
                  </a:lnTo>
                  <a:lnTo>
                    <a:pt x="515075" y="66146"/>
                  </a:lnTo>
                  <a:lnTo>
                    <a:pt x="480237" y="42849"/>
                  </a:lnTo>
                  <a:lnTo>
                    <a:pt x="442449" y="24308"/>
                  </a:lnTo>
                  <a:lnTo>
                    <a:pt x="402839" y="10895"/>
                  </a:lnTo>
                  <a:lnTo>
                    <a:pt x="361878" y="2746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signa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725" y="1762556"/>
              <a:ext cx="332638" cy="33263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04264" y="1586641"/>
            <a:ext cx="4149090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FCC</a:t>
            </a:r>
            <a:r>
              <a:rPr sz="1500" b="1" spc="11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75">
                <a:solidFill>
                  <a:srgbClr val="FFFFFF"/>
                </a:solidFill>
                <a:latin typeface="Aptos Black"/>
                <a:cs typeface="Aptos Black"/>
              </a:rPr>
              <a:t>47</a:t>
            </a:r>
            <a:r>
              <a:rPr sz="1500" b="1" spc="114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CFR</a:t>
            </a:r>
            <a:r>
              <a:rPr sz="1500" b="1" spc="12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Part</a:t>
            </a:r>
            <a:r>
              <a:rPr sz="1500" b="1" spc="11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-10">
                <a:solidFill>
                  <a:srgbClr val="FFFFFF"/>
                </a:solidFill>
                <a:latin typeface="Aptos Black"/>
                <a:cs typeface="Aptos Black"/>
              </a:rPr>
              <a:t>15.247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Unlicensed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902–</a:t>
            </a:r>
            <a:r>
              <a:rPr sz="1250" spc="85">
                <a:solidFill>
                  <a:srgbClr val="D3ECE3"/>
                </a:solidFill>
                <a:latin typeface="Segoe UI Symbol"/>
                <a:cs typeface="Segoe UI Symbol"/>
              </a:rPr>
              <a:t>928</a:t>
            </a:r>
            <a:r>
              <a:rPr sz="125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MHz</a:t>
            </a:r>
            <a:r>
              <a:rPr sz="125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radios:</a:t>
            </a:r>
            <a:r>
              <a:rPr sz="125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our</a:t>
            </a:r>
            <a:r>
              <a:rPr sz="125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LoRa</a:t>
            </a:r>
            <a:r>
              <a:rPr sz="125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link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75">
                <a:solidFill>
                  <a:srgbClr val="D3ECE3"/>
                </a:solidFill>
                <a:latin typeface="Segoe UI Symbol"/>
                <a:cs typeface="Segoe UI Symbol"/>
              </a:rPr>
              <a:t>stays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D3ECE3"/>
                </a:solidFill>
                <a:latin typeface="Segoe UI Symbol"/>
                <a:cs typeface="Segoe UI Symbol"/>
              </a:rPr>
              <a:t>in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band</a:t>
            </a:r>
            <a:r>
              <a:rPr sz="125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25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at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≤</a:t>
            </a:r>
            <a:r>
              <a:rPr sz="125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+20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30">
                <a:solidFill>
                  <a:srgbClr val="D3ECE3"/>
                </a:solidFill>
                <a:latin typeface="Segoe UI Symbol"/>
                <a:cs typeface="Segoe UI Symbol"/>
              </a:rPr>
              <a:t>dBm.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30873" y="1371244"/>
            <a:ext cx="5619750" cy="1116330"/>
            <a:chOff x="6230873" y="1371244"/>
            <a:chExt cx="5619750" cy="1116330"/>
          </a:xfrm>
        </p:grpSpPr>
        <p:sp>
          <p:nvSpPr>
            <p:cNvPr id="10" name="object 10"/>
            <p:cNvSpPr/>
            <p:nvPr/>
          </p:nvSpPr>
          <p:spPr>
            <a:xfrm>
              <a:off x="6230873" y="1371244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30">
                  <a:moveTo>
                    <a:pt x="167766" y="0"/>
                  </a:moveTo>
                  <a:lnTo>
                    <a:pt x="124344" y="5756"/>
                  </a:lnTo>
                  <a:lnTo>
                    <a:pt x="83883" y="22313"/>
                  </a:lnTo>
                  <a:lnTo>
                    <a:pt x="49372" y="49044"/>
                  </a:lnTo>
                  <a:lnTo>
                    <a:pt x="22682" y="83870"/>
                  </a:lnTo>
                  <a:lnTo>
                    <a:pt x="5991" y="124015"/>
                  </a:lnTo>
                  <a:lnTo>
                    <a:pt x="368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5762" y="992022"/>
                  </a:lnTo>
                  <a:lnTo>
                    <a:pt x="12711" y="1012587"/>
                  </a:lnTo>
                  <a:lnTo>
                    <a:pt x="12762" y="1012737"/>
                  </a:lnTo>
                  <a:lnTo>
                    <a:pt x="22326" y="1032471"/>
                  </a:lnTo>
                  <a:lnTo>
                    <a:pt x="34475" y="1050444"/>
                  </a:lnTo>
                  <a:lnTo>
                    <a:pt x="34577" y="1050594"/>
                  </a:lnTo>
                  <a:lnTo>
                    <a:pt x="65560" y="1081429"/>
                  </a:lnTo>
                  <a:lnTo>
                    <a:pt x="103412" y="1103387"/>
                  </a:lnTo>
                  <a:lnTo>
                    <a:pt x="145446" y="1114586"/>
                  </a:lnTo>
                  <a:lnTo>
                    <a:pt x="167411" y="1115999"/>
                  </a:lnTo>
                  <a:lnTo>
                    <a:pt x="5451843" y="1115999"/>
                  </a:lnTo>
                  <a:lnTo>
                    <a:pt x="5473061" y="1114586"/>
                  </a:lnTo>
                  <a:lnTo>
                    <a:pt x="5473562" y="1114586"/>
                  </a:lnTo>
                  <a:lnTo>
                    <a:pt x="5515987" y="1103237"/>
                  </a:lnTo>
                  <a:lnTo>
                    <a:pt x="5553835" y="1081429"/>
                  </a:lnTo>
                  <a:lnTo>
                    <a:pt x="5584682" y="1050444"/>
                  </a:lnTo>
                  <a:lnTo>
                    <a:pt x="5606565" y="1012737"/>
                  </a:lnTo>
                  <a:lnTo>
                    <a:pt x="5606640" y="1012587"/>
                  </a:lnTo>
                  <a:lnTo>
                    <a:pt x="5613604" y="992022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85" y="124331"/>
                  </a:lnTo>
                  <a:lnTo>
                    <a:pt x="5596928" y="83870"/>
                  </a:lnTo>
                  <a:lnTo>
                    <a:pt x="5570197" y="49360"/>
                  </a:lnTo>
                  <a:lnTo>
                    <a:pt x="5535371" y="22669"/>
                  </a:lnTo>
                  <a:lnTo>
                    <a:pt x="5495226" y="5978"/>
                  </a:lnTo>
                  <a:lnTo>
                    <a:pt x="5451843" y="355"/>
                  </a:lnTo>
                  <a:lnTo>
                    <a:pt x="16776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59842" y="1608836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8207" y="2746"/>
                  </a:lnTo>
                  <a:lnTo>
                    <a:pt x="237285" y="10895"/>
                  </a:lnTo>
                  <a:lnTo>
                    <a:pt x="197780" y="24308"/>
                  </a:lnTo>
                  <a:lnTo>
                    <a:pt x="160197" y="42849"/>
                  </a:lnTo>
                  <a:lnTo>
                    <a:pt x="125154" y="66146"/>
                  </a:lnTo>
                  <a:lnTo>
                    <a:pt x="93687" y="93694"/>
                  </a:lnTo>
                  <a:lnTo>
                    <a:pt x="66136" y="125156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5"/>
                  </a:lnTo>
                  <a:lnTo>
                    <a:pt x="93687" y="546436"/>
                  </a:lnTo>
                  <a:lnTo>
                    <a:pt x="125154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40" y="640079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79" y="320039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6"/>
                  </a:lnTo>
                  <a:lnTo>
                    <a:pt x="546436" y="93694"/>
                  </a:lnTo>
                  <a:lnTo>
                    <a:pt x="515075" y="66146"/>
                  </a:lnTo>
                  <a:lnTo>
                    <a:pt x="480237" y="42849"/>
                  </a:lnTo>
                  <a:lnTo>
                    <a:pt x="442449" y="24308"/>
                  </a:lnTo>
                  <a:lnTo>
                    <a:pt x="402839" y="10895"/>
                  </a:lnTo>
                  <a:lnTo>
                    <a:pt x="361878" y="2746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drop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3918" y="1762556"/>
              <a:ext cx="332638" cy="33263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97458" y="1586641"/>
            <a:ext cx="4349115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 dirty="0">
                <a:solidFill>
                  <a:srgbClr val="FFFFFF"/>
                </a:solidFill>
                <a:latin typeface="Aptos Black"/>
                <a:cs typeface="Aptos Black"/>
              </a:rPr>
              <a:t>IEC</a:t>
            </a:r>
            <a:r>
              <a:rPr sz="1500" b="1" spc="3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100" dirty="0">
                <a:solidFill>
                  <a:srgbClr val="FFFFFF"/>
                </a:solidFill>
                <a:latin typeface="Aptos Black"/>
                <a:cs typeface="Aptos Black"/>
              </a:rPr>
              <a:t>60529</a:t>
            </a:r>
            <a:r>
              <a:rPr sz="1500" b="1" spc="2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ptos Black"/>
                <a:cs typeface="Aptos Black"/>
              </a:rPr>
              <a:t>(IP</a:t>
            </a:r>
            <a:r>
              <a:rPr sz="1500" b="1" spc="2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Aptos Black"/>
                <a:cs typeface="Aptos Black"/>
              </a:rPr>
              <a:t>Code)</a:t>
            </a:r>
            <a:endParaRPr sz="1500" dirty="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50" dirty="0">
                <a:solidFill>
                  <a:srgbClr val="D3ECE3"/>
                </a:solidFill>
                <a:latin typeface="Segoe UI Symbol"/>
                <a:cs typeface="Segoe UI Symbol"/>
              </a:rPr>
              <a:t>Ingress</a:t>
            </a:r>
            <a:r>
              <a:rPr sz="125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protection:</a:t>
            </a:r>
            <a:r>
              <a:rPr sz="12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D3ECE3"/>
                </a:solidFill>
                <a:latin typeface="Segoe UI Symbol"/>
                <a:cs typeface="Segoe UI Symbol"/>
              </a:rPr>
              <a:t>IP</a:t>
            </a:r>
            <a:r>
              <a:rPr lang="en-US" sz="1250" spc="70" dirty="0">
                <a:solidFill>
                  <a:srgbClr val="D3ECE3"/>
                </a:solidFill>
                <a:latin typeface="Segoe UI Symbol"/>
                <a:cs typeface="Segoe UI Symbol"/>
              </a:rPr>
              <a:t>33</a:t>
            </a:r>
            <a:r>
              <a:rPr sz="12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target</a:t>
            </a:r>
            <a:r>
              <a:rPr sz="125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2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2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45" dirty="0">
                <a:solidFill>
                  <a:srgbClr val="D3ECE3"/>
                </a:solidFill>
                <a:latin typeface="Segoe UI Symbol"/>
                <a:cs typeface="Segoe UI Symbol"/>
              </a:rPr>
              <a:t>electronics</a:t>
            </a:r>
            <a:r>
              <a:rPr sz="12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5" dirty="0">
                <a:solidFill>
                  <a:srgbClr val="D3ECE3"/>
                </a:solidFill>
                <a:latin typeface="Segoe UI Symbol"/>
                <a:cs typeface="Segoe UI Symbol"/>
              </a:rPr>
              <a:t>bay;</a:t>
            </a:r>
            <a:r>
              <a:rPr sz="12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D3ECE3"/>
                </a:solidFill>
                <a:latin typeface="Segoe UI Symbol"/>
                <a:cs typeface="Segoe UI Symbol"/>
              </a:rPr>
              <a:t>the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2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D3ECE3"/>
                </a:solidFill>
                <a:latin typeface="Segoe UI Symbol"/>
                <a:cs typeface="Segoe UI Symbol"/>
              </a:rPr>
              <a:t>probe</a:t>
            </a:r>
            <a:r>
              <a:rPr sz="12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5" dirty="0">
                <a:solidFill>
                  <a:srgbClr val="D3ECE3"/>
                </a:solidFill>
                <a:latin typeface="Segoe UI Symbol"/>
                <a:cs typeface="Segoe UI Symbol"/>
              </a:rPr>
              <a:t>is</a:t>
            </a:r>
            <a:r>
              <a:rPr sz="125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5" dirty="0">
                <a:solidFill>
                  <a:srgbClr val="D3ECE3"/>
                </a:solidFill>
                <a:latin typeface="Segoe UI Symbol"/>
                <a:cs typeface="Segoe UI Symbol"/>
              </a:rPr>
              <a:t>IP68.</a:t>
            </a:r>
            <a:endParaRPr sz="1250" dirty="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7680" y="2688120"/>
            <a:ext cx="5619750" cy="1116330"/>
            <a:chOff x="337680" y="2688120"/>
            <a:chExt cx="5619750" cy="1116330"/>
          </a:xfrm>
        </p:grpSpPr>
        <p:sp>
          <p:nvSpPr>
            <p:cNvPr id="15" name="object 15"/>
            <p:cNvSpPr/>
            <p:nvPr/>
          </p:nvSpPr>
          <p:spPr>
            <a:xfrm>
              <a:off x="337680" y="2688120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54" y="0"/>
                  </a:moveTo>
                  <a:lnTo>
                    <a:pt x="124332" y="5761"/>
                  </a:lnTo>
                  <a:lnTo>
                    <a:pt x="83883" y="22313"/>
                  </a:lnTo>
                  <a:lnTo>
                    <a:pt x="49363" y="49050"/>
                  </a:lnTo>
                  <a:lnTo>
                    <a:pt x="22682" y="83883"/>
                  </a:lnTo>
                  <a:lnTo>
                    <a:pt x="5984" y="124021"/>
                  </a:lnTo>
                  <a:lnTo>
                    <a:pt x="355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5761" y="992023"/>
                  </a:lnTo>
                  <a:lnTo>
                    <a:pt x="12704" y="1012587"/>
                  </a:lnTo>
                  <a:lnTo>
                    <a:pt x="12756" y="1012743"/>
                  </a:lnTo>
                  <a:lnTo>
                    <a:pt x="34465" y="1050444"/>
                  </a:lnTo>
                  <a:lnTo>
                    <a:pt x="65555" y="1081435"/>
                  </a:lnTo>
                  <a:lnTo>
                    <a:pt x="103412" y="1103398"/>
                  </a:lnTo>
                  <a:lnTo>
                    <a:pt x="145441" y="1114588"/>
                  </a:lnTo>
                  <a:lnTo>
                    <a:pt x="167398" y="1115999"/>
                  </a:lnTo>
                  <a:lnTo>
                    <a:pt x="5451843" y="1115999"/>
                  </a:lnTo>
                  <a:lnTo>
                    <a:pt x="5473028" y="1114588"/>
                  </a:lnTo>
                  <a:lnTo>
                    <a:pt x="5473547" y="1114588"/>
                  </a:lnTo>
                  <a:lnTo>
                    <a:pt x="5515979" y="1103242"/>
                  </a:lnTo>
                  <a:lnTo>
                    <a:pt x="5553828" y="1081435"/>
                  </a:lnTo>
                  <a:lnTo>
                    <a:pt x="5584672" y="1050444"/>
                  </a:lnTo>
                  <a:lnTo>
                    <a:pt x="5606557" y="1012743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79" y="124332"/>
                  </a:lnTo>
                  <a:lnTo>
                    <a:pt x="5596915" y="83883"/>
                  </a:lnTo>
                  <a:lnTo>
                    <a:pt x="5570189" y="49363"/>
                  </a:lnTo>
                  <a:lnTo>
                    <a:pt x="5535358" y="22682"/>
                  </a:lnTo>
                  <a:lnTo>
                    <a:pt x="5495220" y="5984"/>
                  </a:lnTo>
                  <a:lnTo>
                    <a:pt x="5451843" y="355"/>
                  </a:lnTo>
                  <a:lnTo>
                    <a:pt x="167754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6635" y="292572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0"/>
                  </a:moveTo>
                  <a:lnTo>
                    <a:pt x="278201" y="2744"/>
                  </a:lnTo>
                  <a:lnTo>
                    <a:pt x="237240" y="10888"/>
                  </a:lnTo>
                  <a:lnTo>
                    <a:pt x="197630" y="24297"/>
                  </a:lnTo>
                  <a:lnTo>
                    <a:pt x="159842" y="42837"/>
                  </a:lnTo>
                  <a:lnTo>
                    <a:pt x="125006" y="66136"/>
                  </a:lnTo>
                  <a:lnTo>
                    <a:pt x="93649" y="93687"/>
                  </a:lnTo>
                  <a:lnTo>
                    <a:pt x="66141" y="125154"/>
                  </a:lnTo>
                  <a:lnTo>
                    <a:pt x="42849" y="160197"/>
                  </a:lnTo>
                  <a:lnTo>
                    <a:pt x="24308" y="197780"/>
                  </a:lnTo>
                  <a:lnTo>
                    <a:pt x="10895" y="237285"/>
                  </a:lnTo>
                  <a:lnTo>
                    <a:pt x="2746" y="278207"/>
                  </a:lnTo>
                  <a:lnTo>
                    <a:pt x="0" y="320039"/>
                  </a:lnTo>
                  <a:lnTo>
                    <a:pt x="2746" y="361878"/>
                  </a:lnTo>
                  <a:lnTo>
                    <a:pt x="10895" y="402839"/>
                  </a:lnTo>
                  <a:lnTo>
                    <a:pt x="24308" y="442449"/>
                  </a:lnTo>
                  <a:lnTo>
                    <a:pt x="42849" y="480237"/>
                  </a:lnTo>
                  <a:lnTo>
                    <a:pt x="66146" y="515073"/>
                  </a:lnTo>
                  <a:lnTo>
                    <a:pt x="93694" y="546430"/>
                  </a:lnTo>
                  <a:lnTo>
                    <a:pt x="125156" y="573938"/>
                  </a:lnTo>
                  <a:lnTo>
                    <a:pt x="160197" y="597230"/>
                  </a:lnTo>
                  <a:lnTo>
                    <a:pt x="197780" y="615771"/>
                  </a:lnTo>
                  <a:lnTo>
                    <a:pt x="237285" y="629184"/>
                  </a:lnTo>
                  <a:lnTo>
                    <a:pt x="278207" y="637333"/>
                  </a:lnTo>
                  <a:lnTo>
                    <a:pt x="320039" y="640079"/>
                  </a:lnTo>
                  <a:lnTo>
                    <a:pt x="361878" y="637333"/>
                  </a:lnTo>
                  <a:lnTo>
                    <a:pt x="402839" y="629184"/>
                  </a:lnTo>
                  <a:lnTo>
                    <a:pt x="442449" y="615771"/>
                  </a:lnTo>
                  <a:lnTo>
                    <a:pt x="480237" y="597230"/>
                  </a:lnTo>
                  <a:lnTo>
                    <a:pt x="515075" y="573938"/>
                  </a:lnTo>
                  <a:lnTo>
                    <a:pt x="546436" y="546430"/>
                  </a:lnTo>
                  <a:lnTo>
                    <a:pt x="573949" y="515073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80" y="320039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robot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725" y="3079445"/>
              <a:ext cx="332638" cy="33263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04264" y="2903161"/>
            <a:ext cx="4208145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 spc="45">
                <a:solidFill>
                  <a:srgbClr val="FFFFFF"/>
                </a:solidFill>
                <a:latin typeface="Aptos Black"/>
                <a:cs typeface="Aptos Black"/>
              </a:rPr>
              <a:t>ANSI/A3</a:t>
            </a:r>
            <a:r>
              <a:rPr sz="1500" b="1" spc="27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R15.08-</a:t>
            </a:r>
            <a:r>
              <a:rPr sz="1500" b="1" spc="-70">
                <a:solidFill>
                  <a:srgbClr val="FFFFFF"/>
                </a:solidFill>
                <a:latin typeface="Aptos Black"/>
                <a:cs typeface="Aptos Black"/>
              </a:rPr>
              <a:t>1-</a:t>
            </a:r>
            <a:r>
              <a:rPr sz="1500" b="1" spc="90">
                <a:solidFill>
                  <a:srgbClr val="FFFFFF"/>
                </a:solidFill>
                <a:latin typeface="Aptos Black"/>
                <a:cs typeface="Aptos Black"/>
              </a:rPr>
              <a:t>2020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Mobile-robot</a:t>
            </a:r>
            <a:r>
              <a:rPr sz="1250" spc="1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safety:</a:t>
            </a:r>
            <a:r>
              <a:rPr sz="1250" spc="1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e-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stop,</a:t>
            </a:r>
            <a:r>
              <a:rPr sz="1250" spc="1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protective</a:t>
            </a:r>
            <a:r>
              <a:rPr sz="1250" spc="1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stop</a:t>
            </a:r>
            <a:r>
              <a:rPr sz="1250" spc="1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250" spc="1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D3ECE3"/>
                </a:solidFill>
                <a:latin typeface="Segoe UI Symbol"/>
                <a:cs typeface="Segoe UI Symbol"/>
              </a:rPr>
              <a:t>manual override.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0873" y="2688120"/>
            <a:ext cx="5619750" cy="1116330"/>
            <a:chOff x="6230873" y="2688120"/>
            <a:chExt cx="5619750" cy="1116330"/>
          </a:xfrm>
        </p:grpSpPr>
        <p:sp>
          <p:nvSpPr>
            <p:cNvPr id="20" name="object 20"/>
            <p:cNvSpPr/>
            <p:nvPr/>
          </p:nvSpPr>
          <p:spPr>
            <a:xfrm>
              <a:off x="6230873" y="2688120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66" y="0"/>
                  </a:moveTo>
                  <a:lnTo>
                    <a:pt x="124344" y="5761"/>
                  </a:lnTo>
                  <a:lnTo>
                    <a:pt x="83883" y="22313"/>
                  </a:lnTo>
                  <a:lnTo>
                    <a:pt x="49372" y="49050"/>
                  </a:lnTo>
                  <a:lnTo>
                    <a:pt x="22682" y="83883"/>
                  </a:lnTo>
                  <a:lnTo>
                    <a:pt x="5991" y="124021"/>
                  </a:lnTo>
                  <a:lnTo>
                    <a:pt x="368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12709" y="1012587"/>
                  </a:lnTo>
                  <a:lnTo>
                    <a:pt x="34472" y="1050444"/>
                  </a:lnTo>
                  <a:lnTo>
                    <a:pt x="34577" y="1050600"/>
                  </a:lnTo>
                  <a:lnTo>
                    <a:pt x="65560" y="1081435"/>
                  </a:lnTo>
                  <a:lnTo>
                    <a:pt x="103412" y="1103398"/>
                  </a:lnTo>
                  <a:lnTo>
                    <a:pt x="145446" y="1114588"/>
                  </a:lnTo>
                  <a:lnTo>
                    <a:pt x="167411" y="1115999"/>
                  </a:lnTo>
                  <a:lnTo>
                    <a:pt x="5451843" y="1115999"/>
                  </a:lnTo>
                  <a:lnTo>
                    <a:pt x="5473034" y="1114588"/>
                  </a:lnTo>
                  <a:lnTo>
                    <a:pt x="5473553" y="1114588"/>
                  </a:lnTo>
                  <a:lnTo>
                    <a:pt x="5515987" y="1103242"/>
                  </a:lnTo>
                  <a:lnTo>
                    <a:pt x="5553835" y="1081435"/>
                  </a:lnTo>
                  <a:lnTo>
                    <a:pt x="5584682" y="1050444"/>
                  </a:lnTo>
                  <a:lnTo>
                    <a:pt x="5606563" y="1012743"/>
                  </a:lnTo>
                  <a:lnTo>
                    <a:pt x="5606640" y="1012587"/>
                  </a:lnTo>
                  <a:lnTo>
                    <a:pt x="5613603" y="992023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85" y="124332"/>
                  </a:lnTo>
                  <a:lnTo>
                    <a:pt x="5596928" y="83883"/>
                  </a:lnTo>
                  <a:lnTo>
                    <a:pt x="5570197" y="49363"/>
                  </a:lnTo>
                  <a:lnTo>
                    <a:pt x="5535371" y="22682"/>
                  </a:lnTo>
                  <a:lnTo>
                    <a:pt x="5495226" y="5984"/>
                  </a:lnTo>
                  <a:lnTo>
                    <a:pt x="5451843" y="355"/>
                  </a:lnTo>
                  <a:lnTo>
                    <a:pt x="16776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59842" y="2925724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3"/>
                  </a:lnTo>
                  <a:lnTo>
                    <a:pt x="93687" y="546430"/>
                  </a:lnTo>
                  <a:lnTo>
                    <a:pt x="125154" y="573938"/>
                  </a:lnTo>
                  <a:lnTo>
                    <a:pt x="160197" y="597230"/>
                  </a:lnTo>
                  <a:lnTo>
                    <a:pt x="197780" y="615771"/>
                  </a:lnTo>
                  <a:lnTo>
                    <a:pt x="237285" y="629184"/>
                  </a:lnTo>
                  <a:lnTo>
                    <a:pt x="278207" y="637333"/>
                  </a:lnTo>
                  <a:lnTo>
                    <a:pt x="320040" y="640079"/>
                  </a:lnTo>
                  <a:lnTo>
                    <a:pt x="361878" y="637333"/>
                  </a:lnTo>
                  <a:lnTo>
                    <a:pt x="402839" y="629184"/>
                  </a:lnTo>
                  <a:lnTo>
                    <a:pt x="442449" y="615771"/>
                  </a:lnTo>
                  <a:lnTo>
                    <a:pt x="480237" y="597230"/>
                  </a:lnTo>
                  <a:lnTo>
                    <a:pt x="515075" y="573938"/>
                  </a:lnTo>
                  <a:lnTo>
                    <a:pt x="546436" y="546430"/>
                  </a:lnTo>
                  <a:lnTo>
                    <a:pt x="573949" y="515073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79" y="320039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battery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3918" y="3079445"/>
              <a:ext cx="332638" cy="33263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297458" y="2903161"/>
            <a:ext cx="3815079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IEC</a:t>
            </a:r>
            <a:r>
              <a:rPr sz="1500" b="1" spc="28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62133-</a:t>
            </a:r>
            <a:r>
              <a:rPr sz="1500" b="1" spc="25">
                <a:solidFill>
                  <a:srgbClr val="FFFFFF"/>
                </a:solidFill>
                <a:latin typeface="Aptos Black"/>
                <a:cs typeface="Aptos Black"/>
              </a:rPr>
              <a:t>2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Lithium</a:t>
            </a:r>
            <a:r>
              <a:rPr sz="125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battery</a:t>
            </a:r>
            <a:r>
              <a:rPr sz="125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safety:</a:t>
            </a:r>
            <a:r>
              <a:rPr sz="125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we</a:t>
            </a:r>
            <a:r>
              <a:rPr sz="125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buy</a:t>
            </a:r>
            <a:r>
              <a:rPr sz="1250" spc="1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only</a:t>
            </a:r>
            <a:r>
              <a:rPr sz="125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LiFePO4</a:t>
            </a:r>
            <a:r>
              <a:rPr sz="125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70">
                <a:solidFill>
                  <a:srgbClr val="D3ECE3"/>
                </a:solidFill>
                <a:latin typeface="Segoe UI Symbol"/>
                <a:cs typeface="Segoe UI Symbol"/>
              </a:rPr>
              <a:t>packs </a:t>
            </a:r>
            <a:r>
              <a:rPr sz="1250" spc="10">
                <a:solidFill>
                  <a:srgbClr val="D3ECE3"/>
                </a:solidFill>
                <a:latin typeface="Segoe UI Symbol"/>
                <a:cs typeface="Segoe UI Symbol"/>
              </a:rPr>
              <a:t>certified</a:t>
            </a:r>
            <a:r>
              <a:rPr sz="125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1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7680" y="4004640"/>
            <a:ext cx="5619750" cy="1116330"/>
            <a:chOff x="337680" y="4004640"/>
            <a:chExt cx="5619750" cy="1116330"/>
          </a:xfrm>
        </p:grpSpPr>
        <p:sp>
          <p:nvSpPr>
            <p:cNvPr id="25" name="object 25"/>
            <p:cNvSpPr/>
            <p:nvPr/>
          </p:nvSpPr>
          <p:spPr>
            <a:xfrm>
              <a:off x="337680" y="4004640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54" y="0"/>
                  </a:moveTo>
                  <a:lnTo>
                    <a:pt x="124332" y="5761"/>
                  </a:lnTo>
                  <a:lnTo>
                    <a:pt x="83883" y="22313"/>
                  </a:lnTo>
                  <a:lnTo>
                    <a:pt x="49363" y="49050"/>
                  </a:lnTo>
                  <a:lnTo>
                    <a:pt x="22682" y="83883"/>
                  </a:lnTo>
                  <a:lnTo>
                    <a:pt x="5984" y="124021"/>
                  </a:lnTo>
                  <a:lnTo>
                    <a:pt x="355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12704" y="1012587"/>
                  </a:lnTo>
                  <a:lnTo>
                    <a:pt x="34465" y="1050444"/>
                  </a:lnTo>
                  <a:lnTo>
                    <a:pt x="65555" y="1081435"/>
                  </a:lnTo>
                  <a:lnTo>
                    <a:pt x="103412" y="1103398"/>
                  </a:lnTo>
                  <a:lnTo>
                    <a:pt x="145441" y="1114588"/>
                  </a:lnTo>
                  <a:lnTo>
                    <a:pt x="167398" y="1115999"/>
                  </a:lnTo>
                  <a:lnTo>
                    <a:pt x="5451843" y="1115999"/>
                  </a:lnTo>
                  <a:lnTo>
                    <a:pt x="5473028" y="1114588"/>
                  </a:lnTo>
                  <a:lnTo>
                    <a:pt x="5473547" y="1114588"/>
                  </a:lnTo>
                  <a:lnTo>
                    <a:pt x="5515979" y="1103242"/>
                  </a:lnTo>
                  <a:lnTo>
                    <a:pt x="5553828" y="1081435"/>
                  </a:lnTo>
                  <a:lnTo>
                    <a:pt x="5584672" y="1050444"/>
                  </a:lnTo>
                  <a:lnTo>
                    <a:pt x="5606557" y="1012743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79" y="124332"/>
                  </a:lnTo>
                  <a:lnTo>
                    <a:pt x="5596915" y="83883"/>
                  </a:lnTo>
                  <a:lnTo>
                    <a:pt x="5570189" y="49363"/>
                  </a:lnTo>
                  <a:lnTo>
                    <a:pt x="5535358" y="22682"/>
                  </a:lnTo>
                  <a:lnTo>
                    <a:pt x="5495220" y="5984"/>
                  </a:lnTo>
                  <a:lnTo>
                    <a:pt x="5451843" y="355"/>
                  </a:lnTo>
                  <a:lnTo>
                    <a:pt x="167754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6635" y="4242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0"/>
                  </a:moveTo>
                  <a:lnTo>
                    <a:pt x="278201" y="2744"/>
                  </a:lnTo>
                  <a:lnTo>
                    <a:pt x="237240" y="10888"/>
                  </a:lnTo>
                  <a:lnTo>
                    <a:pt x="197630" y="24297"/>
                  </a:lnTo>
                  <a:lnTo>
                    <a:pt x="159842" y="42837"/>
                  </a:lnTo>
                  <a:lnTo>
                    <a:pt x="125006" y="66136"/>
                  </a:lnTo>
                  <a:lnTo>
                    <a:pt x="93649" y="93687"/>
                  </a:lnTo>
                  <a:lnTo>
                    <a:pt x="66141" y="125154"/>
                  </a:lnTo>
                  <a:lnTo>
                    <a:pt x="42849" y="160197"/>
                  </a:lnTo>
                  <a:lnTo>
                    <a:pt x="24308" y="197780"/>
                  </a:lnTo>
                  <a:lnTo>
                    <a:pt x="10895" y="237285"/>
                  </a:lnTo>
                  <a:lnTo>
                    <a:pt x="2746" y="278207"/>
                  </a:lnTo>
                  <a:lnTo>
                    <a:pt x="0" y="320040"/>
                  </a:lnTo>
                  <a:lnTo>
                    <a:pt x="2746" y="361878"/>
                  </a:lnTo>
                  <a:lnTo>
                    <a:pt x="10895" y="402839"/>
                  </a:lnTo>
                  <a:lnTo>
                    <a:pt x="24308" y="442449"/>
                  </a:lnTo>
                  <a:lnTo>
                    <a:pt x="42849" y="480237"/>
                  </a:lnTo>
                  <a:lnTo>
                    <a:pt x="66146" y="515075"/>
                  </a:lnTo>
                  <a:lnTo>
                    <a:pt x="93694" y="546436"/>
                  </a:lnTo>
                  <a:lnTo>
                    <a:pt x="125156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39" y="640080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80" y="320040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swap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725" y="4395965"/>
              <a:ext cx="332638" cy="33263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404264" y="4220036"/>
            <a:ext cx="3952875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 spc="50">
                <a:solidFill>
                  <a:srgbClr val="FFFFFF"/>
                </a:solidFill>
                <a:latin typeface="Aptos Black"/>
                <a:cs typeface="Aptos Black"/>
              </a:rPr>
              <a:t>MAVLink </a:t>
            </a:r>
            <a:r>
              <a:rPr sz="1500" b="1" spc="25">
                <a:solidFill>
                  <a:srgbClr val="FFFFFF"/>
                </a:solidFill>
                <a:latin typeface="Aptos Black"/>
                <a:cs typeface="Aptos Black"/>
              </a:rPr>
              <a:t>2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Message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protocol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45">
                <a:solidFill>
                  <a:srgbClr val="D3ECE3"/>
                </a:solidFill>
                <a:latin typeface="Segoe UI Symbol"/>
                <a:cs typeface="Segoe UI Symbol"/>
              </a:rPr>
              <a:t>between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Raspberry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 Pi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D3ECE3"/>
                </a:solidFill>
                <a:latin typeface="Segoe UI Symbol"/>
                <a:cs typeface="Segoe UI Symbol"/>
              </a:rPr>
              <a:t>the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ArduPilot</a:t>
            </a:r>
            <a:r>
              <a:rPr sz="1250" spc="11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flight</a:t>
            </a:r>
            <a:r>
              <a:rPr sz="1250" spc="13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D3ECE3"/>
                </a:solidFill>
                <a:latin typeface="Segoe UI Symbol"/>
                <a:cs typeface="Segoe UI Symbol"/>
              </a:rPr>
              <a:t>controller.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30873" y="4004640"/>
            <a:ext cx="5619750" cy="1116330"/>
            <a:chOff x="6230873" y="4004640"/>
            <a:chExt cx="5619750" cy="1116330"/>
          </a:xfrm>
        </p:grpSpPr>
        <p:sp>
          <p:nvSpPr>
            <p:cNvPr id="30" name="object 30"/>
            <p:cNvSpPr/>
            <p:nvPr/>
          </p:nvSpPr>
          <p:spPr>
            <a:xfrm>
              <a:off x="6230873" y="4004640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66" y="0"/>
                  </a:moveTo>
                  <a:lnTo>
                    <a:pt x="124344" y="5761"/>
                  </a:lnTo>
                  <a:lnTo>
                    <a:pt x="83883" y="22313"/>
                  </a:lnTo>
                  <a:lnTo>
                    <a:pt x="49372" y="49050"/>
                  </a:lnTo>
                  <a:lnTo>
                    <a:pt x="22682" y="83883"/>
                  </a:lnTo>
                  <a:lnTo>
                    <a:pt x="5991" y="124021"/>
                  </a:lnTo>
                  <a:lnTo>
                    <a:pt x="368" y="167398"/>
                  </a:lnTo>
                  <a:lnTo>
                    <a:pt x="0" y="948601"/>
                  </a:lnTo>
                  <a:lnTo>
                    <a:pt x="1463" y="970564"/>
                  </a:lnTo>
                  <a:lnTo>
                    <a:pt x="5762" y="992023"/>
                  </a:lnTo>
                  <a:lnTo>
                    <a:pt x="12709" y="1012587"/>
                  </a:lnTo>
                  <a:lnTo>
                    <a:pt x="12762" y="1012743"/>
                  </a:lnTo>
                  <a:lnTo>
                    <a:pt x="34472" y="1050444"/>
                  </a:lnTo>
                  <a:lnTo>
                    <a:pt x="65560" y="1081435"/>
                  </a:lnTo>
                  <a:lnTo>
                    <a:pt x="103412" y="1103398"/>
                  </a:lnTo>
                  <a:lnTo>
                    <a:pt x="145446" y="1114588"/>
                  </a:lnTo>
                  <a:lnTo>
                    <a:pt x="167411" y="1115999"/>
                  </a:lnTo>
                  <a:lnTo>
                    <a:pt x="5451843" y="1115999"/>
                  </a:lnTo>
                  <a:lnTo>
                    <a:pt x="5473034" y="1114588"/>
                  </a:lnTo>
                  <a:lnTo>
                    <a:pt x="5473553" y="1114588"/>
                  </a:lnTo>
                  <a:lnTo>
                    <a:pt x="5515987" y="1103242"/>
                  </a:lnTo>
                  <a:lnTo>
                    <a:pt x="5553835" y="1081435"/>
                  </a:lnTo>
                  <a:lnTo>
                    <a:pt x="5584682" y="1050444"/>
                  </a:lnTo>
                  <a:lnTo>
                    <a:pt x="5606563" y="1012743"/>
                  </a:lnTo>
                  <a:lnTo>
                    <a:pt x="5617829" y="970564"/>
                  </a:lnTo>
                  <a:lnTo>
                    <a:pt x="5619242" y="948601"/>
                  </a:lnTo>
                  <a:lnTo>
                    <a:pt x="5619218" y="167398"/>
                  </a:lnTo>
                  <a:lnTo>
                    <a:pt x="5613485" y="124332"/>
                  </a:lnTo>
                  <a:lnTo>
                    <a:pt x="5596928" y="83883"/>
                  </a:lnTo>
                  <a:lnTo>
                    <a:pt x="5570197" y="49363"/>
                  </a:lnTo>
                  <a:lnTo>
                    <a:pt x="5535371" y="22682"/>
                  </a:lnTo>
                  <a:lnTo>
                    <a:pt x="5495226" y="5984"/>
                  </a:lnTo>
                  <a:lnTo>
                    <a:pt x="5451843" y="355"/>
                  </a:lnTo>
                  <a:lnTo>
                    <a:pt x="16776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59842" y="42425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5"/>
                  </a:lnTo>
                  <a:lnTo>
                    <a:pt x="93687" y="546436"/>
                  </a:lnTo>
                  <a:lnTo>
                    <a:pt x="125154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40" y="640080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79" y="320040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chip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13918" y="4395965"/>
              <a:ext cx="332638" cy="33263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297458" y="4220036"/>
            <a:ext cx="3805554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Modbus</a:t>
            </a:r>
            <a:r>
              <a:rPr sz="1500" b="1" spc="18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60">
                <a:solidFill>
                  <a:srgbClr val="FFFFFF"/>
                </a:solidFill>
                <a:latin typeface="Aptos Black"/>
                <a:cs typeface="Aptos Black"/>
              </a:rPr>
              <a:t>RTU</a:t>
            </a:r>
            <a:r>
              <a:rPr sz="1500" b="1" spc="18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over</a:t>
            </a:r>
            <a:r>
              <a:rPr sz="1500" b="1" spc="17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90">
                <a:solidFill>
                  <a:srgbClr val="FFFFFF"/>
                </a:solidFill>
                <a:latin typeface="Aptos Black"/>
                <a:cs typeface="Aptos Black"/>
              </a:rPr>
              <a:t>TIA-</a:t>
            </a:r>
            <a:r>
              <a:rPr sz="1500" b="1" spc="100">
                <a:solidFill>
                  <a:srgbClr val="FFFFFF"/>
                </a:solidFill>
                <a:latin typeface="Aptos Black"/>
                <a:cs typeface="Aptos Black"/>
              </a:rPr>
              <a:t>485-</a:t>
            </a:r>
            <a:r>
              <a:rPr sz="1500" b="1" spc="110">
                <a:solidFill>
                  <a:srgbClr val="FFFFFF"/>
                </a:solidFill>
                <a:latin typeface="Aptos Black"/>
                <a:cs typeface="Aptos Black"/>
              </a:rPr>
              <a:t>A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Serial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bus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protocol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used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25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read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4-</a:t>
            </a:r>
            <a:r>
              <a:rPr sz="1250" spc="-10">
                <a:solidFill>
                  <a:srgbClr val="D3ECE3"/>
                </a:solidFill>
                <a:latin typeface="Segoe UI Symbol"/>
                <a:cs typeface="Segoe UI Symbol"/>
              </a:rPr>
              <a:t>in-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1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0">
                <a:solidFill>
                  <a:srgbClr val="D3ECE3"/>
                </a:solidFill>
                <a:latin typeface="Segoe UI Symbol"/>
                <a:cs typeface="Segoe UI Symbol"/>
              </a:rPr>
              <a:t>soil </a:t>
            </a:r>
            <a:r>
              <a:rPr sz="1250" spc="40">
                <a:solidFill>
                  <a:srgbClr val="D3ECE3"/>
                </a:solidFill>
                <a:latin typeface="Segoe UI Symbol"/>
                <a:cs typeface="Segoe UI Symbol"/>
              </a:rPr>
              <a:t>sensor.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7680" y="5321515"/>
            <a:ext cx="5619750" cy="1116330"/>
            <a:chOff x="337680" y="5321515"/>
            <a:chExt cx="5619750" cy="1116330"/>
          </a:xfrm>
        </p:grpSpPr>
        <p:sp>
          <p:nvSpPr>
            <p:cNvPr id="35" name="object 35"/>
            <p:cNvSpPr/>
            <p:nvPr/>
          </p:nvSpPr>
          <p:spPr>
            <a:xfrm>
              <a:off x="337680" y="5321515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54" y="0"/>
                  </a:moveTo>
                  <a:lnTo>
                    <a:pt x="124332" y="5762"/>
                  </a:lnTo>
                  <a:lnTo>
                    <a:pt x="83883" y="22326"/>
                  </a:lnTo>
                  <a:lnTo>
                    <a:pt x="49363" y="49052"/>
                  </a:lnTo>
                  <a:lnTo>
                    <a:pt x="22682" y="83883"/>
                  </a:lnTo>
                  <a:lnTo>
                    <a:pt x="5984" y="124021"/>
                  </a:lnTo>
                  <a:lnTo>
                    <a:pt x="355" y="167398"/>
                  </a:lnTo>
                  <a:lnTo>
                    <a:pt x="0" y="948601"/>
                  </a:lnTo>
                  <a:lnTo>
                    <a:pt x="1463" y="970569"/>
                  </a:lnTo>
                  <a:lnTo>
                    <a:pt x="12706" y="1012594"/>
                  </a:lnTo>
                  <a:lnTo>
                    <a:pt x="34468" y="1050451"/>
                  </a:lnTo>
                  <a:lnTo>
                    <a:pt x="34570" y="1050601"/>
                  </a:lnTo>
                  <a:lnTo>
                    <a:pt x="65555" y="1081440"/>
                  </a:lnTo>
                  <a:lnTo>
                    <a:pt x="103412" y="1103398"/>
                  </a:lnTo>
                  <a:lnTo>
                    <a:pt x="145441" y="1114588"/>
                  </a:lnTo>
                  <a:lnTo>
                    <a:pt x="167398" y="1115999"/>
                  </a:lnTo>
                  <a:lnTo>
                    <a:pt x="5451843" y="1115999"/>
                  </a:lnTo>
                  <a:lnTo>
                    <a:pt x="5473054" y="1114588"/>
                  </a:lnTo>
                  <a:lnTo>
                    <a:pt x="5473556" y="1114588"/>
                  </a:lnTo>
                  <a:lnTo>
                    <a:pt x="5515979" y="1103248"/>
                  </a:lnTo>
                  <a:lnTo>
                    <a:pt x="5553828" y="1081440"/>
                  </a:lnTo>
                  <a:lnTo>
                    <a:pt x="5584672" y="1050451"/>
                  </a:lnTo>
                  <a:lnTo>
                    <a:pt x="5606560" y="1012744"/>
                  </a:lnTo>
                  <a:lnTo>
                    <a:pt x="5606635" y="1012594"/>
                  </a:lnTo>
                  <a:lnTo>
                    <a:pt x="5613602" y="992028"/>
                  </a:lnTo>
                  <a:lnTo>
                    <a:pt x="5617829" y="970569"/>
                  </a:lnTo>
                  <a:lnTo>
                    <a:pt x="5619242" y="948601"/>
                  </a:lnTo>
                  <a:lnTo>
                    <a:pt x="5619217" y="167398"/>
                  </a:lnTo>
                  <a:lnTo>
                    <a:pt x="5613479" y="124339"/>
                  </a:lnTo>
                  <a:lnTo>
                    <a:pt x="5596915" y="83883"/>
                  </a:lnTo>
                  <a:lnTo>
                    <a:pt x="5570189" y="49368"/>
                  </a:lnTo>
                  <a:lnTo>
                    <a:pt x="5535358" y="22682"/>
                  </a:lnTo>
                  <a:lnTo>
                    <a:pt x="5495220" y="5991"/>
                  </a:lnTo>
                  <a:lnTo>
                    <a:pt x="5451843" y="368"/>
                  </a:lnTo>
                  <a:lnTo>
                    <a:pt x="167754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6635" y="55591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0"/>
                  </a:moveTo>
                  <a:lnTo>
                    <a:pt x="278201" y="2744"/>
                  </a:lnTo>
                  <a:lnTo>
                    <a:pt x="237240" y="10888"/>
                  </a:lnTo>
                  <a:lnTo>
                    <a:pt x="197630" y="24297"/>
                  </a:lnTo>
                  <a:lnTo>
                    <a:pt x="159842" y="42837"/>
                  </a:lnTo>
                  <a:lnTo>
                    <a:pt x="125006" y="66136"/>
                  </a:lnTo>
                  <a:lnTo>
                    <a:pt x="93649" y="93687"/>
                  </a:lnTo>
                  <a:lnTo>
                    <a:pt x="66141" y="125154"/>
                  </a:lnTo>
                  <a:lnTo>
                    <a:pt x="42849" y="160197"/>
                  </a:lnTo>
                  <a:lnTo>
                    <a:pt x="24308" y="197780"/>
                  </a:lnTo>
                  <a:lnTo>
                    <a:pt x="10895" y="237285"/>
                  </a:lnTo>
                  <a:lnTo>
                    <a:pt x="2746" y="278207"/>
                  </a:lnTo>
                  <a:lnTo>
                    <a:pt x="0" y="320040"/>
                  </a:lnTo>
                  <a:lnTo>
                    <a:pt x="2746" y="361878"/>
                  </a:lnTo>
                  <a:lnTo>
                    <a:pt x="10895" y="402839"/>
                  </a:lnTo>
                  <a:lnTo>
                    <a:pt x="24308" y="442449"/>
                  </a:lnTo>
                  <a:lnTo>
                    <a:pt x="42849" y="480237"/>
                  </a:lnTo>
                  <a:lnTo>
                    <a:pt x="66146" y="515075"/>
                  </a:lnTo>
                  <a:lnTo>
                    <a:pt x="93694" y="546436"/>
                  </a:lnTo>
                  <a:lnTo>
                    <a:pt x="125156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39" y="640080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80" y="320040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flask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725" y="5712840"/>
              <a:ext cx="332638" cy="33263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404264" y="5536925"/>
            <a:ext cx="3910965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ISO</a:t>
            </a:r>
            <a:r>
              <a:rPr sz="1500" b="1" spc="5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-10">
                <a:solidFill>
                  <a:srgbClr val="FFFFFF"/>
                </a:solidFill>
                <a:latin typeface="Aptos Black"/>
                <a:cs typeface="Aptos Black"/>
              </a:rPr>
              <a:t>10390:2021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Reference</a:t>
            </a:r>
            <a:r>
              <a:rPr sz="125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method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pH,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55">
                <a:solidFill>
                  <a:srgbClr val="D3ECE3"/>
                </a:solidFill>
                <a:latin typeface="Segoe UI Symbol"/>
                <a:cs typeface="Segoe UI Symbol"/>
              </a:rPr>
              <a:t>used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80">
                <a:solidFill>
                  <a:srgbClr val="D3ECE3"/>
                </a:solidFill>
                <a:latin typeface="Segoe UI Symbol"/>
                <a:cs typeface="Segoe UI Symbol"/>
              </a:rPr>
              <a:t>check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our</a:t>
            </a:r>
            <a:r>
              <a:rPr sz="125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D3ECE3"/>
                </a:solidFill>
                <a:latin typeface="Segoe UI Symbol"/>
                <a:cs typeface="Segoe UI Symbol"/>
              </a:rPr>
              <a:t>pH </a:t>
            </a:r>
            <a:r>
              <a:rPr sz="1250" spc="35">
                <a:solidFill>
                  <a:srgbClr val="D3ECE3"/>
                </a:solidFill>
                <a:latin typeface="Segoe UI Symbol"/>
                <a:cs typeface="Segoe UI Symbol"/>
              </a:rPr>
              <a:t>readings.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30873" y="5321515"/>
            <a:ext cx="5619750" cy="1116330"/>
            <a:chOff x="6230873" y="5321515"/>
            <a:chExt cx="5619750" cy="1116330"/>
          </a:xfrm>
        </p:grpSpPr>
        <p:sp>
          <p:nvSpPr>
            <p:cNvPr id="40" name="object 40"/>
            <p:cNvSpPr/>
            <p:nvPr/>
          </p:nvSpPr>
          <p:spPr>
            <a:xfrm>
              <a:off x="6230873" y="5321515"/>
              <a:ext cx="5619750" cy="1116330"/>
            </a:xfrm>
            <a:custGeom>
              <a:avLst/>
              <a:gdLst/>
              <a:ahLst/>
              <a:cxnLst/>
              <a:rect l="l" t="t" r="r" b="b"/>
              <a:pathLst>
                <a:path w="5619750" h="1116329">
                  <a:moveTo>
                    <a:pt x="167766" y="0"/>
                  </a:moveTo>
                  <a:lnTo>
                    <a:pt x="124344" y="5762"/>
                  </a:lnTo>
                  <a:lnTo>
                    <a:pt x="83883" y="22326"/>
                  </a:lnTo>
                  <a:lnTo>
                    <a:pt x="49372" y="49052"/>
                  </a:lnTo>
                  <a:lnTo>
                    <a:pt x="22682" y="83883"/>
                  </a:lnTo>
                  <a:lnTo>
                    <a:pt x="5991" y="124021"/>
                  </a:lnTo>
                  <a:lnTo>
                    <a:pt x="368" y="167398"/>
                  </a:lnTo>
                  <a:lnTo>
                    <a:pt x="0" y="948601"/>
                  </a:lnTo>
                  <a:lnTo>
                    <a:pt x="1463" y="970569"/>
                  </a:lnTo>
                  <a:lnTo>
                    <a:pt x="12711" y="1012594"/>
                  </a:lnTo>
                  <a:lnTo>
                    <a:pt x="34475" y="1050451"/>
                  </a:lnTo>
                  <a:lnTo>
                    <a:pt x="34577" y="1050601"/>
                  </a:lnTo>
                  <a:lnTo>
                    <a:pt x="65560" y="1081440"/>
                  </a:lnTo>
                  <a:lnTo>
                    <a:pt x="103412" y="1103398"/>
                  </a:lnTo>
                  <a:lnTo>
                    <a:pt x="145446" y="1114588"/>
                  </a:lnTo>
                  <a:lnTo>
                    <a:pt x="167411" y="1115999"/>
                  </a:lnTo>
                  <a:lnTo>
                    <a:pt x="5451843" y="1115999"/>
                  </a:lnTo>
                  <a:lnTo>
                    <a:pt x="5473060" y="1114588"/>
                  </a:lnTo>
                  <a:lnTo>
                    <a:pt x="5473562" y="1114588"/>
                  </a:lnTo>
                  <a:lnTo>
                    <a:pt x="5515987" y="1103248"/>
                  </a:lnTo>
                  <a:lnTo>
                    <a:pt x="5553835" y="1081440"/>
                  </a:lnTo>
                  <a:lnTo>
                    <a:pt x="5584682" y="1050451"/>
                  </a:lnTo>
                  <a:lnTo>
                    <a:pt x="5606565" y="1012744"/>
                  </a:lnTo>
                  <a:lnTo>
                    <a:pt x="5617829" y="970569"/>
                  </a:lnTo>
                  <a:lnTo>
                    <a:pt x="5619242" y="948601"/>
                  </a:lnTo>
                  <a:lnTo>
                    <a:pt x="5619217" y="167398"/>
                  </a:lnTo>
                  <a:lnTo>
                    <a:pt x="5613485" y="124339"/>
                  </a:lnTo>
                  <a:lnTo>
                    <a:pt x="5596928" y="83883"/>
                  </a:lnTo>
                  <a:lnTo>
                    <a:pt x="5570197" y="49368"/>
                  </a:lnTo>
                  <a:lnTo>
                    <a:pt x="5535371" y="22682"/>
                  </a:lnTo>
                  <a:lnTo>
                    <a:pt x="5495226" y="5991"/>
                  </a:lnTo>
                  <a:lnTo>
                    <a:pt x="5451843" y="368"/>
                  </a:lnTo>
                  <a:lnTo>
                    <a:pt x="16776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59842" y="555912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54" y="66136"/>
                  </a:lnTo>
                  <a:lnTo>
                    <a:pt x="93687" y="93687"/>
                  </a:lnTo>
                  <a:lnTo>
                    <a:pt x="66136" y="125154"/>
                  </a:lnTo>
                  <a:lnTo>
                    <a:pt x="42837" y="160197"/>
                  </a:lnTo>
                  <a:lnTo>
                    <a:pt x="24297" y="197780"/>
                  </a:lnTo>
                  <a:lnTo>
                    <a:pt x="10888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2744" y="361878"/>
                  </a:lnTo>
                  <a:lnTo>
                    <a:pt x="10888" y="402839"/>
                  </a:lnTo>
                  <a:lnTo>
                    <a:pt x="24297" y="442449"/>
                  </a:lnTo>
                  <a:lnTo>
                    <a:pt x="42837" y="480237"/>
                  </a:lnTo>
                  <a:lnTo>
                    <a:pt x="66136" y="515075"/>
                  </a:lnTo>
                  <a:lnTo>
                    <a:pt x="93687" y="546436"/>
                  </a:lnTo>
                  <a:lnTo>
                    <a:pt x="125154" y="573949"/>
                  </a:lnTo>
                  <a:lnTo>
                    <a:pt x="160197" y="597242"/>
                  </a:lnTo>
                  <a:lnTo>
                    <a:pt x="197780" y="615782"/>
                  </a:lnTo>
                  <a:lnTo>
                    <a:pt x="237285" y="629191"/>
                  </a:lnTo>
                  <a:lnTo>
                    <a:pt x="278207" y="637335"/>
                  </a:lnTo>
                  <a:lnTo>
                    <a:pt x="320040" y="640080"/>
                  </a:lnTo>
                  <a:lnTo>
                    <a:pt x="361878" y="637335"/>
                  </a:lnTo>
                  <a:lnTo>
                    <a:pt x="402839" y="629191"/>
                  </a:lnTo>
                  <a:lnTo>
                    <a:pt x="442449" y="615782"/>
                  </a:lnTo>
                  <a:lnTo>
                    <a:pt x="480237" y="597242"/>
                  </a:lnTo>
                  <a:lnTo>
                    <a:pt x="515075" y="573949"/>
                  </a:lnTo>
                  <a:lnTo>
                    <a:pt x="546436" y="546436"/>
                  </a:lnTo>
                  <a:lnTo>
                    <a:pt x="573949" y="515075"/>
                  </a:lnTo>
                  <a:lnTo>
                    <a:pt x="597242" y="480237"/>
                  </a:lnTo>
                  <a:lnTo>
                    <a:pt x="615782" y="442449"/>
                  </a:lnTo>
                  <a:lnTo>
                    <a:pt x="629191" y="402839"/>
                  </a:lnTo>
                  <a:lnTo>
                    <a:pt x="637335" y="361878"/>
                  </a:lnTo>
                  <a:lnTo>
                    <a:pt x="640079" y="320040"/>
                  </a:lnTo>
                  <a:lnTo>
                    <a:pt x="637335" y="278207"/>
                  </a:lnTo>
                  <a:lnTo>
                    <a:pt x="629191" y="237285"/>
                  </a:lnTo>
                  <a:lnTo>
                    <a:pt x="615782" y="197780"/>
                  </a:lnTo>
                  <a:lnTo>
                    <a:pt x="597242" y="160197"/>
                  </a:lnTo>
                  <a:lnTo>
                    <a:pt x="573949" y="125154"/>
                  </a:lnTo>
                  <a:lnTo>
                    <a:pt x="546436" y="93687"/>
                  </a:lnTo>
                  <a:lnTo>
                    <a:pt x="515075" y="66136"/>
                  </a:lnTo>
                  <a:lnTo>
                    <a:pt x="480237" y="42837"/>
                  </a:lnTo>
                  <a:lnTo>
                    <a:pt x="442449" y="24297"/>
                  </a:lnTo>
                  <a:lnTo>
                    <a:pt x="402839" y="10888"/>
                  </a:lnTo>
                  <a:lnTo>
                    <a:pt x="361878" y="2744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 descr="tools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3918" y="5712840"/>
              <a:ext cx="332638" cy="332638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297458" y="5536925"/>
            <a:ext cx="4182745" cy="691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1">
                <a:solidFill>
                  <a:srgbClr val="FFFFFF"/>
                </a:solidFill>
                <a:latin typeface="Aptos Black"/>
                <a:cs typeface="Aptos Black"/>
              </a:rPr>
              <a:t>IPC</a:t>
            </a:r>
            <a:r>
              <a:rPr sz="1500" b="1" spc="5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500" b="1" spc="195">
                <a:solidFill>
                  <a:srgbClr val="FFFFFF"/>
                </a:solidFill>
                <a:latin typeface="Aptos Black"/>
                <a:cs typeface="Aptos Black"/>
              </a:rPr>
              <a:t>J-</a:t>
            </a:r>
            <a:r>
              <a:rPr sz="1500" b="1" spc="85">
                <a:solidFill>
                  <a:srgbClr val="FFFFFF"/>
                </a:solidFill>
                <a:latin typeface="Aptos Black"/>
                <a:cs typeface="Aptos Black"/>
              </a:rPr>
              <a:t>STD-</a:t>
            </a:r>
            <a:r>
              <a:rPr sz="1500" b="1" spc="-25">
                <a:solidFill>
                  <a:srgbClr val="FFFFFF"/>
                </a:solidFill>
                <a:latin typeface="Aptos Black"/>
                <a:cs typeface="Aptos Black"/>
              </a:rPr>
              <a:t>001</a:t>
            </a:r>
            <a:endParaRPr sz="15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200"/>
              </a:spcBef>
            </a:pP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Workmanship</a:t>
            </a:r>
            <a:r>
              <a:rPr sz="1250" spc="1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standard</a:t>
            </a:r>
            <a:r>
              <a:rPr sz="1250" spc="1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250" spc="1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250" spc="1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soldered</a:t>
            </a:r>
            <a:r>
              <a:rPr sz="1250" spc="1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45">
                <a:solidFill>
                  <a:srgbClr val="D3ECE3"/>
                </a:solidFill>
                <a:latin typeface="Segoe UI Symbol"/>
                <a:cs typeface="Segoe UI Symbol"/>
              </a:rPr>
              <a:t>connections</a:t>
            </a:r>
            <a:r>
              <a:rPr sz="1250" spc="1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25">
                <a:solidFill>
                  <a:srgbClr val="D3ECE3"/>
                </a:solidFill>
                <a:latin typeface="Segoe UI Symbol"/>
                <a:cs typeface="Segoe UI Symbol"/>
              </a:rPr>
              <a:t>on </a:t>
            </a:r>
            <a:r>
              <a:rPr sz="125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25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250" spc="-10">
                <a:solidFill>
                  <a:srgbClr val="D3ECE3"/>
                </a:solidFill>
                <a:latin typeface="Segoe UI Symbol"/>
                <a:cs typeface="Segoe UI Symbol"/>
              </a:rPr>
              <a:t>robot.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8412480" cy="532765"/>
          </a:xfrm>
          <a:custGeom>
            <a:avLst/>
            <a:gdLst/>
            <a:ahLst/>
            <a:cxnLst/>
            <a:rect l="l" t="t" r="r" b="b"/>
            <a:pathLst>
              <a:path w="8412480" h="532765">
                <a:moveTo>
                  <a:pt x="8412111" y="0"/>
                </a:moveTo>
                <a:lnTo>
                  <a:pt x="0" y="0"/>
                </a:lnTo>
                <a:lnTo>
                  <a:pt x="0" y="532434"/>
                </a:lnTo>
                <a:lnTo>
                  <a:pt x="4206240" y="532434"/>
                </a:lnTo>
                <a:lnTo>
                  <a:pt x="8412111" y="532434"/>
                </a:lnTo>
                <a:lnTo>
                  <a:pt x="8412111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0">
              <a:lnSpc>
                <a:spcPct val="100000"/>
              </a:lnSpc>
              <a:spcBef>
                <a:spcPts val="100"/>
              </a:spcBef>
            </a:pPr>
            <a:r>
              <a:rPr spc="90"/>
              <a:t>Component</a:t>
            </a:r>
            <a:r>
              <a:rPr spc="-50"/>
              <a:t> </a:t>
            </a:r>
            <a:r>
              <a:t>1:</a:t>
            </a:r>
            <a:r>
              <a:rPr spc="-50"/>
              <a:t> </a:t>
            </a:r>
            <a:r>
              <a:rPr spc="65"/>
              <a:t>Flight</a:t>
            </a:r>
            <a:r>
              <a:rPr spc="-35"/>
              <a:t> </a:t>
            </a:r>
            <a:r>
              <a:rPr spc="60"/>
              <a:t>Controller</a:t>
            </a:r>
          </a:p>
        </p:txBody>
      </p:sp>
      <p:sp>
        <p:nvSpPr>
          <p:cNvPr id="4" name="object 4"/>
          <p:cNvSpPr/>
          <p:nvPr/>
        </p:nvSpPr>
        <p:spPr>
          <a:xfrm>
            <a:off x="338404" y="1371600"/>
            <a:ext cx="3611879" cy="5194300"/>
          </a:xfrm>
          <a:custGeom>
            <a:avLst/>
            <a:gdLst/>
            <a:ahLst/>
            <a:cxnLst/>
            <a:rect l="l" t="t" r="r" b="b"/>
            <a:pathLst>
              <a:path w="3611879" h="5194300">
                <a:moveTo>
                  <a:pt x="3358794" y="0"/>
                </a:moveTo>
                <a:lnTo>
                  <a:pt x="252717" y="0"/>
                </a:lnTo>
                <a:lnTo>
                  <a:pt x="219706" y="2148"/>
                </a:lnTo>
                <a:lnTo>
                  <a:pt x="156119" y="19138"/>
                </a:lnTo>
                <a:lnTo>
                  <a:pt x="98785" y="52148"/>
                </a:lnTo>
                <a:lnTo>
                  <a:pt x="52257" y="98796"/>
                </a:lnTo>
                <a:lnTo>
                  <a:pt x="19132" y="156132"/>
                </a:lnTo>
                <a:lnTo>
                  <a:pt x="2148" y="219714"/>
                </a:lnTo>
                <a:lnTo>
                  <a:pt x="0" y="252717"/>
                </a:lnTo>
                <a:lnTo>
                  <a:pt x="0" y="4940998"/>
                </a:lnTo>
                <a:lnTo>
                  <a:pt x="8476" y="5005976"/>
                </a:lnTo>
                <a:lnTo>
                  <a:pt x="33832" y="5067363"/>
                </a:lnTo>
                <a:lnTo>
                  <a:pt x="73882" y="5119695"/>
                </a:lnTo>
                <a:lnTo>
                  <a:pt x="126352" y="5159883"/>
                </a:lnTo>
                <a:lnTo>
                  <a:pt x="187372" y="5185167"/>
                </a:lnTo>
                <a:lnTo>
                  <a:pt x="252717" y="5193715"/>
                </a:lnTo>
                <a:lnTo>
                  <a:pt x="3359150" y="5193360"/>
                </a:lnTo>
                <a:lnTo>
                  <a:pt x="3424494" y="5184809"/>
                </a:lnTo>
                <a:lnTo>
                  <a:pt x="3485515" y="5159514"/>
                </a:lnTo>
                <a:lnTo>
                  <a:pt x="3537851" y="5119465"/>
                </a:lnTo>
                <a:lnTo>
                  <a:pt x="3578034" y="5066995"/>
                </a:lnTo>
                <a:lnTo>
                  <a:pt x="3603205" y="5006343"/>
                </a:lnTo>
                <a:lnTo>
                  <a:pt x="3603329" y="5005976"/>
                </a:lnTo>
                <a:lnTo>
                  <a:pt x="3609659" y="4974008"/>
                </a:lnTo>
                <a:lnTo>
                  <a:pt x="3609731" y="4973646"/>
                </a:lnTo>
                <a:lnTo>
                  <a:pt x="3611856" y="4940998"/>
                </a:lnTo>
                <a:lnTo>
                  <a:pt x="3611511" y="252717"/>
                </a:lnTo>
                <a:lnTo>
                  <a:pt x="3602963" y="187383"/>
                </a:lnTo>
                <a:lnTo>
                  <a:pt x="3577678" y="126364"/>
                </a:lnTo>
                <a:lnTo>
                  <a:pt x="3537629" y="74028"/>
                </a:lnTo>
                <a:lnTo>
                  <a:pt x="3485159" y="33845"/>
                </a:lnTo>
                <a:lnTo>
                  <a:pt x="3424139" y="8550"/>
                </a:lnTo>
                <a:lnTo>
                  <a:pt x="3391804" y="2148"/>
                </a:lnTo>
                <a:lnTo>
                  <a:pt x="3358794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8535" y="1499559"/>
            <a:ext cx="3240405" cy="356892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What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it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must</a:t>
            </a:r>
            <a:r>
              <a:rPr sz="1600" b="1" spc="7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ptos Black"/>
                <a:cs typeface="Aptos Black"/>
              </a:rPr>
              <a:t>do</a:t>
            </a:r>
            <a:endParaRPr sz="1600" dirty="0">
              <a:latin typeface="Aptos Black"/>
              <a:cs typeface="Aptos Black"/>
            </a:endParaRPr>
          </a:p>
          <a:p>
            <a:pPr marL="38100" marR="32384">
              <a:lnSpc>
                <a:spcPct val="100000"/>
              </a:lnSpc>
              <a:spcBef>
                <a:spcPts val="400"/>
              </a:spcBef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Run</a:t>
            </a:r>
            <a:r>
              <a:rPr sz="135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 err="1">
                <a:solidFill>
                  <a:srgbClr val="D3ECE3"/>
                </a:solidFill>
                <a:latin typeface="Segoe UI Symbol"/>
                <a:cs typeface="Segoe UI Symbol"/>
              </a:rPr>
              <a:t>ArduPilot</a:t>
            </a:r>
            <a:r>
              <a:rPr sz="1350" spc="1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Rover:</a:t>
            </a:r>
            <a:r>
              <a:rPr sz="135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75" dirty="0">
                <a:solidFill>
                  <a:srgbClr val="D3ECE3"/>
                </a:solidFill>
                <a:latin typeface="Segoe UI Symbol"/>
                <a:cs typeface="Segoe UI Symbol"/>
              </a:rPr>
              <a:t>fuse</a:t>
            </a:r>
            <a:r>
              <a:rPr sz="1350" spc="1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80" dirty="0">
                <a:solidFill>
                  <a:srgbClr val="D3ECE3"/>
                </a:solidFill>
                <a:latin typeface="Segoe UI Symbol"/>
                <a:cs typeface="Segoe UI Symbol"/>
              </a:rPr>
              <a:t>GPS, </a:t>
            </a: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compass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IMU,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drive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both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skid-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steer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motor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channels,</a:t>
            </a:r>
            <a:r>
              <a:rPr sz="1350" spc="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keep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its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own </a:t>
            </a:r>
            <a:r>
              <a:rPr sz="1350" spc="55" dirty="0" err="1">
                <a:solidFill>
                  <a:srgbClr val="D3ECE3"/>
                </a:solidFill>
                <a:latin typeface="Segoe UI Symbol"/>
                <a:cs typeface="Segoe UI Symbol"/>
              </a:rPr>
              <a:t>failsafes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running</a:t>
            </a: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even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if</a:t>
            </a: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Pi </a:t>
            </a:r>
            <a:r>
              <a:rPr sz="1350" spc="75" dirty="0">
                <a:solidFill>
                  <a:srgbClr val="D3ECE3"/>
                </a:solidFill>
                <a:latin typeface="Segoe UI Symbol"/>
                <a:cs typeface="Segoe UI Symbol"/>
              </a:rPr>
              <a:t>crashes.</a:t>
            </a:r>
            <a:endParaRPr sz="1350" dirty="0">
              <a:latin typeface="Segoe UI Symbol"/>
              <a:cs typeface="Segoe UI Symbol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Selection</a:t>
            </a:r>
            <a:r>
              <a:rPr sz="1600" b="1" spc="-10" dirty="0">
                <a:solidFill>
                  <a:srgbClr val="FFFFFF"/>
                </a:solidFill>
                <a:latin typeface="Aptos Black"/>
                <a:cs typeface="Aptos Black"/>
              </a:rPr>
              <a:t> metrics</a:t>
            </a:r>
            <a:endParaRPr sz="1600" dirty="0">
              <a:latin typeface="Aptos Black"/>
              <a:cs typeface="Aptos Black"/>
            </a:endParaRPr>
          </a:p>
          <a:p>
            <a:pPr marL="184150" indent="-14605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Cost</a:t>
            </a:r>
            <a:r>
              <a:rPr sz="135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≤</a:t>
            </a:r>
            <a:r>
              <a:rPr sz="135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75" dirty="0">
                <a:solidFill>
                  <a:srgbClr val="D3ECE3"/>
                </a:solidFill>
                <a:latin typeface="Segoe UI Symbol"/>
                <a:cs typeface="Segoe UI Symbol"/>
              </a:rPr>
              <a:t>$75,</a:t>
            </a:r>
            <a:r>
              <a:rPr sz="1350" spc="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350" spc="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leave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budget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5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solar</a:t>
            </a:r>
            <a:endParaRPr sz="1350" dirty="0">
              <a:latin typeface="Segoe UI Symbol"/>
              <a:cs typeface="Segoe UI Symbol"/>
            </a:endParaRPr>
          </a:p>
          <a:p>
            <a:pPr marL="184150" marR="742950" indent="-1466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Runs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 err="1">
                <a:solidFill>
                  <a:srgbClr val="D3ECE3"/>
                </a:solidFill>
                <a:latin typeface="Segoe UI Symbol"/>
                <a:cs typeface="Segoe UI Symbol"/>
              </a:rPr>
              <a:t>ArduPilot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Rover</a:t>
            </a:r>
            <a:r>
              <a:rPr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(tested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navigation</a:t>
            </a:r>
            <a:r>
              <a:rPr sz="1350" spc="1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1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 err="1">
                <a:solidFill>
                  <a:srgbClr val="D3ECE3"/>
                </a:solidFill>
                <a:latin typeface="Segoe UI Symbol"/>
                <a:cs typeface="Segoe UI Symbol"/>
              </a:rPr>
              <a:t>failsafes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)</a:t>
            </a:r>
            <a:endParaRPr sz="1350" dirty="0">
              <a:latin typeface="Segoe UI Symbol"/>
              <a:cs typeface="Segoe UI Symbol"/>
            </a:endParaRPr>
          </a:p>
          <a:p>
            <a:pPr marL="184150" marR="30480" indent="-1466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Serial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ports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GPS,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(</a:t>
            </a:r>
            <a:r>
              <a:rPr sz="1350" spc="-10" dirty="0" err="1">
                <a:solidFill>
                  <a:srgbClr val="D3ECE3"/>
                </a:solidFill>
                <a:latin typeface="Segoe UI Symbol"/>
                <a:cs typeface="Segoe UI Symbol"/>
              </a:rPr>
              <a:t>MAVLink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) </a:t>
            </a:r>
            <a:endParaRPr lang="en-US" sz="1350" spc="-10" dirty="0">
              <a:solidFill>
                <a:srgbClr val="D3ECE3"/>
              </a:solidFill>
              <a:latin typeface="Segoe UI Symbol"/>
              <a:cs typeface="Segoe UI Symbol"/>
            </a:endParaRPr>
          </a:p>
          <a:p>
            <a:pPr marL="184150" marR="30480" indent="-1466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Battery</a:t>
            </a:r>
            <a:r>
              <a:rPr sz="1350" spc="229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voltage</a:t>
            </a:r>
            <a:r>
              <a:rPr sz="1350" spc="229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2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current</a:t>
            </a:r>
            <a:r>
              <a:rPr sz="1350" spc="2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sensing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50" spc="2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low-battery</a:t>
            </a:r>
            <a:r>
              <a:rPr sz="1350" spc="2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return</a:t>
            </a:r>
            <a:endParaRPr sz="1350" dirty="0">
              <a:latin typeface="Segoe UI Symbol"/>
              <a:cs typeface="Segoe UI Symbol"/>
            </a:endParaRPr>
          </a:p>
          <a:p>
            <a:pPr marL="184150" indent="-1460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350" spc="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stock</a:t>
            </a:r>
            <a:r>
              <a:rPr sz="135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now</a:t>
            </a:r>
            <a:endParaRPr sz="1350" dirty="0">
              <a:latin typeface="Segoe UI Symbol"/>
              <a:cs typeface="Segoe UI Symbo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72429"/>
              </p:ext>
            </p:extLst>
          </p:nvPr>
        </p:nvGraphicFramePr>
        <p:xfrm>
          <a:off x="4220476" y="1367472"/>
          <a:ext cx="7625712" cy="296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Pixhawk</a:t>
                      </a:r>
                      <a:r>
                        <a:rPr sz="1150" b="1" spc="7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5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6C</a:t>
                      </a:r>
                      <a:r>
                        <a:rPr sz="1150" b="1" spc="8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Mini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Matek</a:t>
                      </a:r>
                      <a:r>
                        <a:rPr sz="1150" b="1" spc="13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H743-Slim</a:t>
                      </a:r>
                      <a:r>
                        <a:rPr sz="1150" b="1" spc="13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7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V4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SpeedyBee</a:t>
                      </a:r>
                      <a:r>
                        <a:rPr sz="1150" b="1" spc="17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8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F405</a:t>
                      </a:r>
                      <a:r>
                        <a:rPr sz="1150" b="1" spc="185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Wing</a:t>
                      </a:r>
                      <a:endParaRPr sz="1150" dirty="0">
                        <a:latin typeface="Aptos Black"/>
                        <a:cs typeface="Aptos Black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A66B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Price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$176.99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$128.99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</a:t>
                      </a:r>
                      <a:r>
                        <a:rPr lang="en-US"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67.26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Processor</a:t>
                      </a:r>
                      <a:r>
                        <a:rPr sz="1200" b="1" spc="12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·</a:t>
                      </a:r>
                      <a:r>
                        <a:rPr sz="1200" b="1" spc="13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2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flash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STM32H743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STM32H743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STM32F405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ArduPilot</a:t>
                      </a:r>
                      <a:r>
                        <a:rPr sz="1200" b="1" spc="7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firmware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Standard</a:t>
                      </a:r>
                      <a:r>
                        <a:rPr sz="1200" spc="3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build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Standard</a:t>
                      </a:r>
                      <a:r>
                        <a:rPr sz="1200" spc="3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build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Custom</a:t>
                      </a:r>
                      <a:r>
                        <a:rPr sz="1200" spc="1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build</a:t>
                      </a:r>
                      <a:r>
                        <a:rPr sz="1200" spc="1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(trimmed)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Wiring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Plug-in</a:t>
                      </a:r>
                      <a:r>
                        <a:rPr sz="1200" spc="2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JST-</a:t>
                      </a:r>
                      <a:r>
                        <a:rPr sz="12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GH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Solder</a:t>
                      </a:r>
                      <a:r>
                        <a:rPr sz="1200" spc="25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pads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Pads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power</a:t>
                      </a:r>
                      <a:r>
                        <a:rPr sz="12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board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Battery</a:t>
                      </a:r>
                      <a:r>
                        <a:rPr sz="1200" b="1" spc="8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sensing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Extra</a:t>
                      </a:r>
                      <a:r>
                        <a:rPr sz="12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power</a:t>
                      </a:r>
                      <a:r>
                        <a:rPr sz="12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module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Onboard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Onboard,</a:t>
                      </a:r>
                      <a:r>
                        <a:rPr sz="12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90</a:t>
                      </a:r>
                      <a:r>
                        <a:rPr sz="12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2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sensor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Meets</a:t>
                      </a:r>
                      <a:r>
                        <a:rPr sz="1200" b="1" spc="9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1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≤</a:t>
                      </a:r>
                      <a:r>
                        <a:rPr sz="1200" b="1" spc="10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2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$75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0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223880" y="4571644"/>
            <a:ext cx="7626984" cy="1993900"/>
          </a:xfrm>
          <a:custGeom>
            <a:avLst/>
            <a:gdLst/>
            <a:ahLst/>
            <a:cxnLst/>
            <a:rect l="l" t="t" r="r" b="b"/>
            <a:pathLst>
              <a:path w="7626984" h="1993900">
                <a:moveTo>
                  <a:pt x="159842" y="0"/>
                </a:moveTo>
                <a:lnTo>
                  <a:pt x="118529" y="5487"/>
                </a:lnTo>
                <a:lnTo>
                  <a:pt x="79921" y="21234"/>
                </a:lnTo>
                <a:lnTo>
                  <a:pt x="46980" y="46662"/>
                </a:lnTo>
                <a:lnTo>
                  <a:pt x="21602" y="79921"/>
                </a:lnTo>
                <a:lnTo>
                  <a:pt x="5711" y="118211"/>
                </a:lnTo>
                <a:lnTo>
                  <a:pt x="355" y="159473"/>
                </a:lnTo>
                <a:lnTo>
                  <a:pt x="0" y="1834197"/>
                </a:lnTo>
                <a:lnTo>
                  <a:pt x="1394" y="1855088"/>
                </a:lnTo>
                <a:lnTo>
                  <a:pt x="12093" y="1895094"/>
                </a:lnTo>
                <a:lnTo>
                  <a:pt x="32782" y="1931274"/>
                </a:lnTo>
                <a:lnTo>
                  <a:pt x="62396" y="1960790"/>
                </a:lnTo>
                <a:lnTo>
                  <a:pt x="98577" y="1981675"/>
                </a:lnTo>
                <a:lnTo>
                  <a:pt x="138589" y="1992326"/>
                </a:lnTo>
                <a:lnTo>
                  <a:pt x="159473" y="1993671"/>
                </a:lnTo>
                <a:lnTo>
                  <a:pt x="7467117" y="1993671"/>
                </a:lnTo>
                <a:lnTo>
                  <a:pt x="7487260" y="1992326"/>
                </a:lnTo>
                <a:lnTo>
                  <a:pt x="7487760" y="1992326"/>
                </a:lnTo>
                <a:lnTo>
                  <a:pt x="7528175" y="1981525"/>
                </a:lnTo>
                <a:lnTo>
                  <a:pt x="7564343" y="1960790"/>
                </a:lnTo>
                <a:lnTo>
                  <a:pt x="7593715" y="1931274"/>
                </a:lnTo>
                <a:lnTo>
                  <a:pt x="7614525" y="1895249"/>
                </a:lnTo>
                <a:lnTo>
                  <a:pt x="7614602" y="1895094"/>
                </a:lnTo>
                <a:lnTo>
                  <a:pt x="7621232" y="1875505"/>
                </a:lnTo>
                <a:lnTo>
                  <a:pt x="7625258" y="1855088"/>
                </a:lnTo>
                <a:lnTo>
                  <a:pt x="7626604" y="1834197"/>
                </a:lnTo>
                <a:lnTo>
                  <a:pt x="7626580" y="159473"/>
                </a:lnTo>
                <a:lnTo>
                  <a:pt x="7621109" y="118522"/>
                </a:lnTo>
                <a:lnTo>
                  <a:pt x="7605356" y="79921"/>
                </a:lnTo>
                <a:lnTo>
                  <a:pt x="7579934" y="46974"/>
                </a:lnTo>
                <a:lnTo>
                  <a:pt x="7546682" y="21590"/>
                </a:lnTo>
                <a:lnTo>
                  <a:pt x="7508386" y="5710"/>
                </a:lnTo>
                <a:lnTo>
                  <a:pt x="7467117" y="355"/>
                </a:lnTo>
                <a:lnTo>
                  <a:pt x="159842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0135" y="4871783"/>
            <a:ext cx="7167880" cy="902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Choice:</a:t>
            </a:r>
            <a:r>
              <a:rPr sz="1300" b="1" spc="14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Aptos Black"/>
                <a:cs typeface="Aptos Black"/>
              </a:rPr>
              <a:t>SpeedyBee</a:t>
            </a:r>
            <a:r>
              <a:rPr sz="1300" b="1" spc="14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spc="90" dirty="0">
                <a:solidFill>
                  <a:srgbClr val="FFFFFF"/>
                </a:solidFill>
                <a:latin typeface="Aptos Black"/>
                <a:cs typeface="Aptos Black"/>
              </a:rPr>
              <a:t>F405</a:t>
            </a:r>
            <a:r>
              <a:rPr sz="1300" b="1" spc="12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Wing.</a:t>
            </a:r>
            <a:r>
              <a:rPr sz="1300" b="1" spc="7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runs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same</a:t>
            </a:r>
            <a:r>
              <a:rPr sz="130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 err="1">
                <a:solidFill>
                  <a:srgbClr val="D3ECE3"/>
                </a:solidFill>
                <a:latin typeface="Segoe UI Symbol"/>
                <a:cs typeface="Segoe UI Symbol"/>
              </a:rPr>
              <a:t>ArduPilot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Rover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software</a:t>
            </a:r>
            <a:r>
              <a:rPr sz="1300" spc="11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$80–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130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less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than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35" dirty="0">
                <a:solidFill>
                  <a:srgbClr val="D3ECE3"/>
                </a:solidFill>
                <a:latin typeface="Segoe UI Symbol"/>
                <a:cs typeface="Segoe UI Symbol"/>
              </a:rPr>
              <a:t>alternatives.</a:t>
            </a:r>
            <a:endParaRPr sz="1300" dirty="0">
              <a:latin typeface="Segoe UI Symbol"/>
              <a:cs typeface="Segoe UI Symbol"/>
            </a:endParaRPr>
          </a:p>
          <a:p>
            <a:pPr marL="12700" marR="514984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Trade-offs:</a:t>
            </a:r>
            <a:r>
              <a:rPr sz="1300" b="1" spc="14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spc="-180" dirty="0">
                <a:solidFill>
                  <a:srgbClr val="D3ECE3"/>
                </a:solidFill>
                <a:latin typeface="Segoe UI Symbol"/>
                <a:cs typeface="Segoe UI Symbol"/>
              </a:rPr>
              <a:t>1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MB</a:t>
            </a:r>
            <a:r>
              <a:rPr sz="130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of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flash</a:t>
            </a:r>
            <a:r>
              <a:rPr sz="130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means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custom</a:t>
            </a:r>
            <a:r>
              <a:rPr sz="130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45" dirty="0">
                <a:solidFill>
                  <a:srgbClr val="D3ECE3"/>
                </a:solidFill>
                <a:latin typeface="Segoe UI Symbol"/>
                <a:cs typeface="Segoe UI Symbol"/>
              </a:rPr>
              <a:t>firmware</a:t>
            </a:r>
            <a:r>
              <a:rPr sz="13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build</a:t>
            </a:r>
            <a:r>
              <a:rPr sz="130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(Rover,</a:t>
            </a:r>
            <a:r>
              <a:rPr sz="130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 err="1">
                <a:solidFill>
                  <a:srgbClr val="D3ECE3"/>
                </a:solidFill>
                <a:latin typeface="Segoe UI Symbol"/>
                <a:cs typeface="Segoe UI Symbol"/>
              </a:rPr>
              <a:t>MAVLink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,</a:t>
            </a:r>
            <a:r>
              <a:rPr sz="130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45" dirty="0">
                <a:solidFill>
                  <a:srgbClr val="D3ECE3"/>
                </a:solidFill>
                <a:latin typeface="Segoe UI Symbol"/>
                <a:cs typeface="Segoe UI Symbol"/>
              </a:rPr>
              <a:t>geofence, </a:t>
            </a:r>
            <a:r>
              <a:rPr sz="1300" spc="60" dirty="0" err="1">
                <a:solidFill>
                  <a:srgbClr val="D3ECE3"/>
                </a:solidFill>
                <a:latin typeface="Segoe UI Symbol"/>
                <a:cs typeface="Segoe UI Symbol"/>
              </a:rPr>
              <a:t>failsafes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),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wiring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is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35" dirty="0">
                <a:solidFill>
                  <a:srgbClr val="D3ECE3"/>
                </a:solidFill>
                <a:latin typeface="Segoe UI Symbol"/>
                <a:cs typeface="Segoe UI Symbol"/>
              </a:rPr>
              <a:t>soldered.</a:t>
            </a:r>
            <a:endParaRPr sz="1300" dirty="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95056" y="6570980"/>
            <a:ext cx="39693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Prices:</a:t>
            </a:r>
            <a:r>
              <a:rPr sz="900" i="1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Pyrodrone,</a:t>
            </a:r>
            <a:r>
              <a:rPr sz="900" i="1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900" i="1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sz="900" i="1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summary,</a:t>
            </a:r>
            <a:r>
              <a:rPr sz="900" i="1" spc="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RaceDayQuads</a:t>
            </a:r>
            <a:r>
              <a:rPr sz="900" i="1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(Oct</a:t>
            </a:r>
            <a:r>
              <a:rPr sz="900" i="1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>
                <a:solidFill>
                  <a:srgbClr val="FFFFFF"/>
                </a:solidFill>
                <a:latin typeface="Arial"/>
                <a:cs typeface="Arial"/>
              </a:rPr>
              <a:t>2026)</a:t>
            </a:r>
            <a:r>
              <a:rPr sz="900" i="1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40">
                <a:solidFill>
                  <a:srgbClr val="FFFFFF"/>
                </a:solidFill>
                <a:latin typeface="Arial"/>
                <a:cs typeface="Arial"/>
              </a:rPr>
              <a:t>[8]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7672070" cy="532765"/>
          </a:xfrm>
          <a:custGeom>
            <a:avLst/>
            <a:gdLst/>
            <a:ahLst/>
            <a:cxnLst/>
            <a:rect l="l" t="t" r="r" b="b"/>
            <a:pathLst>
              <a:path w="7672070" h="532765">
                <a:moveTo>
                  <a:pt x="7671600" y="0"/>
                </a:moveTo>
                <a:lnTo>
                  <a:pt x="0" y="0"/>
                </a:lnTo>
                <a:lnTo>
                  <a:pt x="0" y="532434"/>
                </a:lnTo>
                <a:lnTo>
                  <a:pt x="3835793" y="532434"/>
                </a:lnTo>
                <a:lnTo>
                  <a:pt x="7671600" y="532434"/>
                </a:lnTo>
                <a:lnTo>
                  <a:pt x="767160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spc="90"/>
              <a:t>Component</a:t>
            </a:r>
            <a:r>
              <a:rPr spc="80"/>
              <a:t> </a:t>
            </a:r>
            <a:r>
              <a:rPr spc="229"/>
              <a:t>2:</a:t>
            </a:r>
            <a:r>
              <a:rPr spc="85"/>
              <a:t> </a:t>
            </a:r>
            <a:r>
              <a:t>Robot</a:t>
            </a:r>
            <a:r>
              <a:rPr spc="95"/>
              <a:t> </a:t>
            </a:r>
            <a:r>
              <a:rPr spc="80"/>
              <a:t>Computer</a:t>
            </a:r>
          </a:p>
        </p:txBody>
      </p:sp>
      <p:sp>
        <p:nvSpPr>
          <p:cNvPr id="4" name="object 4"/>
          <p:cNvSpPr/>
          <p:nvPr/>
        </p:nvSpPr>
        <p:spPr>
          <a:xfrm>
            <a:off x="338404" y="1371600"/>
            <a:ext cx="3611879" cy="5194300"/>
          </a:xfrm>
          <a:custGeom>
            <a:avLst/>
            <a:gdLst/>
            <a:ahLst/>
            <a:cxnLst/>
            <a:rect l="l" t="t" r="r" b="b"/>
            <a:pathLst>
              <a:path w="3611879" h="5194300">
                <a:moveTo>
                  <a:pt x="3358794" y="0"/>
                </a:moveTo>
                <a:lnTo>
                  <a:pt x="252717" y="0"/>
                </a:lnTo>
                <a:lnTo>
                  <a:pt x="219706" y="2148"/>
                </a:lnTo>
                <a:lnTo>
                  <a:pt x="156119" y="19138"/>
                </a:lnTo>
                <a:lnTo>
                  <a:pt x="98785" y="52148"/>
                </a:lnTo>
                <a:lnTo>
                  <a:pt x="52257" y="98796"/>
                </a:lnTo>
                <a:lnTo>
                  <a:pt x="19132" y="156132"/>
                </a:lnTo>
                <a:lnTo>
                  <a:pt x="2148" y="219714"/>
                </a:lnTo>
                <a:lnTo>
                  <a:pt x="0" y="252717"/>
                </a:lnTo>
                <a:lnTo>
                  <a:pt x="0" y="4940998"/>
                </a:lnTo>
                <a:lnTo>
                  <a:pt x="8476" y="5005976"/>
                </a:lnTo>
                <a:lnTo>
                  <a:pt x="33832" y="5067363"/>
                </a:lnTo>
                <a:lnTo>
                  <a:pt x="73882" y="5119695"/>
                </a:lnTo>
                <a:lnTo>
                  <a:pt x="126352" y="5159883"/>
                </a:lnTo>
                <a:lnTo>
                  <a:pt x="187372" y="5185167"/>
                </a:lnTo>
                <a:lnTo>
                  <a:pt x="252717" y="5193715"/>
                </a:lnTo>
                <a:lnTo>
                  <a:pt x="3359150" y="5193360"/>
                </a:lnTo>
                <a:lnTo>
                  <a:pt x="3424494" y="5184809"/>
                </a:lnTo>
                <a:lnTo>
                  <a:pt x="3485515" y="5159514"/>
                </a:lnTo>
                <a:lnTo>
                  <a:pt x="3537851" y="5119465"/>
                </a:lnTo>
                <a:lnTo>
                  <a:pt x="3578034" y="5066995"/>
                </a:lnTo>
                <a:lnTo>
                  <a:pt x="3603205" y="5006343"/>
                </a:lnTo>
                <a:lnTo>
                  <a:pt x="3603329" y="5005976"/>
                </a:lnTo>
                <a:lnTo>
                  <a:pt x="3609659" y="4974008"/>
                </a:lnTo>
                <a:lnTo>
                  <a:pt x="3609731" y="4973646"/>
                </a:lnTo>
                <a:lnTo>
                  <a:pt x="3611856" y="4940998"/>
                </a:lnTo>
                <a:lnTo>
                  <a:pt x="3611511" y="252717"/>
                </a:lnTo>
                <a:lnTo>
                  <a:pt x="3602963" y="187383"/>
                </a:lnTo>
                <a:lnTo>
                  <a:pt x="3577678" y="126364"/>
                </a:lnTo>
                <a:lnTo>
                  <a:pt x="3537629" y="74028"/>
                </a:lnTo>
                <a:lnTo>
                  <a:pt x="3485159" y="33845"/>
                </a:lnTo>
                <a:lnTo>
                  <a:pt x="3424139" y="8550"/>
                </a:lnTo>
                <a:lnTo>
                  <a:pt x="3391804" y="2148"/>
                </a:lnTo>
                <a:lnTo>
                  <a:pt x="3358794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8535" y="1499559"/>
            <a:ext cx="3262629" cy="356892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What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it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must</a:t>
            </a:r>
            <a:r>
              <a:rPr sz="1600" b="1" spc="7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ptos Black"/>
                <a:cs typeface="Aptos Black"/>
              </a:rPr>
              <a:t>do</a:t>
            </a:r>
            <a:endParaRPr sz="1600" dirty="0">
              <a:latin typeface="Aptos Black"/>
              <a:cs typeface="Aptos Black"/>
            </a:endParaRPr>
          </a:p>
          <a:p>
            <a:pPr marL="38100" marR="30480">
              <a:lnSpc>
                <a:spcPct val="100000"/>
              </a:lnSpc>
              <a:spcBef>
                <a:spcPts val="400"/>
              </a:spcBef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Run</a:t>
            </a:r>
            <a:r>
              <a:rPr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mission</a:t>
            </a:r>
            <a:r>
              <a:rPr sz="135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on</a:t>
            </a:r>
            <a:r>
              <a:rPr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11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robot: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talk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350" spc="5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75" dirty="0">
                <a:solidFill>
                  <a:srgbClr val="D3ECE3"/>
                </a:solidFill>
                <a:latin typeface="Segoe UI Symbol"/>
                <a:cs typeface="Segoe UI Symbol"/>
              </a:rPr>
              <a:t>base</a:t>
            </a:r>
            <a:r>
              <a:rPr sz="135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over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LoRa,</a:t>
            </a:r>
            <a:r>
              <a:rPr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command</a:t>
            </a:r>
            <a:r>
              <a:rPr sz="1350" spc="11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5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flight</a:t>
            </a:r>
            <a:r>
              <a:rPr sz="1350" spc="20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controller</a:t>
            </a:r>
            <a:r>
              <a:rPr sz="1350" spc="2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over</a:t>
            </a:r>
            <a:r>
              <a:rPr sz="1350" spc="2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 err="1">
                <a:solidFill>
                  <a:srgbClr val="D3ECE3"/>
                </a:solidFill>
                <a:latin typeface="Segoe UI Symbol"/>
                <a:cs typeface="Segoe UI Symbol"/>
              </a:rPr>
              <a:t>MAVLink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,</a:t>
            </a:r>
            <a:r>
              <a:rPr sz="1350" spc="1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drive</a:t>
            </a:r>
            <a:r>
              <a:rPr sz="1350" spc="20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the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probe</a:t>
            </a:r>
            <a:r>
              <a:rPr sz="1350" spc="1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read</a:t>
            </a:r>
            <a:r>
              <a:rPr sz="135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350" spc="1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sensor.</a:t>
            </a:r>
            <a:endParaRPr sz="1350" dirty="0">
              <a:latin typeface="Segoe UI Symbol"/>
              <a:cs typeface="Segoe UI Symbol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Selection</a:t>
            </a:r>
            <a:r>
              <a:rPr sz="1600" b="1" spc="-10" dirty="0">
                <a:solidFill>
                  <a:srgbClr val="FFFFFF"/>
                </a:solidFill>
                <a:latin typeface="Aptos Black"/>
                <a:cs typeface="Aptos Black"/>
              </a:rPr>
              <a:t> metrics</a:t>
            </a:r>
            <a:endParaRPr sz="1600" dirty="0">
              <a:latin typeface="Aptos Black"/>
              <a:cs typeface="Aptos Black"/>
            </a:endParaRPr>
          </a:p>
          <a:p>
            <a:pPr marL="184150" indent="-14605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Price</a:t>
            </a:r>
            <a:r>
              <a:rPr sz="1350" spc="-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≤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90" dirty="0">
                <a:solidFill>
                  <a:srgbClr val="D3ECE3"/>
                </a:solidFill>
                <a:latin typeface="Segoe UI Symbol"/>
                <a:cs typeface="Segoe UI Symbol"/>
              </a:rPr>
              <a:t>$30</a:t>
            </a:r>
            <a:endParaRPr sz="1350" dirty="0">
              <a:latin typeface="Segoe UI Symbol"/>
              <a:cs typeface="Segoe UI Symbol"/>
            </a:endParaRPr>
          </a:p>
          <a:p>
            <a:pPr marL="184150" indent="-1460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stock</a:t>
            </a: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now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endParaRPr lang="en-US" sz="1350" spc="65" dirty="0">
              <a:solidFill>
                <a:srgbClr val="D3ECE3"/>
              </a:solidFill>
              <a:latin typeface="Segoe UI Symbol"/>
              <a:cs typeface="Segoe UI Symbol"/>
            </a:endParaRPr>
          </a:p>
          <a:p>
            <a:pPr marL="184150" indent="-1460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lang="en-US"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Low</a:t>
            </a:r>
            <a:r>
              <a:rPr lang="en-US"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dirty="0">
                <a:solidFill>
                  <a:srgbClr val="D3ECE3"/>
                </a:solidFill>
                <a:latin typeface="Segoe UI Symbol"/>
                <a:cs typeface="Segoe UI Symbol"/>
              </a:rPr>
              <a:t>idle</a:t>
            </a:r>
            <a:r>
              <a:rPr lang="en-US" sz="135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dirty="0">
                <a:solidFill>
                  <a:srgbClr val="D3ECE3"/>
                </a:solidFill>
                <a:latin typeface="Segoe UI Symbol"/>
                <a:cs typeface="Segoe UI Symbol"/>
              </a:rPr>
              <a:t>power</a:t>
            </a:r>
            <a:r>
              <a:rPr lang="en-US"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lang="en-US" sz="135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lang="en-US"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dirty="0">
                <a:solidFill>
                  <a:srgbClr val="D3ECE3"/>
                </a:solidFill>
                <a:latin typeface="Segoe UI Symbol"/>
                <a:cs typeface="Segoe UI Symbol"/>
              </a:rPr>
              <a:t>solar</a:t>
            </a:r>
            <a:r>
              <a:rPr lang="en-US"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robot</a:t>
            </a:r>
            <a:endParaRPr lang="en-US" sz="1350" dirty="0">
              <a:latin typeface="Segoe UI Symbol"/>
              <a:cs typeface="Segoe UI Symbol"/>
            </a:endParaRPr>
          </a:p>
          <a:p>
            <a:pPr marL="184150" marR="163830" indent="-1466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Runs</a:t>
            </a:r>
            <a:r>
              <a:rPr sz="1350" spc="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Raspberry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85" dirty="0">
                <a:solidFill>
                  <a:srgbClr val="D3ECE3"/>
                </a:solidFill>
                <a:latin typeface="Segoe UI Symbol"/>
                <a:cs typeface="Segoe UI Symbol"/>
              </a:rPr>
              <a:t>OS,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so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35" dirty="0">
                <a:solidFill>
                  <a:srgbClr val="D3ECE3"/>
                </a:solidFill>
                <a:latin typeface="Segoe UI Symbol"/>
                <a:cs typeface="Segoe UI Symbol"/>
              </a:rPr>
              <a:t>LoRa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Bonnet</a:t>
            </a:r>
            <a:r>
              <a:rPr sz="1350" spc="2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20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its</a:t>
            </a:r>
            <a:r>
              <a:rPr sz="1350" spc="2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Python</a:t>
            </a:r>
            <a:r>
              <a:rPr sz="1350" spc="2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libraries</a:t>
            </a:r>
            <a:r>
              <a:rPr sz="1350" spc="2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work</a:t>
            </a:r>
            <a:endParaRPr sz="1350" dirty="0">
              <a:latin typeface="Segoe UI Symbol"/>
              <a:cs typeface="Segoe UI Symbol"/>
            </a:endParaRPr>
          </a:p>
          <a:p>
            <a:pPr marL="184150" marR="588010" indent="-14668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84150" algn="l"/>
              </a:tabLst>
            </a:pP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USB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port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50" spc="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105" dirty="0">
                <a:solidFill>
                  <a:srgbClr val="D3ECE3"/>
                </a:solidFill>
                <a:latin typeface="Segoe UI Symbol"/>
                <a:cs typeface="Segoe UI Symbol"/>
              </a:rPr>
              <a:t>RS485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sensor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adapter</a:t>
            </a:r>
            <a:endParaRPr sz="1350" dirty="0">
              <a:latin typeface="Segoe UI Symbol"/>
              <a:cs typeface="Segoe UI Symbo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6953"/>
              </p:ext>
            </p:extLst>
          </p:nvPr>
        </p:nvGraphicFramePr>
        <p:xfrm>
          <a:off x="4220476" y="1367472"/>
          <a:ext cx="7625712" cy="3000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Pi</a:t>
                      </a:r>
                      <a:r>
                        <a:rPr sz="1150" b="1" spc="6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Zero</a:t>
                      </a:r>
                      <a:r>
                        <a:rPr sz="1150" b="1" spc="8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5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2</a:t>
                      </a:r>
                      <a:r>
                        <a:rPr sz="1150" b="1" spc="7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2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W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Pi</a:t>
                      </a:r>
                      <a:r>
                        <a:rPr sz="1150" b="1" spc="4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75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3</a:t>
                      </a:r>
                      <a:r>
                        <a:rPr sz="1150" b="1" spc="5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Model</a:t>
                      </a:r>
                      <a:r>
                        <a:rPr sz="1150" b="1" spc="45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9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A+</a:t>
                      </a:r>
                      <a:endParaRPr sz="1150" dirty="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A66B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Pi</a:t>
                      </a:r>
                      <a:r>
                        <a:rPr sz="1150" b="1" spc="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6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5</a:t>
                      </a:r>
                      <a:r>
                        <a:rPr sz="1150" b="1" spc="4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9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(1</a:t>
                      </a:r>
                      <a:r>
                        <a:rPr sz="1150" b="1" spc="3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2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GB)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Price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$15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(list)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$25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$45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Availability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Sold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out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0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stock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0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stock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Idle</a:t>
                      </a:r>
                      <a:r>
                        <a:rPr sz="1200" b="1" spc="-6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power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0.4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~1–</a:t>
                      </a: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</a:t>
                      </a:r>
                      <a:r>
                        <a:rPr sz="120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(est.)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~3</a:t>
                      </a: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CPU</a:t>
                      </a:r>
                      <a:r>
                        <a:rPr sz="1200" b="1" spc="7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·</a:t>
                      </a:r>
                      <a:r>
                        <a:rPr sz="1200" b="1" spc="7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5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RAM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A53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1.0</a:t>
                      </a:r>
                      <a:r>
                        <a:rPr sz="12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512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marL="847725" marR="205104" indent="-638175">
                        <a:lnSpc>
                          <a:spcPct val="101000"/>
                        </a:lnSpc>
                        <a:spcBef>
                          <a:spcPts val="23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0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A53</a:t>
                      </a: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1.4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r>
                        <a:rPr sz="12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512 MB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A76</a:t>
                      </a: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2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GB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Works</a:t>
                      </a:r>
                      <a:r>
                        <a:rPr sz="1200" b="1" spc="8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with</a:t>
                      </a:r>
                      <a:r>
                        <a:rPr sz="1200" b="1" spc="8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Bonnet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marL="21653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92430" algn="l"/>
                        </a:tabLst>
                        <a:defRPr/>
                      </a:pPr>
                      <a:r>
                        <a:rPr lang="en-US" sz="12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lang="en-US"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USB</a:t>
                      </a:r>
                      <a:r>
                        <a:rPr sz="1200" b="1" spc="8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for</a:t>
                      </a:r>
                      <a:r>
                        <a:rPr sz="1200" b="1" spc="6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4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RS485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Needs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OTG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adapter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Full-</a:t>
                      </a: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size</a:t>
                      </a:r>
                      <a:r>
                        <a:rPr sz="1200" spc="2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USB-</a:t>
                      </a:r>
                      <a:r>
                        <a:rPr sz="1200" spc="-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00" spc="10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7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USB-</a:t>
                      </a:r>
                      <a:r>
                        <a:rPr sz="1200" spc="-5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223880" y="4571644"/>
            <a:ext cx="7626984" cy="1993900"/>
          </a:xfrm>
          <a:custGeom>
            <a:avLst/>
            <a:gdLst/>
            <a:ahLst/>
            <a:cxnLst/>
            <a:rect l="l" t="t" r="r" b="b"/>
            <a:pathLst>
              <a:path w="7626984" h="1993900">
                <a:moveTo>
                  <a:pt x="159842" y="0"/>
                </a:moveTo>
                <a:lnTo>
                  <a:pt x="118529" y="5487"/>
                </a:lnTo>
                <a:lnTo>
                  <a:pt x="79921" y="21234"/>
                </a:lnTo>
                <a:lnTo>
                  <a:pt x="46980" y="46662"/>
                </a:lnTo>
                <a:lnTo>
                  <a:pt x="21602" y="79921"/>
                </a:lnTo>
                <a:lnTo>
                  <a:pt x="5711" y="118211"/>
                </a:lnTo>
                <a:lnTo>
                  <a:pt x="355" y="159473"/>
                </a:lnTo>
                <a:lnTo>
                  <a:pt x="0" y="1834197"/>
                </a:lnTo>
                <a:lnTo>
                  <a:pt x="1394" y="1855088"/>
                </a:lnTo>
                <a:lnTo>
                  <a:pt x="12093" y="1895094"/>
                </a:lnTo>
                <a:lnTo>
                  <a:pt x="32782" y="1931274"/>
                </a:lnTo>
                <a:lnTo>
                  <a:pt x="62396" y="1960790"/>
                </a:lnTo>
                <a:lnTo>
                  <a:pt x="98577" y="1981675"/>
                </a:lnTo>
                <a:lnTo>
                  <a:pt x="138589" y="1992326"/>
                </a:lnTo>
                <a:lnTo>
                  <a:pt x="159473" y="1993671"/>
                </a:lnTo>
                <a:lnTo>
                  <a:pt x="7467117" y="1993671"/>
                </a:lnTo>
                <a:lnTo>
                  <a:pt x="7487260" y="1992326"/>
                </a:lnTo>
                <a:lnTo>
                  <a:pt x="7487760" y="1992326"/>
                </a:lnTo>
                <a:lnTo>
                  <a:pt x="7528175" y="1981525"/>
                </a:lnTo>
                <a:lnTo>
                  <a:pt x="7564343" y="1960790"/>
                </a:lnTo>
                <a:lnTo>
                  <a:pt x="7593715" y="1931274"/>
                </a:lnTo>
                <a:lnTo>
                  <a:pt x="7614525" y="1895249"/>
                </a:lnTo>
                <a:lnTo>
                  <a:pt x="7614602" y="1895094"/>
                </a:lnTo>
                <a:lnTo>
                  <a:pt x="7621232" y="1875505"/>
                </a:lnTo>
                <a:lnTo>
                  <a:pt x="7625258" y="1855088"/>
                </a:lnTo>
                <a:lnTo>
                  <a:pt x="7626604" y="1834197"/>
                </a:lnTo>
                <a:lnTo>
                  <a:pt x="7626580" y="159473"/>
                </a:lnTo>
                <a:lnTo>
                  <a:pt x="7621109" y="118522"/>
                </a:lnTo>
                <a:lnTo>
                  <a:pt x="7605356" y="79921"/>
                </a:lnTo>
                <a:lnTo>
                  <a:pt x="7579934" y="46974"/>
                </a:lnTo>
                <a:lnTo>
                  <a:pt x="7546682" y="21590"/>
                </a:lnTo>
                <a:lnTo>
                  <a:pt x="7508386" y="5710"/>
                </a:lnTo>
                <a:lnTo>
                  <a:pt x="7467117" y="355"/>
                </a:lnTo>
                <a:lnTo>
                  <a:pt x="159842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40135" y="4772418"/>
            <a:ext cx="7425690" cy="13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861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Choice:</a:t>
            </a:r>
            <a:r>
              <a:rPr sz="1300" b="1" spc="11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Raspberry</a:t>
            </a:r>
            <a:r>
              <a:rPr sz="1300" b="1" spc="10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Pi</a:t>
            </a:r>
            <a:r>
              <a:rPr sz="1300" b="1" spc="10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spc="80" dirty="0">
                <a:solidFill>
                  <a:srgbClr val="FFFFFF"/>
                </a:solidFill>
                <a:latin typeface="Aptos Black"/>
                <a:cs typeface="Aptos Black"/>
              </a:rPr>
              <a:t>3</a:t>
            </a:r>
            <a:r>
              <a:rPr sz="1300" b="1" spc="10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Model</a:t>
            </a:r>
            <a:r>
              <a:rPr sz="1300" b="1" spc="105" dirty="0">
                <a:solidFill>
                  <a:srgbClr val="FFFFFF"/>
                </a:solidFill>
                <a:latin typeface="Aptos Black"/>
                <a:cs typeface="Aptos Black"/>
              </a:rPr>
              <a:t> A+</a:t>
            </a:r>
            <a:r>
              <a:rPr sz="1300" b="1" spc="11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on</a:t>
            </a:r>
            <a:r>
              <a:rPr sz="1300" b="1" spc="10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the</a:t>
            </a:r>
            <a:r>
              <a:rPr sz="1300" b="1" spc="10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robot.</a:t>
            </a:r>
            <a:r>
              <a:rPr sz="13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Same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chip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family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software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as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D3ECE3"/>
                </a:solidFill>
                <a:latin typeface="Segoe UI Symbol"/>
                <a:cs typeface="Segoe UI Symbol"/>
              </a:rPr>
              <a:t>Zero 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2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W,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stock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today,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its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USB-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port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takes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RS485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adapter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D3ECE3"/>
                </a:solidFill>
                <a:latin typeface="Segoe UI Symbol"/>
                <a:cs typeface="Segoe UI Symbol"/>
              </a:rPr>
              <a:t>directly.</a:t>
            </a:r>
            <a:endParaRPr sz="1300" dirty="0">
              <a:latin typeface="Segoe UI Symbol"/>
              <a:cs typeface="Segoe UI Symbol"/>
            </a:endParaRPr>
          </a:p>
          <a:p>
            <a:pPr marL="12700" marR="273685">
              <a:lnSpc>
                <a:spcPct val="100000"/>
              </a:lnSpc>
              <a:spcBef>
                <a:spcPts val="700"/>
              </a:spcBef>
            </a:pP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Impact:</a:t>
            </a:r>
            <a:r>
              <a:rPr sz="1300" b="1" spc="10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about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180" dirty="0">
                <a:solidFill>
                  <a:srgbClr val="D3ECE3"/>
                </a:solidFill>
                <a:latin typeface="Segoe UI Symbol"/>
                <a:cs typeface="Segoe UI Symbol"/>
              </a:rPr>
              <a:t>1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W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more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power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budget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than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Zero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2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W.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The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LoRa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Bonnet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sits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on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15" dirty="0">
                <a:solidFill>
                  <a:srgbClr val="D3ECE3"/>
                </a:solidFill>
                <a:latin typeface="Segoe UI Symbol"/>
                <a:cs typeface="Segoe UI Symbol"/>
              </a:rPr>
              <a:t>a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stacking</a:t>
            </a:r>
            <a:r>
              <a:rPr sz="130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header,</a:t>
            </a:r>
            <a:r>
              <a:rPr sz="1300" spc="11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so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serial,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I2C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GPIO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pins</a:t>
            </a:r>
            <a:r>
              <a:rPr sz="130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stay</a:t>
            </a:r>
            <a:r>
              <a:rPr sz="130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free.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Also</a:t>
            </a:r>
            <a:r>
              <a:rPr sz="130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considered:</a:t>
            </a:r>
            <a:r>
              <a:rPr sz="130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Orange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0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D3ECE3"/>
                </a:solidFill>
                <a:latin typeface="Segoe UI Symbol"/>
                <a:cs typeface="Segoe UI Symbol"/>
              </a:rPr>
              <a:t>Zero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2W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(no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Raspberry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OS).</a:t>
            </a:r>
            <a:endParaRPr sz="130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7672070" cy="532765"/>
          </a:xfrm>
          <a:custGeom>
            <a:avLst/>
            <a:gdLst/>
            <a:ahLst/>
            <a:cxnLst/>
            <a:rect l="l" t="t" r="r" b="b"/>
            <a:pathLst>
              <a:path w="7672070" h="532765">
                <a:moveTo>
                  <a:pt x="7671600" y="0"/>
                </a:moveTo>
                <a:lnTo>
                  <a:pt x="0" y="0"/>
                </a:lnTo>
                <a:lnTo>
                  <a:pt x="0" y="532434"/>
                </a:lnTo>
                <a:lnTo>
                  <a:pt x="3835793" y="532434"/>
                </a:lnTo>
                <a:lnTo>
                  <a:pt x="7671600" y="532434"/>
                </a:lnTo>
                <a:lnTo>
                  <a:pt x="767160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100"/>
              </a:spcBef>
            </a:pPr>
            <a:r>
              <a:rPr spc="90"/>
              <a:t>Component</a:t>
            </a:r>
            <a:r>
              <a:rPr spc="25"/>
              <a:t> </a:t>
            </a:r>
            <a:r>
              <a:rPr spc="245"/>
              <a:t>3:</a:t>
            </a:r>
            <a:r>
              <a:rPr spc="25"/>
              <a:t> </a:t>
            </a:r>
            <a:r>
              <a:rPr spc="110"/>
              <a:t>Probe</a:t>
            </a:r>
            <a:r>
              <a:rPr spc="35"/>
              <a:t> </a:t>
            </a:r>
            <a:r>
              <a:rPr spc="80"/>
              <a:t>Actuator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818735"/>
              </p:ext>
            </p:extLst>
          </p:nvPr>
        </p:nvGraphicFramePr>
        <p:xfrm>
          <a:off x="4220476" y="1367472"/>
          <a:ext cx="7625712" cy="296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15010" marR="147955" indent="-559435">
                        <a:lnSpc>
                          <a:spcPct val="100899"/>
                        </a:lnSpc>
                        <a:spcBef>
                          <a:spcPts val="540"/>
                        </a:spcBef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Actuonix</a:t>
                      </a:r>
                      <a:r>
                        <a:rPr sz="1150" b="1" spc="5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L16</a:t>
                      </a:r>
                      <a:r>
                        <a:rPr sz="1150" b="1" spc="10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(150:1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)</a:t>
                      </a:r>
                      <a:r>
                        <a:rPr lang="en-US" sz="1150" b="1" spc="254" dirty="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endParaRPr sz="1150" dirty="0">
                        <a:latin typeface="Aptos Black"/>
                        <a:cs typeface="Aptos Black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A66B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Actuonix</a:t>
                      </a:r>
                      <a:r>
                        <a:rPr sz="1150" b="1" spc="6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P16</a:t>
                      </a:r>
                      <a:r>
                        <a:rPr sz="1150" b="1" spc="7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(256:1)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Stepper</a:t>
                      </a:r>
                      <a:r>
                        <a:rPr sz="1150" b="1" spc="4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1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+</a:t>
                      </a:r>
                      <a:r>
                        <a:rPr sz="1150" b="1" spc="5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lead</a:t>
                      </a:r>
                      <a:r>
                        <a:rPr sz="1150" b="1" spc="5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50" b="1" spc="-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screw</a:t>
                      </a:r>
                      <a:endParaRPr sz="1150">
                        <a:latin typeface="Aptos Black"/>
                        <a:cs typeface="Aptos Black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Price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~$100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$106.59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~$172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Push</a:t>
                      </a:r>
                      <a:r>
                        <a:rPr sz="1200" b="1" spc="1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force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200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N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(250</a:t>
                      </a:r>
                      <a:r>
                        <a:rPr sz="12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static)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300</a:t>
                      </a:r>
                      <a:r>
                        <a:rPr sz="12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(500</a:t>
                      </a:r>
                      <a:r>
                        <a:rPr sz="12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</a:t>
                      </a:r>
                      <a:r>
                        <a:rPr sz="1200" spc="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static)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~250</a:t>
                      </a:r>
                      <a:r>
                        <a:rPr sz="1200" spc="1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Speed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8</a:t>
                      </a:r>
                      <a:r>
                        <a:rPr sz="1200" spc="-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mm/s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2.5–</a:t>
                      </a:r>
                      <a:r>
                        <a:rPr sz="12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4.8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mm/s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Set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2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driver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Position</a:t>
                      </a:r>
                      <a:r>
                        <a:rPr sz="1200" b="1" spc="6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feedback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Potentiometer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Potentiometer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None;</a:t>
                      </a:r>
                      <a:r>
                        <a:rPr sz="1200" spc="1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homing</a:t>
                      </a:r>
                      <a:r>
                        <a:rPr sz="1200" spc="1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switch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Stall</a:t>
                      </a:r>
                      <a:r>
                        <a:rPr sz="1200" b="1" spc="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current</a:t>
                      </a:r>
                      <a:r>
                        <a:rPr sz="1200" b="1" spc="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13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@</a:t>
                      </a:r>
                      <a:r>
                        <a:rPr sz="1200" b="1" spc="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5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12</a:t>
                      </a:r>
                      <a:r>
                        <a:rPr sz="1200" b="1" spc="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75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V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0.65</a:t>
                      </a:r>
                      <a:r>
                        <a:rPr sz="1200" spc="1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AEACF"/>
                    </a:solidFill>
                  </a:tcPr>
                </a:tc>
                <a:tc>
                  <a:txBody>
                    <a:bodyPr/>
                    <a:lstStyle/>
                    <a:p>
                      <a:pPr marL="79248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1.0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Draws </a:t>
                      </a:r>
                      <a:r>
                        <a:rPr sz="12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holding</a:t>
                      </a:r>
                      <a:r>
                        <a:rPr sz="12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current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b="1" spc="-10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Sealing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45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IP54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F5DE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IP54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200" spc="40" dirty="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Unsealed</a:t>
                      </a:r>
                      <a:endParaRPr sz="1200" dirty="0">
                        <a:latin typeface="Segoe UI Symbol"/>
                        <a:cs typeface="Segoe UI Symbol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D2E2DB"/>
                      </a:solidFill>
                      <a:prstDash val="solid"/>
                    </a:lnL>
                    <a:lnR w="9525">
                      <a:solidFill>
                        <a:srgbClr val="D2E2DB"/>
                      </a:solidFill>
                      <a:prstDash val="solid"/>
                    </a:lnR>
                    <a:lnT w="9525">
                      <a:solidFill>
                        <a:srgbClr val="D2E2DB"/>
                      </a:solidFill>
                      <a:prstDash val="solid"/>
                    </a:lnT>
                    <a:lnB w="9525">
                      <a:solidFill>
                        <a:srgbClr val="D2E2DB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38404" y="1371599"/>
            <a:ext cx="11512550" cy="5194300"/>
          </a:xfrm>
          <a:custGeom>
            <a:avLst/>
            <a:gdLst/>
            <a:ahLst/>
            <a:cxnLst/>
            <a:rect l="l" t="t" r="r" b="b"/>
            <a:pathLst>
              <a:path w="11512550" h="5194300">
                <a:moveTo>
                  <a:pt x="3611880" y="4940643"/>
                </a:moveTo>
                <a:lnTo>
                  <a:pt x="3611511" y="252717"/>
                </a:lnTo>
                <a:lnTo>
                  <a:pt x="3602952" y="187388"/>
                </a:lnTo>
                <a:lnTo>
                  <a:pt x="3577679" y="126365"/>
                </a:lnTo>
                <a:lnTo>
                  <a:pt x="3537623" y="74028"/>
                </a:lnTo>
                <a:lnTo>
                  <a:pt x="3485159" y="33845"/>
                </a:lnTo>
                <a:lnTo>
                  <a:pt x="3424136" y="8559"/>
                </a:lnTo>
                <a:lnTo>
                  <a:pt x="3358794" y="0"/>
                </a:lnTo>
                <a:lnTo>
                  <a:pt x="252717" y="0"/>
                </a:lnTo>
                <a:lnTo>
                  <a:pt x="187363" y="8559"/>
                </a:lnTo>
                <a:lnTo>
                  <a:pt x="126352" y="33845"/>
                </a:lnTo>
                <a:lnTo>
                  <a:pt x="74015" y="73901"/>
                </a:lnTo>
                <a:lnTo>
                  <a:pt x="33832" y="126365"/>
                </a:lnTo>
                <a:lnTo>
                  <a:pt x="8547" y="187388"/>
                </a:lnTo>
                <a:lnTo>
                  <a:pt x="0" y="252717"/>
                </a:lnTo>
                <a:lnTo>
                  <a:pt x="0" y="4940998"/>
                </a:lnTo>
                <a:lnTo>
                  <a:pt x="8470" y="5005984"/>
                </a:lnTo>
                <a:lnTo>
                  <a:pt x="33832" y="5067363"/>
                </a:lnTo>
                <a:lnTo>
                  <a:pt x="73875" y="5119700"/>
                </a:lnTo>
                <a:lnTo>
                  <a:pt x="126352" y="5159883"/>
                </a:lnTo>
                <a:lnTo>
                  <a:pt x="187363" y="5185168"/>
                </a:lnTo>
                <a:lnTo>
                  <a:pt x="252717" y="5193716"/>
                </a:lnTo>
                <a:lnTo>
                  <a:pt x="3359150" y="5193360"/>
                </a:lnTo>
                <a:lnTo>
                  <a:pt x="3424491" y="5184813"/>
                </a:lnTo>
                <a:lnTo>
                  <a:pt x="3485515" y="5159514"/>
                </a:lnTo>
                <a:lnTo>
                  <a:pt x="3537851" y="5119471"/>
                </a:lnTo>
                <a:lnTo>
                  <a:pt x="3578034" y="5066995"/>
                </a:lnTo>
                <a:lnTo>
                  <a:pt x="3603193" y="5006352"/>
                </a:lnTo>
                <a:lnTo>
                  <a:pt x="3603320" y="5005984"/>
                </a:lnTo>
                <a:lnTo>
                  <a:pt x="3609657" y="4974018"/>
                </a:lnTo>
                <a:lnTo>
                  <a:pt x="3609721" y="4973650"/>
                </a:lnTo>
                <a:lnTo>
                  <a:pt x="3611854" y="4940998"/>
                </a:lnTo>
                <a:lnTo>
                  <a:pt x="3611880" y="4940643"/>
                </a:lnTo>
                <a:close/>
              </a:path>
              <a:path w="11512550" h="5194300">
                <a:moveTo>
                  <a:pt x="11512080" y="5034242"/>
                </a:moveTo>
                <a:lnTo>
                  <a:pt x="11512055" y="3359518"/>
                </a:lnTo>
                <a:lnTo>
                  <a:pt x="11506581" y="3318573"/>
                </a:lnTo>
                <a:lnTo>
                  <a:pt x="11490833" y="3279965"/>
                </a:lnTo>
                <a:lnTo>
                  <a:pt x="11465408" y="3247021"/>
                </a:lnTo>
                <a:lnTo>
                  <a:pt x="11432159" y="3221634"/>
                </a:lnTo>
                <a:lnTo>
                  <a:pt x="11393856" y="3205759"/>
                </a:lnTo>
                <a:lnTo>
                  <a:pt x="11352594" y="3200400"/>
                </a:lnTo>
                <a:lnTo>
                  <a:pt x="4045318" y="3200044"/>
                </a:lnTo>
                <a:lnTo>
                  <a:pt x="4024414" y="3201441"/>
                </a:lnTo>
                <a:lnTo>
                  <a:pt x="3984256" y="3212198"/>
                </a:lnTo>
                <a:lnTo>
                  <a:pt x="3948074" y="3232937"/>
                </a:lnTo>
                <a:lnTo>
                  <a:pt x="3918712" y="3262452"/>
                </a:lnTo>
                <a:lnTo>
                  <a:pt x="3897833" y="3298621"/>
                </a:lnTo>
                <a:lnTo>
                  <a:pt x="3887165" y="3338639"/>
                </a:lnTo>
                <a:lnTo>
                  <a:pt x="3885476" y="5034242"/>
                </a:lnTo>
                <a:lnTo>
                  <a:pt x="3886860" y="5055133"/>
                </a:lnTo>
                <a:lnTo>
                  <a:pt x="3890962" y="5075555"/>
                </a:lnTo>
                <a:lnTo>
                  <a:pt x="3897566" y="5095151"/>
                </a:lnTo>
                <a:lnTo>
                  <a:pt x="3897617" y="5095303"/>
                </a:lnTo>
                <a:lnTo>
                  <a:pt x="3906710" y="5114163"/>
                </a:lnTo>
                <a:lnTo>
                  <a:pt x="3918254" y="5131320"/>
                </a:lnTo>
                <a:lnTo>
                  <a:pt x="3918356" y="5131486"/>
                </a:lnTo>
                <a:lnTo>
                  <a:pt x="3947871" y="5160835"/>
                </a:lnTo>
                <a:lnTo>
                  <a:pt x="3984040" y="5181727"/>
                </a:lnTo>
                <a:lnTo>
                  <a:pt x="4024058" y="5192382"/>
                </a:lnTo>
                <a:lnTo>
                  <a:pt x="4044950" y="5193716"/>
                </a:lnTo>
                <a:lnTo>
                  <a:pt x="11352594" y="5193716"/>
                </a:lnTo>
                <a:lnTo>
                  <a:pt x="11372736" y="5192382"/>
                </a:lnTo>
                <a:lnTo>
                  <a:pt x="11373231" y="5192382"/>
                </a:lnTo>
                <a:lnTo>
                  <a:pt x="11413642" y="5181574"/>
                </a:lnTo>
                <a:lnTo>
                  <a:pt x="11449812" y="5160835"/>
                </a:lnTo>
                <a:lnTo>
                  <a:pt x="11479187" y="5131320"/>
                </a:lnTo>
                <a:lnTo>
                  <a:pt x="11499990" y="5095303"/>
                </a:lnTo>
                <a:lnTo>
                  <a:pt x="11500079" y="5095151"/>
                </a:lnTo>
                <a:lnTo>
                  <a:pt x="11506708" y="5075555"/>
                </a:lnTo>
                <a:lnTo>
                  <a:pt x="11510734" y="5055133"/>
                </a:lnTo>
                <a:lnTo>
                  <a:pt x="11512080" y="5034242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7640" y="1573615"/>
            <a:ext cx="11376660" cy="4589718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70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What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it</a:t>
            </a:r>
            <a:r>
              <a:rPr sz="1600" b="1" spc="65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must</a:t>
            </a:r>
            <a:r>
              <a:rPr sz="1600" b="1" spc="7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Aptos Black"/>
                <a:cs typeface="Aptos Black"/>
              </a:rPr>
              <a:t>do</a:t>
            </a:r>
            <a:endParaRPr sz="1600" dirty="0">
              <a:latin typeface="Aptos Black"/>
              <a:cs typeface="Aptos Black"/>
            </a:endParaRPr>
          </a:p>
          <a:p>
            <a:pPr marL="63500" marR="8213725">
              <a:lnSpc>
                <a:spcPct val="100000"/>
              </a:lnSpc>
              <a:spcBef>
                <a:spcPts val="400"/>
              </a:spcBef>
            </a:pP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Push</a:t>
            </a:r>
            <a:r>
              <a:rPr sz="13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105" dirty="0">
                <a:solidFill>
                  <a:srgbClr val="D3ECE3"/>
                </a:solidFill>
                <a:latin typeface="Segoe UI Symbol"/>
                <a:cs typeface="Segoe UI Symbol"/>
              </a:rPr>
              <a:t>4-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in-</a:t>
            </a:r>
            <a:r>
              <a:rPr sz="1350" spc="-190" dirty="0">
                <a:solidFill>
                  <a:srgbClr val="D3ECE3"/>
                </a:solidFill>
                <a:latin typeface="Segoe UI Symbol"/>
                <a:cs typeface="Segoe UI Symbol"/>
              </a:rPr>
              <a:t>1</a:t>
            </a:r>
            <a:r>
              <a:rPr sz="13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3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probe</a:t>
            </a:r>
            <a:r>
              <a:rPr sz="13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into</a:t>
            </a:r>
            <a:r>
              <a:rPr sz="135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D3ECE3"/>
                </a:solidFill>
                <a:latin typeface="Segoe UI Symbol"/>
                <a:cs typeface="Segoe UI Symbol"/>
              </a:rPr>
              <a:t>the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ground,</a:t>
            </a:r>
            <a:r>
              <a:rPr sz="135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hold</a:t>
            </a:r>
            <a:r>
              <a:rPr sz="135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5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while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reads,</a:t>
            </a:r>
            <a:r>
              <a:rPr sz="135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then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pull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out,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tell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when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50" spc="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hits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something</a:t>
            </a: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 can't</a:t>
            </a: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push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through.</a:t>
            </a:r>
            <a:endParaRPr sz="1350" dirty="0">
              <a:latin typeface="Segoe UI Symbol"/>
              <a:cs typeface="Segoe UI Symbol"/>
            </a:endParaRPr>
          </a:p>
          <a:p>
            <a:pPr marL="63500">
              <a:lnSpc>
                <a:spcPct val="100000"/>
              </a:lnSpc>
              <a:spcBef>
                <a:spcPts val="1595"/>
              </a:spcBef>
            </a:pPr>
            <a:r>
              <a:rPr sz="1600" b="1" dirty="0">
                <a:solidFill>
                  <a:srgbClr val="FFFFFF"/>
                </a:solidFill>
                <a:latin typeface="Aptos Black"/>
                <a:cs typeface="Aptos Black"/>
              </a:rPr>
              <a:t>Selection</a:t>
            </a:r>
            <a:r>
              <a:rPr sz="1600" b="1" spc="-10" dirty="0">
                <a:solidFill>
                  <a:srgbClr val="FFFFFF"/>
                </a:solidFill>
                <a:latin typeface="Aptos Black"/>
                <a:cs typeface="Aptos Black"/>
              </a:rPr>
              <a:t> metrics</a:t>
            </a:r>
            <a:endParaRPr sz="1600" dirty="0">
              <a:latin typeface="Aptos Black"/>
              <a:cs typeface="Aptos Black"/>
            </a:endParaRPr>
          </a:p>
          <a:p>
            <a:pPr marL="209550" indent="-14605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09550" algn="l"/>
              </a:tabLst>
            </a:pPr>
            <a:r>
              <a:rPr sz="1350" spc="65" dirty="0">
                <a:solidFill>
                  <a:srgbClr val="D3ECE3"/>
                </a:solidFill>
                <a:latin typeface="Segoe UI Symbol"/>
                <a:cs typeface="Segoe UI Symbol"/>
              </a:rPr>
              <a:t>Push</a:t>
            </a:r>
            <a:r>
              <a:rPr sz="1350" spc="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force</a:t>
            </a:r>
            <a:r>
              <a:rPr sz="1350" spc="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100–</a:t>
            </a:r>
            <a:r>
              <a:rPr sz="1350" spc="100" dirty="0">
                <a:solidFill>
                  <a:srgbClr val="D3ECE3"/>
                </a:solidFill>
                <a:latin typeface="Segoe UI Symbol"/>
                <a:cs typeface="Segoe UI Symbol"/>
              </a:rPr>
              <a:t>250</a:t>
            </a:r>
            <a:r>
              <a:rPr sz="1350" spc="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50" dirty="0">
                <a:solidFill>
                  <a:srgbClr val="D3ECE3"/>
                </a:solidFill>
                <a:latin typeface="Segoe UI Symbol"/>
                <a:cs typeface="Segoe UI Symbol"/>
              </a:rPr>
              <a:t>N</a:t>
            </a:r>
            <a:endParaRPr sz="1350" dirty="0">
              <a:latin typeface="Segoe UI Symbol"/>
              <a:cs typeface="Segoe UI Symbol"/>
            </a:endParaRPr>
          </a:p>
          <a:p>
            <a:pPr marL="209550" indent="-1460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09550" algn="l"/>
              </a:tabLst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Insert-and-retract</a:t>
            </a:r>
            <a:r>
              <a:rPr sz="1350" spc="1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75" dirty="0">
                <a:solidFill>
                  <a:srgbClr val="D3ECE3"/>
                </a:solidFill>
                <a:latin typeface="Segoe UI Symbol"/>
                <a:cs typeface="Segoe UI Symbol"/>
              </a:rPr>
              <a:t>cycle</a:t>
            </a:r>
            <a:r>
              <a:rPr sz="1350" spc="1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≤</a:t>
            </a:r>
            <a:r>
              <a:rPr sz="1350" spc="1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110" dirty="0">
                <a:solidFill>
                  <a:srgbClr val="D3ECE3"/>
                </a:solidFill>
                <a:latin typeface="Segoe UI Symbol"/>
                <a:cs typeface="Segoe UI Symbol"/>
              </a:rPr>
              <a:t>60</a:t>
            </a:r>
            <a:r>
              <a:rPr sz="1350" spc="1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80" dirty="0">
                <a:solidFill>
                  <a:srgbClr val="D3ECE3"/>
                </a:solidFill>
                <a:latin typeface="Segoe UI Symbol"/>
                <a:cs typeface="Segoe UI Symbol"/>
              </a:rPr>
              <a:t>s</a:t>
            </a:r>
            <a:endParaRPr sz="1350" dirty="0">
              <a:latin typeface="Segoe UI Symbol"/>
              <a:cs typeface="Segoe UI Symbol"/>
            </a:endParaRPr>
          </a:p>
          <a:p>
            <a:pPr marL="209550" indent="-1460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09550" algn="l"/>
              </a:tabLst>
            </a:pP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Built-in</a:t>
            </a:r>
            <a:r>
              <a:rPr sz="1350" spc="1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position</a:t>
            </a:r>
            <a:r>
              <a:rPr sz="1350" spc="1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50" dirty="0">
                <a:solidFill>
                  <a:srgbClr val="D3ECE3"/>
                </a:solidFill>
                <a:latin typeface="Segoe UI Symbol"/>
                <a:cs typeface="Segoe UI Symbol"/>
              </a:rPr>
              <a:t>feedback</a:t>
            </a:r>
            <a:endParaRPr sz="1350" dirty="0">
              <a:latin typeface="Segoe UI Symbol"/>
              <a:cs typeface="Segoe UI Symbol"/>
            </a:endParaRPr>
          </a:p>
          <a:p>
            <a:pPr marL="209550" indent="-14605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09550" algn="l"/>
              </a:tabLst>
            </a:pPr>
            <a:r>
              <a:rPr sz="1350" spc="55" dirty="0">
                <a:solidFill>
                  <a:srgbClr val="D3ECE3"/>
                </a:solidFill>
                <a:latin typeface="Segoe UI Symbol"/>
                <a:cs typeface="Segoe UI Symbol"/>
              </a:rPr>
              <a:t>Runs</a:t>
            </a:r>
            <a:r>
              <a:rPr sz="1350" spc="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from</a:t>
            </a:r>
            <a:r>
              <a:rPr sz="135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12</a:t>
            </a:r>
            <a:r>
              <a:rPr sz="1350" spc="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90" dirty="0">
                <a:solidFill>
                  <a:srgbClr val="D3ECE3"/>
                </a:solidFill>
                <a:latin typeface="Segoe UI Symbol"/>
                <a:cs typeface="Segoe UI Symbol"/>
              </a:rPr>
              <a:t>V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at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low</a:t>
            </a:r>
            <a:r>
              <a:rPr sz="135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D3ECE3"/>
                </a:solidFill>
                <a:latin typeface="Segoe UI Symbol"/>
                <a:cs typeface="Segoe UI Symbol"/>
              </a:rPr>
              <a:t>current</a:t>
            </a:r>
            <a:endParaRPr sz="1350" dirty="0">
              <a:latin typeface="Segoe UI Symbol"/>
              <a:cs typeface="Segoe UI Symbol"/>
            </a:endParaRPr>
          </a:p>
          <a:p>
            <a:pPr marL="209550" indent="-1460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09550" algn="l"/>
              </a:tabLst>
            </a:pPr>
            <a:r>
              <a:rPr sz="1350" spc="60" dirty="0">
                <a:solidFill>
                  <a:srgbClr val="D3ECE3"/>
                </a:solidFill>
                <a:latin typeface="Segoe UI Symbol"/>
                <a:cs typeface="Segoe UI Symbol"/>
              </a:rPr>
              <a:t>Cost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D3ECE3"/>
                </a:solidFill>
                <a:latin typeface="Segoe UI Symbol"/>
                <a:cs typeface="Segoe UI Symbol"/>
              </a:rPr>
              <a:t>≤</a:t>
            </a:r>
            <a:r>
              <a:rPr sz="1350" spc="-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D3ECE3"/>
                </a:solidFill>
                <a:latin typeface="Segoe UI Symbol"/>
                <a:cs typeface="Segoe UI Symbol"/>
              </a:rPr>
              <a:t>$125</a:t>
            </a:r>
            <a:endParaRPr sz="135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"/>
              <a:buChar char="•"/>
            </a:pPr>
            <a:endParaRPr sz="1350" dirty="0">
              <a:latin typeface="Segoe UI Symbol"/>
              <a:cs typeface="Segoe UI Symbol"/>
            </a:endParaRPr>
          </a:p>
          <a:p>
            <a:pPr marL="3949700" marR="800100">
              <a:lnSpc>
                <a:spcPts val="1560"/>
              </a:lnSpc>
              <a:spcBef>
                <a:spcPts val="50"/>
              </a:spcBef>
            </a:pP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140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mm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stroke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takes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D3ECE3"/>
                </a:solidFill>
                <a:latin typeface="Segoe UI Symbol"/>
                <a:cs typeface="Segoe UI Symbol"/>
              </a:rPr>
              <a:t>~18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s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each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way,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against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31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130" dirty="0">
                <a:solidFill>
                  <a:srgbClr val="D3ECE3"/>
                </a:solidFill>
                <a:latin typeface="Segoe UI Symbol"/>
                <a:cs typeface="Segoe UI Symbol"/>
              </a:rPr>
              <a:t>s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or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more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P16)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D3ECE3"/>
                </a:solidFill>
                <a:latin typeface="Segoe UI Symbol"/>
                <a:cs typeface="Segoe UI Symbol"/>
              </a:rPr>
              <a:t>lowest </a:t>
            </a:r>
            <a:r>
              <a:rPr sz="1300" spc="35" dirty="0">
                <a:solidFill>
                  <a:srgbClr val="D3ECE3"/>
                </a:solidFill>
                <a:latin typeface="Segoe UI Symbol"/>
                <a:cs typeface="Segoe UI Symbol"/>
              </a:rPr>
              <a:t>current.</a:t>
            </a:r>
            <a:endParaRPr sz="1300" dirty="0">
              <a:latin typeface="Segoe UI Symbol"/>
              <a:cs typeface="Segoe UI Symbol"/>
            </a:endParaRPr>
          </a:p>
          <a:p>
            <a:pPr marL="3949700" marR="521334">
              <a:lnSpc>
                <a:spcPct val="100000"/>
              </a:lnSpc>
              <a:spcBef>
                <a:spcPts val="650"/>
              </a:spcBef>
            </a:pPr>
            <a:r>
              <a:rPr sz="1300" b="1" dirty="0">
                <a:solidFill>
                  <a:srgbClr val="FFFFFF"/>
                </a:solidFill>
                <a:latin typeface="Aptos Black"/>
                <a:cs typeface="Aptos Black"/>
              </a:rPr>
              <a:t>Impact:</a:t>
            </a:r>
            <a:r>
              <a:rPr sz="1300" b="1" spc="110" dirty="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its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position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feedback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lets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detect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stall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(a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rock),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so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load</a:t>
            </a:r>
            <a:r>
              <a:rPr sz="1300" spc="7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D3ECE3"/>
                </a:solidFill>
                <a:latin typeface="Segoe UI Symbol"/>
                <a:cs typeface="Segoe UI Symbol"/>
              </a:rPr>
              <a:t>cell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D3ECE3"/>
                </a:solidFill>
                <a:latin typeface="Segoe UI Symbol"/>
                <a:cs typeface="Segoe UI Symbol"/>
              </a:rPr>
              <a:t>its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amplifier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5" dirty="0">
                <a:solidFill>
                  <a:srgbClr val="D3ECE3"/>
                </a:solidFill>
                <a:latin typeface="Segoe UI Symbol"/>
                <a:cs typeface="Segoe UI Symbol"/>
              </a:rPr>
              <a:t>were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cut.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D3ECE3"/>
                </a:solidFill>
                <a:latin typeface="Segoe UI Symbol"/>
                <a:cs typeface="Segoe UI Symbol"/>
              </a:rPr>
              <a:t>stands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~8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above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deck,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70" dirty="0">
                <a:solidFill>
                  <a:srgbClr val="D3ECE3"/>
                </a:solidFill>
                <a:latin typeface="Segoe UI Symbol"/>
                <a:cs typeface="Segoe UI Symbol"/>
              </a:rPr>
              <a:t>so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3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solar</a:t>
            </a:r>
            <a:r>
              <a:rPr sz="1300" spc="8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panel</a:t>
            </a:r>
            <a:r>
              <a:rPr sz="1300" spc="8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mount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D3ECE3"/>
                </a:solidFill>
                <a:latin typeface="Segoe UI Symbol"/>
                <a:cs typeface="Segoe UI Symbol"/>
              </a:rPr>
              <a:t>must</a:t>
            </a:r>
            <a:r>
              <a:rPr sz="1300" spc="9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60" dirty="0">
                <a:solidFill>
                  <a:srgbClr val="D3ECE3"/>
                </a:solidFill>
                <a:latin typeface="Segoe UI Symbol"/>
                <a:cs typeface="Segoe UI Symbol"/>
              </a:rPr>
              <a:t>clear</a:t>
            </a:r>
            <a:r>
              <a:rPr sz="1300" spc="9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D3ECE3"/>
                </a:solidFill>
                <a:latin typeface="Segoe UI Symbol"/>
                <a:cs typeface="Segoe UI Symbol"/>
              </a:rPr>
              <a:t>it.</a:t>
            </a:r>
            <a:endParaRPr lang="en-US" sz="1300" spc="-25" dirty="0">
              <a:solidFill>
                <a:srgbClr val="D3ECE3"/>
              </a:solidFill>
              <a:latin typeface="Segoe UI Symbol"/>
              <a:cs typeface="Segoe UI Symbol"/>
            </a:endParaRPr>
          </a:p>
          <a:p>
            <a:pPr marL="3949700" marR="521334">
              <a:lnSpc>
                <a:spcPct val="100000"/>
              </a:lnSpc>
              <a:spcBef>
                <a:spcPts val="650"/>
              </a:spcBef>
            </a:pPr>
            <a:endParaRPr sz="13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6684009" cy="532765"/>
          </a:xfrm>
          <a:custGeom>
            <a:avLst/>
            <a:gdLst/>
            <a:ahLst/>
            <a:cxnLst/>
            <a:rect l="l" t="t" r="r" b="b"/>
            <a:pathLst>
              <a:path w="6684009" h="532765">
                <a:moveTo>
                  <a:pt x="6683756" y="0"/>
                </a:moveTo>
                <a:lnTo>
                  <a:pt x="0" y="0"/>
                </a:lnTo>
                <a:lnTo>
                  <a:pt x="0" y="532434"/>
                </a:lnTo>
                <a:lnTo>
                  <a:pt x="3341878" y="532434"/>
                </a:lnTo>
                <a:lnTo>
                  <a:pt x="6683756" y="532434"/>
                </a:lnTo>
                <a:lnTo>
                  <a:pt x="6683756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spc="50"/>
              <a:t>Gantt</a:t>
            </a:r>
            <a:r>
              <a:rPr spc="35"/>
              <a:t> </a:t>
            </a:r>
            <a:r>
              <a:rPr spc="150"/>
              <a:t>Chart:</a:t>
            </a:r>
            <a:r>
              <a:rPr spc="40"/>
              <a:t> </a:t>
            </a:r>
            <a:r>
              <a:rPr spc="140"/>
              <a:t>Capstone</a:t>
            </a:r>
            <a:r>
              <a:rPr spc="45"/>
              <a:t> </a:t>
            </a:r>
            <a:r>
              <a:rPr spc="-50"/>
              <a:t>I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9725" y="1175922"/>
            <a:ext cx="11512550" cy="5331460"/>
            <a:chOff x="338404" y="1298155"/>
            <a:chExt cx="11512550" cy="5331460"/>
          </a:xfrm>
        </p:grpSpPr>
        <p:sp>
          <p:nvSpPr>
            <p:cNvPr id="5" name="object 5"/>
            <p:cNvSpPr/>
            <p:nvPr/>
          </p:nvSpPr>
          <p:spPr>
            <a:xfrm>
              <a:off x="338404" y="1298155"/>
              <a:ext cx="11512550" cy="5331460"/>
            </a:xfrm>
            <a:custGeom>
              <a:avLst/>
              <a:gdLst/>
              <a:ahLst/>
              <a:cxnLst/>
              <a:rect l="l" t="t" r="r" b="b"/>
              <a:pathLst>
                <a:path w="11512550" h="5331459">
                  <a:moveTo>
                    <a:pt x="11298961" y="0"/>
                  </a:moveTo>
                  <a:lnTo>
                    <a:pt x="213118" y="0"/>
                  </a:lnTo>
                  <a:lnTo>
                    <a:pt x="185228" y="1812"/>
                  </a:lnTo>
                  <a:lnTo>
                    <a:pt x="131606" y="16105"/>
                  </a:lnTo>
                  <a:lnTo>
                    <a:pt x="83311" y="43995"/>
                  </a:lnTo>
                  <a:lnTo>
                    <a:pt x="43982" y="83324"/>
                  </a:lnTo>
                  <a:lnTo>
                    <a:pt x="16094" y="131617"/>
                  </a:lnTo>
                  <a:lnTo>
                    <a:pt x="1810" y="185230"/>
                  </a:lnTo>
                  <a:lnTo>
                    <a:pt x="0" y="213118"/>
                  </a:lnTo>
                  <a:lnTo>
                    <a:pt x="0" y="5117769"/>
                  </a:lnTo>
                  <a:lnTo>
                    <a:pt x="1786" y="5145291"/>
                  </a:lnTo>
                  <a:lnTo>
                    <a:pt x="1810" y="5145657"/>
                  </a:lnTo>
                  <a:lnTo>
                    <a:pt x="7126" y="5172575"/>
                  </a:lnTo>
                  <a:lnTo>
                    <a:pt x="7197" y="5172937"/>
                  </a:lnTo>
                  <a:lnTo>
                    <a:pt x="28435" y="5224322"/>
                  </a:lnTo>
                  <a:lnTo>
                    <a:pt x="62364" y="5268510"/>
                  </a:lnTo>
                  <a:lnTo>
                    <a:pt x="106553" y="5302440"/>
                  </a:lnTo>
                  <a:lnTo>
                    <a:pt x="157945" y="5323684"/>
                  </a:lnTo>
                  <a:lnTo>
                    <a:pt x="213118" y="5330888"/>
                  </a:lnTo>
                  <a:lnTo>
                    <a:pt x="11299317" y="5330520"/>
                  </a:lnTo>
                  <a:lnTo>
                    <a:pt x="11354484" y="5323322"/>
                  </a:lnTo>
                  <a:lnTo>
                    <a:pt x="11405870" y="5302084"/>
                  </a:lnTo>
                  <a:lnTo>
                    <a:pt x="11450069" y="5268155"/>
                  </a:lnTo>
                  <a:lnTo>
                    <a:pt x="11484000" y="5223967"/>
                  </a:lnTo>
                  <a:lnTo>
                    <a:pt x="11505115" y="5172937"/>
                  </a:lnTo>
                  <a:lnTo>
                    <a:pt x="11510552" y="5145657"/>
                  </a:lnTo>
                  <a:lnTo>
                    <a:pt x="11510625" y="5145291"/>
                  </a:lnTo>
                  <a:lnTo>
                    <a:pt x="11512411" y="5117769"/>
                  </a:lnTo>
                  <a:lnTo>
                    <a:pt x="11512435" y="5117401"/>
                  </a:lnTo>
                  <a:lnTo>
                    <a:pt x="11512080" y="213118"/>
                  </a:lnTo>
                  <a:lnTo>
                    <a:pt x="11504876" y="157951"/>
                  </a:lnTo>
                  <a:lnTo>
                    <a:pt x="11483632" y="106565"/>
                  </a:lnTo>
                  <a:lnTo>
                    <a:pt x="11449702" y="62377"/>
                  </a:lnTo>
                  <a:lnTo>
                    <a:pt x="11405514" y="28448"/>
                  </a:lnTo>
                  <a:lnTo>
                    <a:pt x="11354128" y="7204"/>
                  </a:lnTo>
                  <a:lnTo>
                    <a:pt x="11326849" y="1812"/>
                  </a:lnTo>
                  <a:lnTo>
                    <a:pt x="11298961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564" y="1416964"/>
              <a:ext cx="11238230" cy="4846320"/>
            </a:xfrm>
            <a:custGeom>
              <a:avLst/>
              <a:gdLst/>
              <a:ahLst/>
              <a:cxnLst/>
              <a:rect l="l" t="t" r="r" b="b"/>
              <a:pathLst>
                <a:path w="11238230" h="4846320">
                  <a:moveTo>
                    <a:pt x="11237760" y="0"/>
                  </a:moveTo>
                  <a:lnTo>
                    <a:pt x="0" y="0"/>
                  </a:lnTo>
                  <a:lnTo>
                    <a:pt x="0" y="4845951"/>
                  </a:lnTo>
                  <a:lnTo>
                    <a:pt x="5618873" y="4845951"/>
                  </a:lnTo>
                  <a:lnTo>
                    <a:pt x="11237760" y="4845951"/>
                  </a:lnTo>
                  <a:lnTo>
                    <a:pt x="11237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564" y="1416964"/>
              <a:ext cx="11238230" cy="328930"/>
            </a:xfrm>
            <a:custGeom>
              <a:avLst/>
              <a:gdLst/>
              <a:ahLst/>
              <a:cxnLst/>
              <a:rect l="l" t="t" r="r" b="b"/>
              <a:pathLst>
                <a:path w="11238230" h="328930">
                  <a:moveTo>
                    <a:pt x="11237760" y="0"/>
                  </a:moveTo>
                  <a:lnTo>
                    <a:pt x="0" y="0"/>
                  </a:lnTo>
                  <a:lnTo>
                    <a:pt x="0" y="328675"/>
                  </a:lnTo>
                  <a:lnTo>
                    <a:pt x="5618873" y="328675"/>
                  </a:lnTo>
                  <a:lnTo>
                    <a:pt x="11237760" y="328675"/>
                  </a:lnTo>
                  <a:lnTo>
                    <a:pt x="11237760" y="0"/>
                  </a:lnTo>
                  <a:close/>
                </a:path>
              </a:pathLst>
            </a:custGeom>
            <a:solidFill>
              <a:srgbClr val="235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87458D4A-9E3F-53D1-E7EC-45D27D460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03" y="1460190"/>
            <a:ext cx="11234412" cy="45154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8906510" cy="532765"/>
          </a:xfrm>
          <a:custGeom>
            <a:avLst/>
            <a:gdLst/>
            <a:ahLst/>
            <a:cxnLst/>
            <a:rect l="l" t="t" r="r" b="b"/>
            <a:pathLst>
              <a:path w="8906510" h="532765">
                <a:moveTo>
                  <a:pt x="8906040" y="0"/>
                </a:moveTo>
                <a:lnTo>
                  <a:pt x="0" y="0"/>
                </a:lnTo>
                <a:lnTo>
                  <a:pt x="0" y="532434"/>
                </a:lnTo>
                <a:lnTo>
                  <a:pt x="4453191" y="532434"/>
                </a:lnTo>
                <a:lnTo>
                  <a:pt x="8906040" y="532434"/>
                </a:lnTo>
                <a:lnTo>
                  <a:pt x="890604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100"/>
              </a:spcBef>
            </a:pPr>
            <a:r>
              <a:rPr spc="140"/>
              <a:t>Capstone</a:t>
            </a:r>
            <a:r>
              <a:rPr spc="-15"/>
              <a:t> </a:t>
            </a:r>
            <a:r>
              <a:t>I</a:t>
            </a:r>
            <a:r>
              <a:rPr spc="-20"/>
              <a:t> </a:t>
            </a:r>
            <a:r>
              <a:rPr spc="120"/>
              <a:t>Deliverables</a:t>
            </a:r>
            <a:endParaRPr spc="185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21702"/>
              </p:ext>
            </p:extLst>
          </p:nvPr>
        </p:nvGraphicFramePr>
        <p:xfrm>
          <a:off x="334276" y="1413192"/>
          <a:ext cx="11511276" cy="516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6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Subsystem</a:t>
                      </a:r>
                      <a:r>
                        <a:rPr sz="1100" b="1" spc="1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/</a:t>
                      </a:r>
                      <a:r>
                        <a:rPr sz="1100" b="1" spc="10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 spc="-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lead</a:t>
                      </a:r>
                      <a:endParaRPr sz="1100">
                        <a:latin typeface="Aptos Black"/>
                        <a:cs typeface="Aptos Black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1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Requirements</a:t>
                      </a:r>
                      <a:endParaRPr sz="1100">
                        <a:latin typeface="Aptos Black"/>
                        <a:cs typeface="Aptos Black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Demonstration</a:t>
                      </a:r>
                      <a:r>
                        <a:rPr sz="1100" b="1" spc="6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setup</a:t>
                      </a:r>
                      <a:r>
                        <a:rPr sz="1100" b="1" spc="5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and</a:t>
                      </a:r>
                      <a:r>
                        <a:rPr sz="1100" b="1" spc="7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test</a:t>
                      </a:r>
                      <a:r>
                        <a:rPr sz="1100" b="1" spc="6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method</a:t>
                      </a:r>
                      <a:endParaRPr sz="1100">
                        <a:latin typeface="Aptos Black"/>
                        <a:cs typeface="Aptos Black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100" b="1" spc="15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%</a:t>
                      </a:r>
                      <a:r>
                        <a:rPr sz="1100" b="1" spc="3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100" b="1" spc="-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Grade</a:t>
                      </a:r>
                      <a:endParaRPr sz="1100">
                        <a:latin typeface="Aptos Black"/>
                        <a:cs typeface="Aptos Black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100" b="1" spc="10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%</a:t>
                      </a:r>
                      <a:endParaRPr sz="1100">
                        <a:latin typeface="Aptos Black"/>
                        <a:cs typeface="Aptos Black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Earned</a:t>
                      </a:r>
                      <a:endParaRPr sz="1100">
                        <a:latin typeface="Aptos Black"/>
                        <a:cs typeface="Aptos Black"/>
                      </a:endParaRPr>
                    </a:p>
                  </a:txBody>
                  <a:tcPr marL="0" marR="0" marT="32384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18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Data</a:t>
                      </a:r>
                      <a:r>
                        <a:rPr sz="1200" b="1" spc="3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&amp;</a:t>
                      </a:r>
                      <a:r>
                        <a:rPr sz="1200" b="1" spc="15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Control</a:t>
                      </a:r>
                      <a:endParaRPr sz="105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6A4E9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155575" indent="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Robot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Pi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base</a:t>
                      </a:r>
                      <a:r>
                        <a:rPr sz="10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exchange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TEST,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OK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RESULT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messages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over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LoRa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9</a:t>
                      </a:r>
                      <a:r>
                        <a:rPr lang="en-US"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%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delivery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(after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retries)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 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500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line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sight.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[8%]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04775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Heartbeat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detects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dead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link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within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lang="en-US"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s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(3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missed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beats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s).</a:t>
                      </a:r>
                      <a:r>
                        <a:rPr sz="100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[6%]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27000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logs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100%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received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results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CSV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GPS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position.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[6%]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86360" indent="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Two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 err="1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Pis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LoRa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Bonnets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campus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field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500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apart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send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100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scripted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messages;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delivery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rate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counted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both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logs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(data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report).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67005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Live: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radio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switched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off;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robot's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OLED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shows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LINK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LOST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elapsed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read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99390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base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CSV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opened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laptop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checked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line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line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against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1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robot's</a:t>
                      </a:r>
                      <a:r>
                        <a:rPr sz="1000" spc="1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send</a:t>
                      </a:r>
                      <a:r>
                        <a:rPr sz="1000" spc="1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114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20%</a:t>
                      </a:r>
                      <a:endParaRPr sz="1600">
                        <a:latin typeface="Aptos Black"/>
                        <a:cs typeface="Aptos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2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Soil</a:t>
                      </a:r>
                      <a:r>
                        <a:rPr sz="1200" b="1" spc="-2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 </a:t>
                      </a: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Testing</a:t>
                      </a:r>
                      <a:endParaRPr sz="105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929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167005" indent="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Pi</a:t>
                      </a:r>
                      <a:r>
                        <a:rPr sz="1000" spc="1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reads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pH,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EC,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temperature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moisture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over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Modbus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least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every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00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s.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[6%]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71450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Readings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agree</a:t>
                      </a:r>
                      <a:r>
                        <a:rPr sz="1000" spc="1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handheld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reference</a:t>
                      </a:r>
                      <a:r>
                        <a:rPr sz="1000" spc="1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meter: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pH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within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±0.5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temperature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within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±1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°C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samples.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[8%]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82550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Actuator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pushes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probe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into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bin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stops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within </a:t>
                      </a:r>
                      <a:r>
                        <a:rPr lang="en-US" sz="1000" spc="-1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s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stalling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buried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obstruction.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[6%]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400050" indent="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Live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console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shows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four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values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updating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sensor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sample.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56210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Three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prepared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samples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(dry,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moist,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limed)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are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measured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our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4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sensor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by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reference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meter;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table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of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differences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provided.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226060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Actuator</a:t>
                      </a:r>
                      <a:r>
                        <a:rPr sz="100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3D-printed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test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stand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over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soil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bin;</a:t>
                      </a:r>
                      <a:r>
                        <a:rPr sz="1000" spc="1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brick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buried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4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cm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down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triggers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stall</a:t>
                      </a:r>
                      <a:r>
                        <a:rPr sz="1000" spc="1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stop,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timed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log.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114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20%</a:t>
                      </a:r>
                      <a:endParaRPr sz="1600">
                        <a:latin typeface="Aptos Black"/>
                        <a:cs typeface="Aptos Black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26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Drivetrain</a:t>
                      </a:r>
                      <a:endParaRPr sz="1050">
                        <a:latin typeface="Segoe UI Symbol"/>
                        <a:cs typeface="Segoe UI Symbol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A2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295275" indent="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Chassis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fabricated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assembled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four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motors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wheels; 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mass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ballast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≤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kg.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[6%]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45415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Under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RC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control,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drives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0.5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m/s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grass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turns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place.</a:t>
                      </a:r>
                      <a:r>
                        <a:rPr sz="1000" spc="2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[7%]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564515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Climbs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20%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grade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000" spc="9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kg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board;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ground </a:t>
                      </a:r>
                      <a:r>
                        <a:rPr sz="1000" spc="4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clearance</a:t>
                      </a:r>
                      <a:r>
                        <a:rPr sz="1000" spc="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≥</a:t>
                      </a:r>
                      <a:r>
                        <a:rPr sz="100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3</a:t>
                      </a:r>
                      <a:r>
                        <a:rPr sz="1000" spc="3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in.</a:t>
                      </a:r>
                      <a:r>
                        <a:rPr sz="1000" spc="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[7%]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0825" indent="-1778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arenBoth"/>
                        <a:tabLst>
                          <a:tab pos="25082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Robot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weighed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scale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ballast</a:t>
                      </a:r>
                      <a:r>
                        <a:rPr sz="1000" spc="9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place.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36525" indent="20320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6225" algn="l"/>
                        </a:tabLst>
                      </a:pP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Timed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run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on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campus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grass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7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(3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trials,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average</a:t>
                      </a:r>
                      <a:r>
                        <a:rPr sz="1000" spc="5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speed</a:t>
                      </a:r>
                      <a:r>
                        <a:rPr sz="1000" spc="5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reported)</a:t>
                      </a:r>
                      <a:r>
                        <a:rPr sz="1000" spc="6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2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and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2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turn-in-place</a:t>
                      </a:r>
                      <a:r>
                        <a:rPr sz="1000" spc="2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demonstration.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  <a:p>
                      <a:pPr marL="73025" marR="183515" indent="20447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Plywood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ramp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set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000" spc="1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20%</a:t>
                      </a:r>
                      <a:r>
                        <a:rPr sz="1000" spc="10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(11.3°)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grade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1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ballast</a:t>
                      </a:r>
                      <a:r>
                        <a:rPr sz="1000" spc="12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aboard;</a:t>
                      </a:r>
                      <a:r>
                        <a:rPr sz="1000" spc="114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3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clearance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measured</a:t>
                      </a:r>
                      <a:r>
                        <a:rPr sz="1000" spc="7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tape</a:t>
                      </a:r>
                      <a:r>
                        <a:rPr sz="1000" spc="8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at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000" spc="8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lowest</a:t>
                      </a:r>
                      <a:r>
                        <a:rPr sz="1000" spc="65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000" spc="-10">
                          <a:solidFill>
                            <a:srgbClr val="1D2C25"/>
                          </a:solidFill>
                          <a:latin typeface="Segoe UI Symbol"/>
                          <a:cs typeface="Segoe UI Symbol"/>
                        </a:rPr>
                        <a:t>point.</a:t>
                      </a: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114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20%</a:t>
                      </a:r>
                      <a:endParaRPr sz="1600">
                        <a:latin typeface="Aptos Black"/>
                        <a:cs typeface="Aptos Black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12">
                <a:tc>
                  <a:txBody>
                    <a:bodyPr/>
                    <a:lstStyle/>
                    <a:p>
                      <a:pPr marL="72390" indent="0">
                        <a:lnSpc>
                          <a:spcPct val="100000"/>
                        </a:lnSpc>
                        <a:spcBef>
                          <a:spcPts val="310"/>
                        </a:spcBef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Aptos Black" panose="020B0004020202020204" pitchFamily="34" charset="0"/>
                          <a:cs typeface="Segoe UI Symbol"/>
                        </a:rPr>
                        <a:t>Demo</a:t>
                      </a:r>
                    </a:p>
                  </a:txBody>
                  <a:tcPr marL="0" marR="0" marT="0" marB="0" anchor="ctr">
                    <a:lnL w="9525">
                      <a:solidFill>
                        <a:srgbClr val="BED2C9"/>
                      </a:solidFill>
                      <a:prstDash val="soli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 marR="328930" indent="0">
                        <a:lnSpc>
                          <a:spcPct val="100000"/>
                        </a:lnSpc>
                        <a:spcBef>
                          <a:spcPts val="305"/>
                        </a:spcBef>
                        <a:buNone/>
                        <a:tabLst>
                          <a:tab pos="277495" algn="l"/>
                        </a:tabLs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Segoe UI Symbol"/>
                          <a:cs typeface="Segoe UI Symbol"/>
                        </a:rPr>
                        <a:t>All 3 subsystems are ready to demo at the time scheduled. Each requirement and corresponding demonstration setups written above have been attempted.</a:t>
                      </a:r>
                      <a:endParaRPr sz="1000">
                        <a:solidFill>
                          <a:schemeClr val="tx1"/>
                        </a:solidFill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3025" marR="118110" indent="204470">
                        <a:lnSpc>
                          <a:spcPct val="100000"/>
                        </a:lnSpc>
                        <a:spcBef>
                          <a:spcPts val="305"/>
                        </a:spcBef>
                        <a:buAutoNum type="arabicParenBoth"/>
                        <a:tabLst>
                          <a:tab pos="277495" algn="l"/>
                        </a:tabLst>
                      </a:pPr>
                      <a:endParaRPr sz="100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spc="114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40%</a:t>
                      </a:r>
                      <a:endParaRPr lang="en-US" sz="1600">
                        <a:latin typeface="Aptos Black"/>
                        <a:cs typeface="Aptos Black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600">
                        <a:latin typeface="Aptos Black"/>
                        <a:cs typeface="Aptos Black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823467"/>
                  </a:ext>
                </a:extLst>
              </a:tr>
              <a:tr h="473112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1" spc="-10">
                          <a:solidFill>
                            <a:srgbClr val="FFFFFF"/>
                          </a:solidFill>
                          <a:latin typeface="Aptos Black"/>
                          <a:cs typeface="Aptos Black"/>
                        </a:rPr>
                        <a:t>Total</a:t>
                      </a:r>
                      <a:endParaRPr sz="1200">
                        <a:latin typeface="Aptos Black"/>
                        <a:cs typeface="Aptos Black"/>
                      </a:endParaRPr>
                    </a:p>
                  </a:txBody>
                  <a:tcPr marL="0" marR="0" marT="67310" marB="0">
                    <a:lnL w="9525">
                      <a:solidFill>
                        <a:srgbClr val="BED2C9"/>
                      </a:solidFill>
                      <a:prstDash val="soli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050">
                        <a:latin typeface="Segoe UI Symbol"/>
                        <a:cs typeface="Segoe UI Symbol"/>
                      </a:endParaRPr>
                    </a:p>
                  </a:txBody>
                  <a:tcPr marL="0" marR="0" marT="78740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235F4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pc="114">
                          <a:solidFill>
                            <a:srgbClr val="235F49"/>
                          </a:solidFill>
                          <a:latin typeface="Aptos Black"/>
                          <a:cs typeface="Aptos Black"/>
                        </a:rPr>
                        <a:t>100%</a:t>
                      </a:r>
                      <a:endParaRPr lang="en-US" sz="1400">
                        <a:latin typeface="Aptos Black"/>
                        <a:cs typeface="Aptos Black"/>
                      </a:endParaRPr>
                    </a:p>
                  </a:txBody>
                  <a:tcPr marL="0" marR="0" marT="59055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E9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BED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ED2C9"/>
                      </a:solidFill>
                      <a:prstDash val="solid"/>
                    </a:lnR>
                    <a:lnT w="9525">
                      <a:solidFill>
                        <a:srgbClr val="BED2C9"/>
                      </a:solidFill>
                      <a:prstDash val="solid"/>
                    </a:lnT>
                    <a:lnB w="9525">
                      <a:solidFill>
                        <a:srgbClr val="BED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4896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image.png"/>
          <p:cNvGrpSpPr/>
          <p:nvPr/>
        </p:nvGrpSpPr>
        <p:grpSpPr>
          <a:xfrm>
            <a:off x="0" y="12"/>
            <a:ext cx="12192000" cy="6858000"/>
            <a:chOff x="0" y="12"/>
            <a:chExt cx="12192000" cy="6858000"/>
          </a:xfrm>
        </p:grpSpPr>
        <p:pic>
          <p:nvPicPr>
            <p:cNvPr id="3" name="object 3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"/>
              <a:ext cx="12191758" cy="68576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2724" y="548640"/>
              <a:ext cx="3721735" cy="532765"/>
            </a:xfrm>
            <a:custGeom>
              <a:avLst/>
              <a:gdLst/>
              <a:ahLst/>
              <a:cxnLst/>
              <a:rect l="l" t="t" r="r" b="b"/>
              <a:pathLst>
                <a:path w="3721735" h="532765">
                  <a:moveTo>
                    <a:pt x="3721315" y="0"/>
                  </a:moveTo>
                  <a:lnTo>
                    <a:pt x="0" y="0"/>
                  </a:lnTo>
                  <a:lnTo>
                    <a:pt x="0" y="532434"/>
                  </a:lnTo>
                  <a:lnTo>
                    <a:pt x="1860842" y="532434"/>
                  </a:lnTo>
                  <a:lnTo>
                    <a:pt x="3721315" y="532434"/>
                  </a:lnTo>
                  <a:lnTo>
                    <a:pt x="3721315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spc="85"/>
              <a:t>Future</a:t>
            </a:r>
            <a:r>
              <a:rPr spc="30"/>
              <a:t> </a:t>
            </a:r>
            <a:r>
              <a:rPr spc="60"/>
              <a:t>Work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37680" y="1462316"/>
            <a:ext cx="3594100" cy="4572635"/>
            <a:chOff x="337680" y="1462316"/>
            <a:chExt cx="3594100" cy="4572635"/>
          </a:xfrm>
        </p:grpSpPr>
        <p:sp>
          <p:nvSpPr>
            <p:cNvPr id="7" name="object 7"/>
            <p:cNvSpPr/>
            <p:nvPr/>
          </p:nvSpPr>
          <p:spPr>
            <a:xfrm>
              <a:off x="337680" y="1462316"/>
              <a:ext cx="3594100" cy="4572635"/>
            </a:xfrm>
            <a:custGeom>
              <a:avLst/>
              <a:gdLst/>
              <a:ahLst/>
              <a:cxnLst/>
              <a:rect l="l" t="t" r="r" b="b"/>
              <a:pathLst>
                <a:path w="3594100" h="4572635">
                  <a:moveTo>
                    <a:pt x="287997" y="0"/>
                  </a:moveTo>
                  <a:lnTo>
                    <a:pt x="213434" y="9810"/>
                  </a:lnTo>
                  <a:lnTo>
                    <a:pt x="144005" y="38519"/>
                  </a:lnTo>
                  <a:lnTo>
                    <a:pt x="84558" y="84380"/>
                  </a:lnTo>
                  <a:lnTo>
                    <a:pt x="38874" y="144005"/>
                  </a:lnTo>
                  <a:lnTo>
                    <a:pt x="10166" y="213261"/>
                  </a:lnTo>
                  <a:lnTo>
                    <a:pt x="355" y="287642"/>
                  </a:lnTo>
                  <a:lnTo>
                    <a:pt x="0" y="4284726"/>
                  </a:lnTo>
                  <a:lnTo>
                    <a:pt x="2464" y="4322303"/>
                  </a:lnTo>
                  <a:lnTo>
                    <a:pt x="2475" y="4322464"/>
                  </a:lnTo>
                  <a:lnTo>
                    <a:pt x="9774" y="4359106"/>
                  </a:lnTo>
                  <a:lnTo>
                    <a:pt x="9810" y="4359289"/>
                  </a:lnTo>
                  <a:lnTo>
                    <a:pt x="21802" y="4394629"/>
                  </a:lnTo>
                  <a:lnTo>
                    <a:pt x="21870" y="4394830"/>
                  </a:lnTo>
                  <a:lnTo>
                    <a:pt x="59609" y="4459977"/>
                  </a:lnTo>
                  <a:lnTo>
                    <a:pt x="112585" y="4512913"/>
                  </a:lnTo>
                  <a:lnTo>
                    <a:pt x="177732" y="4550497"/>
                  </a:lnTo>
                  <a:lnTo>
                    <a:pt x="250057" y="4569892"/>
                  </a:lnTo>
                  <a:lnTo>
                    <a:pt x="287642" y="4572368"/>
                  </a:lnTo>
                  <a:lnTo>
                    <a:pt x="3306241" y="4572368"/>
                  </a:lnTo>
                  <a:lnTo>
                    <a:pt x="3380805" y="4562557"/>
                  </a:lnTo>
                  <a:lnTo>
                    <a:pt x="3450234" y="4533849"/>
                  </a:lnTo>
                  <a:lnTo>
                    <a:pt x="3509681" y="4487987"/>
                  </a:lnTo>
                  <a:lnTo>
                    <a:pt x="3555365" y="4428363"/>
                  </a:lnTo>
                  <a:lnTo>
                    <a:pt x="3584011" y="4359289"/>
                  </a:lnTo>
                  <a:lnTo>
                    <a:pt x="3584073" y="4359106"/>
                  </a:lnTo>
                  <a:lnTo>
                    <a:pt x="3591376" y="4322464"/>
                  </a:lnTo>
                  <a:lnTo>
                    <a:pt x="3591408" y="4322303"/>
                  </a:lnTo>
                  <a:lnTo>
                    <a:pt x="3593884" y="4284726"/>
                  </a:lnTo>
                  <a:lnTo>
                    <a:pt x="3593860" y="287642"/>
                  </a:lnTo>
                  <a:lnTo>
                    <a:pt x="3584073" y="213439"/>
                  </a:lnTo>
                  <a:lnTo>
                    <a:pt x="3555365" y="144005"/>
                  </a:lnTo>
                  <a:lnTo>
                    <a:pt x="3509503" y="84559"/>
                  </a:lnTo>
                  <a:lnTo>
                    <a:pt x="3449878" y="38887"/>
                  </a:lnTo>
                  <a:lnTo>
                    <a:pt x="3380622" y="10174"/>
                  </a:lnTo>
                  <a:lnTo>
                    <a:pt x="3306241" y="36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2355" y="169128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>
                  <a:moveTo>
                    <a:pt x="365759" y="0"/>
                  </a:moveTo>
                  <a:lnTo>
                    <a:pt x="317952" y="3143"/>
                  </a:lnTo>
                  <a:lnTo>
                    <a:pt x="271086" y="12463"/>
                  </a:lnTo>
                  <a:lnTo>
                    <a:pt x="225837" y="27790"/>
                  </a:lnTo>
                  <a:lnTo>
                    <a:pt x="182879" y="48958"/>
                  </a:lnTo>
                  <a:lnTo>
                    <a:pt x="143073" y="75604"/>
                  </a:lnTo>
                  <a:lnTo>
                    <a:pt x="107146" y="107141"/>
                  </a:lnTo>
                  <a:lnTo>
                    <a:pt x="75605" y="143068"/>
                  </a:lnTo>
                  <a:lnTo>
                    <a:pt x="48958" y="182879"/>
                  </a:lnTo>
                  <a:lnTo>
                    <a:pt x="27796" y="225830"/>
                  </a:lnTo>
                  <a:lnTo>
                    <a:pt x="12468" y="271076"/>
                  </a:lnTo>
                  <a:lnTo>
                    <a:pt x="3145" y="317945"/>
                  </a:lnTo>
                  <a:lnTo>
                    <a:pt x="0" y="365759"/>
                  </a:lnTo>
                  <a:lnTo>
                    <a:pt x="3145" y="413567"/>
                  </a:lnTo>
                  <a:lnTo>
                    <a:pt x="12468" y="460433"/>
                  </a:lnTo>
                  <a:lnTo>
                    <a:pt x="27796" y="505682"/>
                  </a:lnTo>
                  <a:lnTo>
                    <a:pt x="48958" y="548639"/>
                  </a:lnTo>
                  <a:lnTo>
                    <a:pt x="75605" y="588446"/>
                  </a:lnTo>
                  <a:lnTo>
                    <a:pt x="107146" y="624373"/>
                  </a:lnTo>
                  <a:lnTo>
                    <a:pt x="143073" y="655914"/>
                  </a:lnTo>
                  <a:lnTo>
                    <a:pt x="182879" y="682561"/>
                  </a:lnTo>
                  <a:lnTo>
                    <a:pt x="225837" y="703723"/>
                  </a:lnTo>
                  <a:lnTo>
                    <a:pt x="271086" y="719051"/>
                  </a:lnTo>
                  <a:lnTo>
                    <a:pt x="317952" y="728374"/>
                  </a:lnTo>
                  <a:lnTo>
                    <a:pt x="365759" y="731519"/>
                  </a:lnTo>
                  <a:lnTo>
                    <a:pt x="413574" y="728374"/>
                  </a:lnTo>
                  <a:lnTo>
                    <a:pt x="460443" y="719051"/>
                  </a:lnTo>
                  <a:lnTo>
                    <a:pt x="505689" y="703723"/>
                  </a:lnTo>
                  <a:lnTo>
                    <a:pt x="548640" y="682561"/>
                  </a:lnTo>
                  <a:lnTo>
                    <a:pt x="588451" y="655914"/>
                  </a:lnTo>
                  <a:lnTo>
                    <a:pt x="624378" y="624373"/>
                  </a:lnTo>
                  <a:lnTo>
                    <a:pt x="655915" y="588446"/>
                  </a:lnTo>
                  <a:lnTo>
                    <a:pt x="682561" y="548639"/>
                  </a:lnTo>
                  <a:lnTo>
                    <a:pt x="703729" y="505682"/>
                  </a:lnTo>
                  <a:lnTo>
                    <a:pt x="719056" y="460433"/>
                  </a:lnTo>
                  <a:lnTo>
                    <a:pt x="728376" y="413567"/>
                  </a:lnTo>
                  <a:lnTo>
                    <a:pt x="731519" y="365759"/>
                  </a:lnTo>
                  <a:lnTo>
                    <a:pt x="728376" y="317945"/>
                  </a:lnTo>
                  <a:lnTo>
                    <a:pt x="719056" y="271076"/>
                  </a:lnTo>
                  <a:lnTo>
                    <a:pt x="703729" y="225830"/>
                  </a:lnTo>
                  <a:lnTo>
                    <a:pt x="682561" y="182879"/>
                  </a:lnTo>
                  <a:lnTo>
                    <a:pt x="655915" y="143068"/>
                  </a:lnTo>
                  <a:lnTo>
                    <a:pt x="624378" y="107141"/>
                  </a:lnTo>
                  <a:lnTo>
                    <a:pt x="588451" y="75604"/>
                  </a:lnTo>
                  <a:lnTo>
                    <a:pt x="548640" y="48958"/>
                  </a:lnTo>
                  <a:lnTo>
                    <a:pt x="505689" y="27790"/>
                  </a:lnTo>
                  <a:lnTo>
                    <a:pt x="460443" y="12463"/>
                  </a:lnTo>
                  <a:lnTo>
                    <a:pt x="413574" y="314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flag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034" y="1866963"/>
              <a:ext cx="380161" cy="38016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68704" y="1785137"/>
            <a:ext cx="169418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FFFFFF"/>
                </a:solidFill>
                <a:latin typeface="Aptos Black"/>
                <a:cs typeface="Aptos Black"/>
              </a:rPr>
              <a:t>Capstone</a:t>
            </a:r>
            <a:r>
              <a:rPr sz="1700" b="1" spc="7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>
                <a:solidFill>
                  <a:srgbClr val="FFFFFF"/>
                </a:solidFill>
                <a:latin typeface="Aptos Black"/>
                <a:cs typeface="Aptos Black"/>
              </a:rPr>
              <a:t>I</a:t>
            </a:r>
            <a:r>
              <a:rPr sz="1700" b="1" spc="8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 spc="50">
                <a:solidFill>
                  <a:srgbClr val="FFFFFF"/>
                </a:solidFill>
                <a:latin typeface="Aptos Black"/>
                <a:cs typeface="Aptos Black"/>
              </a:rPr>
              <a:t>·</a:t>
            </a:r>
            <a:r>
              <a:rPr sz="1700" b="1" spc="8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 spc="-35">
                <a:solidFill>
                  <a:srgbClr val="FFFFFF"/>
                </a:solidFill>
                <a:latin typeface="Aptos Black"/>
                <a:cs typeface="Aptos Black"/>
              </a:rPr>
              <a:t>Fall </a:t>
            </a:r>
            <a:r>
              <a:rPr sz="1700" b="1" spc="80">
                <a:solidFill>
                  <a:srgbClr val="FFFFFF"/>
                </a:solidFill>
                <a:latin typeface="Aptos Black"/>
                <a:cs typeface="Aptos Black"/>
              </a:rPr>
              <a:t>2026</a:t>
            </a:r>
            <a:endParaRPr sz="1700">
              <a:latin typeface="Aptos Black"/>
              <a:cs typeface="Aptos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5375" y="265381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5375" y="3263303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375" y="3872788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108" y="4253661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6620" y="2684424"/>
            <a:ext cx="280924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2715">
              <a:lnSpc>
                <a:spcPct val="100000"/>
              </a:lnSpc>
              <a:spcBef>
                <a:spcPts val="100"/>
              </a:spcBef>
            </a:pPr>
            <a:r>
              <a:rPr sz="1500" spc="55" dirty="0">
                <a:solidFill>
                  <a:srgbClr val="D3ECE3"/>
                </a:solidFill>
                <a:latin typeface="Segoe UI Symbol"/>
                <a:cs typeface="Segoe UI Symbol"/>
              </a:rPr>
              <a:t>Prove</a:t>
            </a:r>
            <a:r>
              <a:rPr sz="1500" spc="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lang="en-US" sz="1500" spc="90" dirty="0">
                <a:solidFill>
                  <a:srgbClr val="D3ECE3"/>
                </a:solidFill>
                <a:latin typeface="Segoe UI Symbol"/>
                <a:cs typeface="Segoe UI Symbol"/>
              </a:rPr>
              <a:t>3</a:t>
            </a:r>
            <a:r>
              <a:rPr sz="1500" spc="3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75" dirty="0">
                <a:solidFill>
                  <a:srgbClr val="D3ECE3"/>
                </a:solidFill>
                <a:latin typeface="Segoe UI Symbol"/>
                <a:cs typeface="Segoe UI Symbol"/>
              </a:rPr>
              <a:t>subsystem</a:t>
            </a:r>
            <a:r>
              <a:rPr sz="1500" spc="1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on</a:t>
            </a:r>
            <a:r>
              <a:rPr sz="1500" spc="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D3ECE3"/>
                </a:solidFill>
                <a:latin typeface="Segoe UI Symbol"/>
                <a:cs typeface="Segoe UI Symbol"/>
              </a:rPr>
              <a:t>the </a:t>
            </a:r>
            <a:r>
              <a:rPr sz="1500" spc="50" dirty="0">
                <a:solidFill>
                  <a:srgbClr val="D3ECE3"/>
                </a:solidFill>
                <a:latin typeface="Segoe UI Symbol"/>
                <a:cs typeface="Segoe UI Symbol"/>
              </a:rPr>
              <a:t>bench</a:t>
            </a:r>
            <a:endParaRPr sz="1500" dirty="0">
              <a:latin typeface="Segoe UI Symbol"/>
              <a:cs typeface="Segoe UI Symbol"/>
            </a:endParaRPr>
          </a:p>
          <a:p>
            <a:pPr marL="12700" marR="166370">
              <a:lnSpc>
                <a:spcPct val="100000"/>
              </a:lnSpc>
              <a:spcBef>
                <a:spcPts val="1195"/>
              </a:spcBef>
            </a:pPr>
            <a:r>
              <a:rPr sz="1500" spc="70" dirty="0">
                <a:solidFill>
                  <a:srgbClr val="D3ECE3"/>
                </a:solidFill>
                <a:latin typeface="Segoe UI Symbol"/>
                <a:cs typeface="Segoe UI Symbol"/>
              </a:rPr>
              <a:t>LoRa</a:t>
            </a:r>
            <a:r>
              <a:rPr sz="15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link,</a:t>
            </a:r>
            <a:r>
              <a:rPr sz="15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500" spc="10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55" dirty="0">
                <a:solidFill>
                  <a:srgbClr val="D3ECE3"/>
                </a:solidFill>
                <a:latin typeface="Segoe UI Symbol"/>
                <a:cs typeface="Segoe UI Symbol"/>
              </a:rPr>
              <a:t>readings,</a:t>
            </a:r>
            <a:r>
              <a:rPr sz="1500" spc="10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D3ECE3"/>
                </a:solidFill>
                <a:latin typeface="Segoe UI Symbol"/>
                <a:cs typeface="Segoe UI Symbol"/>
              </a:rPr>
              <a:t>flight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controller</a:t>
            </a:r>
            <a:r>
              <a:rPr sz="1500" spc="14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500" spc="1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500" spc="14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D3ECE3"/>
                </a:solidFill>
                <a:latin typeface="Segoe UI Symbol"/>
                <a:cs typeface="Segoe UI Symbol"/>
              </a:rPr>
              <a:t>simulator</a:t>
            </a:r>
            <a:endParaRPr sz="1500" dirty="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1500" spc="100" dirty="0">
                <a:solidFill>
                  <a:srgbClr val="D3ECE3"/>
                </a:solidFill>
                <a:latin typeface="Segoe UI Symbol"/>
                <a:cs typeface="Segoe UI Symbol"/>
              </a:rPr>
              <a:t>Chassis</a:t>
            </a:r>
            <a:r>
              <a:rPr sz="1500" spc="11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built</a:t>
            </a:r>
            <a:r>
              <a:rPr sz="1500" spc="114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5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driving</a:t>
            </a:r>
            <a:endParaRPr sz="150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spc="55" dirty="0">
                <a:solidFill>
                  <a:srgbClr val="D3ECE3"/>
                </a:solidFill>
                <a:latin typeface="Segoe UI Symbol"/>
                <a:cs typeface="Segoe UI Symbol"/>
              </a:rPr>
              <a:t>Solar</a:t>
            </a:r>
            <a:r>
              <a:rPr sz="150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charging</a:t>
            </a:r>
            <a:r>
              <a:rPr sz="1500" spc="120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on</a:t>
            </a:r>
            <a:r>
              <a:rPr sz="1500" spc="12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500" spc="135" dirty="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40" dirty="0">
                <a:solidFill>
                  <a:srgbClr val="D3ECE3"/>
                </a:solidFill>
                <a:latin typeface="Segoe UI Symbol"/>
                <a:cs typeface="Segoe UI Symbol"/>
              </a:rPr>
              <a:t>bench</a:t>
            </a:r>
            <a:endParaRPr sz="1500" dirty="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04640" y="1462316"/>
            <a:ext cx="3886200" cy="4572635"/>
            <a:chOff x="4004640" y="1462316"/>
            <a:chExt cx="3886200" cy="4572635"/>
          </a:xfrm>
        </p:grpSpPr>
        <p:sp>
          <p:nvSpPr>
            <p:cNvPr id="17" name="object 17"/>
            <p:cNvSpPr/>
            <p:nvPr/>
          </p:nvSpPr>
          <p:spPr>
            <a:xfrm>
              <a:off x="4004640" y="3565804"/>
              <a:ext cx="219710" cy="365760"/>
            </a:xfrm>
            <a:custGeom>
              <a:avLst/>
              <a:gdLst/>
              <a:ahLst/>
              <a:cxnLst/>
              <a:rect l="l" t="t" r="r" b="b"/>
              <a:pathLst>
                <a:path w="219710" h="365760">
                  <a:moveTo>
                    <a:pt x="109804" y="0"/>
                  </a:moveTo>
                  <a:lnTo>
                    <a:pt x="0" y="0"/>
                  </a:lnTo>
                  <a:lnTo>
                    <a:pt x="109804" y="182880"/>
                  </a:lnTo>
                  <a:lnTo>
                    <a:pt x="0" y="365760"/>
                  </a:lnTo>
                  <a:lnTo>
                    <a:pt x="109804" y="365760"/>
                  </a:lnTo>
                  <a:lnTo>
                    <a:pt x="219595" y="182880"/>
                  </a:lnTo>
                  <a:lnTo>
                    <a:pt x="109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6955" y="1462316"/>
              <a:ext cx="3594100" cy="4572635"/>
            </a:xfrm>
            <a:custGeom>
              <a:avLst/>
              <a:gdLst/>
              <a:ahLst/>
              <a:cxnLst/>
              <a:rect l="l" t="t" r="r" b="b"/>
              <a:pathLst>
                <a:path w="3594100" h="4572635">
                  <a:moveTo>
                    <a:pt x="287997" y="0"/>
                  </a:moveTo>
                  <a:lnTo>
                    <a:pt x="213439" y="9810"/>
                  </a:lnTo>
                  <a:lnTo>
                    <a:pt x="144005" y="38519"/>
                  </a:lnTo>
                  <a:lnTo>
                    <a:pt x="84559" y="84380"/>
                  </a:lnTo>
                  <a:lnTo>
                    <a:pt x="38887" y="144005"/>
                  </a:lnTo>
                  <a:lnTo>
                    <a:pt x="10174" y="213261"/>
                  </a:lnTo>
                  <a:lnTo>
                    <a:pt x="368" y="287642"/>
                  </a:lnTo>
                  <a:lnTo>
                    <a:pt x="0" y="4284726"/>
                  </a:lnTo>
                  <a:lnTo>
                    <a:pt x="2464" y="4322303"/>
                  </a:lnTo>
                  <a:lnTo>
                    <a:pt x="2475" y="4322464"/>
                  </a:lnTo>
                  <a:lnTo>
                    <a:pt x="21802" y="4394629"/>
                  </a:lnTo>
                  <a:lnTo>
                    <a:pt x="59610" y="4459977"/>
                  </a:lnTo>
                  <a:lnTo>
                    <a:pt x="112590" y="4512913"/>
                  </a:lnTo>
                  <a:lnTo>
                    <a:pt x="177739" y="4550497"/>
                  </a:lnTo>
                  <a:lnTo>
                    <a:pt x="250064" y="4569892"/>
                  </a:lnTo>
                  <a:lnTo>
                    <a:pt x="287642" y="4572368"/>
                  </a:lnTo>
                  <a:lnTo>
                    <a:pt x="3306241" y="4572368"/>
                  </a:lnTo>
                  <a:lnTo>
                    <a:pt x="3380806" y="4562557"/>
                  </a:lnTo>
                  <a:lnTo>
                    <a:pt x="3450247" y="4533849"/>
                  </a:lnTo>
                  <a:lnTo>
                    <a:pt x="3509692" y="4487987"/>
                  </a:lnTo>
                  <a:lnTo>
                    <a:pt x="3555365" y="4428363"/>
                  </a:lnTo>
                  <a:lnTo>
                    <a:pt x="3571913" y="4394830"/>
                  </a:lnTo>
                  <a:lnTo>
                    <a:pt x="3572013" y="4394629"/>
                  </a:lnTo>
                  <a:lnTo>
                    <a:pt x="3591376" y="4322464"/>
                  </a:lnTo>
                  <a:lnTo>
                    <a:pt x="3593884" y="4284726"/>
                  </a:lnTo>
                  <a:lnTo>
                    <a:pt x="3593860" y="287642"/>
                  </a:lnTo>
                  <a:lnTo>
                    <a:pt x="3584073" y="213439"/>
                  </a:lnTo>
                  <a:lnTo>
                    <a:pt x="3555365" y="144005"/>
                  </a:lnTo>
                  <a:lnTo>
                    <a:pt x="3509508" y="84559"/>
                  </a:lnTo>
                  <a:lnTo>
                    <a:pt x="3449878" y="38887"/>
                  </a:lnTo>
                  <a:lnTo>
                    <a:pt x="3380627" y="10174"/>
                  </a:lnTo>
                  <a:lnTo>
                    <a:pt x="3306241" y="36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1644" y="169128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80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79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59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39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80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60" y="731519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40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39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20" y="365759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79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40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layers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47678" y="1866963"/>
              <a:ext cx="380161" cy="38016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427979" y="1785137"/>
            <a:ext cx="2085339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FFFFFF"/>
                </a:solidFill>
                <a:latin typeface="Aptos Black"/>
                <a:cs typeface="Aptos Black"/>
              </a:rPr>
              <a:t>Capstone</a:t>
            </a:r>
            <a:r>
              <a:rPr sz="1700" b="1" spc="5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 spc="-10">
                <a:solidFill>
                  <a:srgbClr val="FFFFFF"/>
                </a:solidFill>
                <a:latin typeface="Aptos Black"/>
                <a:cs typeface="Aptos Black"/>
              </a:rPr>
              <a:t>II</a:t>
            </a:r>
            <a:r>
              <a:rPr sz="1700" b="1" spc="6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 spc="50">
                <a:solidFill>
                  <a:srgbClr val="FFFFFF"/>
                </a:solidFill>
                <a:latin typeface="Aptos Black"/>
                <a:cs typeface="Aptos Black"/>
              </a:rPr>
              <a:t>·</a:t>
            </a:r>
            <a:r>
              <a:rPr sz="1700" b="1" spc="6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1700" b="1" spc="-10">
                <a:solidFill>
                  <a:srgbClr val="FFFFFF"/>
                </a:solidFill>
                <a:latin typeface="Aptos Black"/>
                <a:cs typeface="Aptos Black"/>
              </a:rPr>
              <a:t>Spring </a:t>
            </a:r>
            <a:r>
              <a:rPr sz="1700" b="1" spc="55">
                <a:solidFill>
                  <a:srgbClr val="FFFFFF"/>
                </a:solidFill>
                <a:latin typeface="Aptos Black"/>
                <a:cs typeface="Aptos Black"/>
              </a:rPr>
              <a:t>2027</a:t>
            </a:r>
            <a:endParaRPr sz="1700">
              <a:latin typeface="Aptos Black"/>
              <a:cs typeface="Aptos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4664" y="265381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04664" y="3263303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04664" y="3872788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04664" y="4482261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D3ECE3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05895" y="2684424"/>
            <a:ext cx="282638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8440">
              <a:lnSpc>
                <a:spcPct val="100000"/>
              </a:lnSpc>
              <a:spcBef>
                <a:spcPts val="100"/>
              </a:spcBef>
            </a:pPr>
            <a:r>
              <a:rPr sz="1500" spc="10">
                <a:solidFill>
                  <a:srgbClr val="D3ECE3"/>
                </a:solidFill>
                <a:latin typeface="Segoe UI Symbol"/>
                <a:cs typeface="Segoe UI Symbol"/>
              </a:rPr>
              <a:t>Integrate</a:t>
            </a:r>
            <a:r>
              <a:rPr sz="1500" spc="1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10">
                <a:solidFill>
                  <a:srgbClr val="D3ECE3"/>
                </a:solidFill>
                <a:latin typeface="Segoe UI Symbol"/>
                <a:cs typeface="Segoe UI Symbol"/>
              </a:rPr>
              <a:t>everything</a:t>
            </a:r>
            <a:r>
              <a:rPr sz="1500" spc="1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10">
                <a:solidFill>
                  <a:srgbClr val="D3ECE3"/>
                </a:solidFill>
                <a:latin typeface="Segoe UI Symbol"/>
                <a:cs typeface="Segoe UI Symbol"/>
              </a:rPr>
              <a:t>into</a:t>
            </a:r>
            <a:r>
              <a:rPr sz="1500" spc="1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-25">
                <a:solidFill>
                  <a:srgbClr val="D3ECE3"/>
                </a:solidFill>
                <a:latin typeface="Segoe UI Symbol"/>
                <a:cs typeface="Segoe UI Symbol"/>
              </a:rPr>
              <a:t>one </a:t>
            </a:r>
            <a:r>
              <a:rPr sz="1500" spc="-10">
                <a:solidFill>
                  <a:srgbClr val="D3ECE3"/>
                </a:solidFill>
                <a:latin typeface="Segoe UI Symbol"/>
                <a:cs typeface="Segoe UI Symbol"/>
              </a:rPr>
              <a:t>robot</a:t>
            </a:r>
            <a:endParaRPr sz="1500">
              <a:latin typeface="Segoe UI Symbol"/>
              <a:cs typeface="Segoe UI Symbol"/>
            </a:endParaRPr>
          </a:p>
          <a:p>
            <a:pPr marL="12700" marR="639445">
              <a:lnSpc>
                <a:spcPct val="100000"/>
              </a:lnSpc>
              <a:spcBef>
                <a:spcPts val="1195"/>
              </a:spcBef>
            </a:pP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Autonomous</a:t>
            </a:r>
            <a:r>
              <a:rPr sz="1500" spc="459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multi-</a:t>
            </a:r>
            <a:r>
              <a:rPr sz="1500" spc="-20">
                <a:solidFill>
                  <a:srgbClr val="D3ECE3"/>
                </a:solidFill>
                <a:latin typeface="Segoe UI Symbol"/>
                <a:cs typeface="Segoe UI Symbol"/>
              </a:rPr>
              <a:t>point </a:t>
            </a:r>
            <a:r>
              <a:rPr sz="1500" spc="80">
                <a:solidFill>
                  <a:srgbClr val="D3ECE3"/>
                </a:solidFill>
                <a:latin typeface="Segoe UI Symbol"/>
                <a:cs typeface="Segoe UI Symbol"/>
              </a:rPr>
              <a:t>surveys</a:t>
            </a:r>
            <a:endParaRPr sz="15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1500" spc="50">
                <a:solidFill>
                  <a:srgbClr val="D3ECE3"/>
                </a:solidFill>
                <a:latin typeface="Segoe UI Symbol"/>
                <a:cs typeface="Segoe UI Symbol"/>
              </a:rPr>
              <a:t>Link-</a:t>
            </a:r>
            <a:r>
              <a:rPr sz="1500" spc="80">
                <a:solidFill>
                  <a:srgbClr val="D3ECE3"/>
                </a:solidFill>
                <a:latin typeface="Segoe UI Symbol"/>
                <a:cs typeface="Segoe UI Symbol"/>
              </a:rPr>
              <a:t>loss,</a:t>
            </a:r>
            <a:r>
              <a:rPr sz="15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75">
                <a:solidFill>
                  <a:srgbClr val="D3ECE3"/>
                </a:solidFill>
                <a:latin typeface="Segoe UI Symbol"/>
                <a:cs typeface="Segoe UI Symbol"/>
              </a:rPr>
              <a:t>e-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stop</a:t>
            </a:r>
            <a:r>
              <a:rPr sz="15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5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50">
                <a:solidFill>
                  <a:srgbClr val="D3ECE3"/>
                </a:solidFill>
                <a:latin typeface="Segoe UI Symbol"/>
                <a:cs typeface="Segoe UI Symbol"/>
              </a:rPr>
              <a:t>geofence </a:t>
            </a:r>
            <a:r>
              <a:rPr sz="1500" spc="45">
                <a:solidFill>
                  <a:srgbClr val="D3ECE3"/>
                </a:solidFill>
                <a:latin typeface="Segoe UI Symbol"/>
                <a:cs typeface="Segoe UI Symbol"/>
              </a:rPr>
              <a:t>tests</a:t>
            </a:r>
            <a:endParaRPr sz="15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Field</a:t>
            </a:r>
            <a:r>
              <a:rPr sz="1500" spc="1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trials</a:t>
            </a:r>
            <a:r>
              <a:rPr sz="1500" spc="20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500" spc="2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>
                <a:solidFill>
                  <a:srgbClr val="D3ECE3"/>
                </a:solidFill>
                <a:latin typeface="Segoe UI Symbol"/>
                <a:cs typeface="Segoe UI Symbol"/>
              </a:rPr>
              <a:t>final</a:t>
            </a:r>
            <a:r>
              <a:rPr sz="1500" spc="20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500" spc="-20">
                <a:solidFill>
                  <a:srgbClr val="D3ECE3"/>
                </a:solidFill>
                <a:latin typeface="Segoe UI Symbol"/>
                <a:cs typeface="Segoe UI Symbol"/>
              </a:rPr>
              <a:t>demo</a:t>
            </a:r>
            <a:endParaRPr sz="1500">
              <a:latin typeface="Segoe UI Symbol"/>
              <a:cs typeface="Segoe UI Symbo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63916" y="1462316"/>
            <a:ext cx="3886200" cy="4572635"/>
            <a:chOff x="7963916" y="1462316"/>
            <a:chExt cx="3886200" cy="4572635"/>
          </a:xfrm>
        </p:grpSpPr>
        <p:sp>
          <p:nvSpPr>
            <p:cNvPr id="28" name="object 28"/>
            <p:cNvSpPr/>
            <p:nvPr/>
          </p:nvSpPr>
          <p:spPr>
            <a:xfrm>
              <a:off x="7963916" y="3565804"/>
              <a:ext cx="219710" cy="365760"/>
            </a:xfrm>
            <a:custGeom>
              <a:avLst/>
              <a:gdLst/>
              <a:ahLst/>
              <a:cxnLst/>
              <a:rect l="l" t="t" r="r" b="b"/>
              <a:pathLst>
                <a:path w="219709" h="365760">
                  <a:moveTo>
                    <a:pt x="109804" y="0"/>
                  </a:moveTo>
                  <a:lnTo>
                    <a:pt x="0" y="0"/>
                  </a:lnTo>
                  <a:lnTo>
                    <a:pt x="109804" y="182880"/>
                  </a:lnTo>
                  <a:lnTo>
                    <a:pt x="0" y="365760"/>
                  </a:lnTo>
                  <a:lnTo>
                    <a:pt x="109804" y="365760"/>
                  </a:lnTo>
                  <a:lnTo>
                    <a:pt x="219608" y="182880"/>
                  </a:lnTo>
                  <a:lnTo>
                    <a:pt x="109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56244" y="1462316"/>
              <a:ext cx="3594100" cy="4572635"/>
            </a:xfrm>
            <a:custGeom>
              <a:avLst/>
              <a:gdLst/>
              <a:ahLst/>
              <a:cxnLst/>
              <a:rect l="l" t="t" r="r" b="b"/>
              <a:pathLst>
                <a:path w="3594100" h="4572635">
                  <a:moveTo>
                    <a:pt x="287997" y="0"/>
                  </a:moveTo>
                  <a:lnTo>
                    <a:pt x="213428" y="9810"/>
                  </a:lnTo>
                  <a:lnTo>
                    <a:pt x="143992" y="38519"/>
                  </a:lnTo>
                  <a:lnTo>
                    <a:pt x="84547" y="84380"/>
                  </a:lnTo>
                  <a:lnTo>
                    <a:pt x="38874" y="144005"/>
                  </a:lnTo>
                  <a:lnTo>
                    <a:pt x="10166" y="213261"/>
                  </a:lnTo>
                  <a:lnTo>
                    <a:pt x="355" y="287642"/>
                  </a:lnTo>
                  <a:lnTo>
                    <a:pt x="0" y="4284726"/>
                  </a:lnTo>
                  <a:lnTo>
                    <a:pt x="2462" y="4322303"/>
                  </a:lnTo>
                  <a:lnTo>
                    <a:pt x="21796" y="4394629"/>
                  </a:lnTo>
                  <a:lnTo>
                    <a:pt x="59603" y="4459977"/>
                  </a:lnTo>
                  <a:lnTo>
                    <a:pt x="112578" y="4512913"/>
                  </a:lnTo>
                  <a:lnTo>
                    <a:pt x="177726" y="4550497"/>
                  </a:lnTo>
                  <a:lnTo>
                    <a:pt x="250052" y="4569892"/>
                  </a:lnTo>
                  <a:lnTo>
                    <a:pt x="287629" y="4572368"/>
                  </a:lnTo>
                  <a:lnTo>
                    <a:pt x="3306229" y="4572368"/>
                  </a:lnTo>
                  <a:lnTo>
                    <a:pt x="3380798" y="4562557"/>
                  </a:lnTo>
                  <a:lnTo>
                    <a:pt x="3450234" y="4533849"/>
                  </a:lnTo>
                  <a:lnTo>
                    <a:pt x="3509679" y="4487987"/>
                  </a:lnTo>
                  <a:lnTo>
                    <a:pt x="3555352" y="4428363"/>
                  </a:lnTo>
                  <a:lnTo>
                    <a:pt x="3571901" y="4394830"/>
                  </a:lnTo>
                  <a:lnTo>
                    <a:pt x="3572000" y="4394629"/>
                  </a:lnTo>
                  <a:lnTo>
                    <a:pt x="3591364" y="4322464"/>
                  </a:lnTo>
                  <a:lnTo>
                    <a:pt x="3593871" y="4284726"/>
                  </a:lnTo>
                  <a:lnTo>
                    <a:pt x="3593848" y="287642"/>
                  </a:lnTo>
                  <a:lnTo>
                    <a:pt x="3584060" y="213439"/>
                  </a:lnTo>
                  <a:lnTo>
                    <a:pt x="3555352" y="144005"/>
                  </a:lnTo>
                  <a:lnTo>
                    <a:pt x="3509502" y="84559"/>
                  </a:lnTo>
                  <a:lnTo>
                    <a:pt x="3449878" y="38887"/>
                  </a:lnTo>
                  <a:lnTo>
                    <a:pt x="3380620" y="10174"/>
                  </a:lnTo>
                  <a:lnTo>
                    <a:pt x="3306229" y="36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A66B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30920" y="169128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79" y="48958"/>
                  </a:lnTo>
                  <a:lnTo>
                    <a:pt x="143073" y="75604"/>
                  </a:lnTo>
                  <a:lnTo>
                    <a:pt x="107146" y="107141"/>
                  </a:lnTo>
                  <a:lnTo>
                    <a:pt x="75605" y="143068"/>
                  </a:lnTo>
                  <a:lnTo>
                    <a:pt x="48958" y="182879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59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39"/>
                  </a:lnTo>
                  <a:lnTo>
                    <a:pt x="75605" y="588446"/>
                  </a:lnTo>
                  <a:lnTo>
                    <a:pt x="107146" y="624373"/>
                  </a:lnTo>
                  <a:lnTo>
                    <a:pt x="143073" y="655914"/>
                  </a:lnTo>
                  <a:lnTo>
                    <a:pt x="182879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59" y="731519"/>
                  </a:lnTo>
                  <a:lnTo>
                    <a:pt x="413574" y="728374"/>
                  </a:lnTo>
                  <a:lnTo>
                    <a:pt x="460443" y="719051"/>
                  </a:lnTo>
                  <a:lnTo>
                    <a:pt x="505689" y="703723"/>
                  </a:lnTo>
                  <a:lnTo>
                    <a:pt x="548640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39"/>
                  </a:lnTo>
                  <a:lnTo>
                    <a:pt x="703729" y="505682"/>
                  </a:lnTo>
                  <a:lnTo>
                    <a:pt x="719056" y="460433"/>
                  </a:lnTo>
                  <a:lnTo>
                    <a:pt x="728376" y="413567"/>
                  </a:lnTo>
                  <a:lnTo>
                    <a:pt x="731520" y="365759"/>
                  </a:lnTo>
                  <a:lnTo>
                    <a:pt x="728376" y="317945"/>
                  </a:lnTo>
                  <a:lnTo>
                    <a:pt x="719056" y="271076"/>
                  </a:lnTo>
                  <a:lnTo>
                    <a:pt x="703729" y="225830"/>
                  </a:lnTo>
                  <a:lnTo>
                    <a:pt x="682561" y="182879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40" y="48958"/>
                  </a:lnTo>
                  <a:lnTo>
                    <a:pt x="505689" y="27790"/>
                  </a:lnTo>
                  <a:lnTo>
                    <a:pt x="460443" y="12463"/>
                  </a:lnTo>
                  <a:lnTo>
                    <a:pt x="413574" y="314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FAE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seedling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6955" y="1866963"/>
              <a:ext cx="380161" cy="38016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387255" y="1914740"/>
            <a:ext cx="18910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ptos Black"/>
                <a:cs typeface="Aptos Black"/>
              </a:rPr>
              <a:t>Beyond</a:t>
            </a:r>
            <a:endParaRPr sz="1700" dirty="0">
              <a:latin typeface="Aptos Black"/>
              <a:cs typeface="Aptos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3940" y="2653817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FAEAC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3940" y="3263303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>
                <a:solidFill>
                  <a:srgbClr val="FAEACF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88858" y="3928534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AEACF"/>
                </a:solidFill>
                <a:latin typeface="Arial"/>
                <a:cs typeface="Arial"/>
              </a:rPr>
              <a:t>•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63940" y="4520740"/>
            <a:ext cx="933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AEACF"/>
                </a:solidFill>
                <a:latin typeface="Arial"/>
                <a:cs typeface="Arial"/>
              </a:rPr>
              <a:t>•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65184" y="2684424"/>
            <a:ext cx="2741930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214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Automatic</a:t>
            </a:r>
            <a:r>
              <a:rPr sz="1500" spc="16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45" dirty="0">
                <a:solidFill>
                  <a:srgbClr val="FAEACF"/>
                </a:solidFill>
                <a:latin typeface="Segoe UI Symbol"/>
                <a:cs typeface="Segoe UI Symbol"/>
              </a:rPr>
              <a:t>docking</a:t>
            </a:r>
            <a:r>
              <a:rPr sz="1500" spc="16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FAEACF"/>
                </a:solidFill>
                <a:latin typeface="Segoe UI Symbol"/>
                <a:cs typeface="Segoe UI Symbol"/>
              </a:rPr>
              <a:t>and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charging</a:t>
            </a:r>
            <a:r>
              <a:rPr sz="1500" spc="35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FAEACF"/>
                </a:solidFill>
                <a:latin typeface="Segoe UI Symbol"/>
                <a:cs typeface="Segoe UI Symbol"/>
              </a:rPr>
              <a:t>station</a:t>
            </a:r>
            <a:endParaRPr sz="1500" dirty="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Outrigger</a:t>
            </a:r>
            <a:r>
              <a:rPr sz="1500" spc="8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60" dirty="0">
                <a:solidFill>
                  <a:srgbClr val="FAEACF"/>
                </a:solidFill>
                <a:latin typeface="Segoe UI Symbol"/>
                <a:cs typeface="Segoe UI Symbol"/>
              </a:rPr>
              <a:t>legs</a:t>
            </a:r>
            <a:r>
              <a:rPr sz="1500" spc="8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if</a:t>
            </a:r>
            <a:r>
              <a:rPr sz="1500" spc="7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lift</a:t>
            </a:r>
            <a:r>
              <a:rPr sz="1500" spc="7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55" dirty="0">
                <a:solidFill>
                  <a:srgbClr val="FAEACF"/>
                </a:solidFill>
                <a:latin typeface="Segoe UI Symbol"/>
                <a:cs typeface="Segoe UI Symbol"/>
              </a:rPr>
              <a:t>tests</a:t>
            </a:r>
            <a:r>
              <a:rPr sz="1500" spc="7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35" dirty="0">
                <a:solidFill>
                  <a:srgbClr val="FAEACF"/>
                </a:solidFill>
                <a:latin typeface="Segoe UI Symbol"/>
                <a:cs typeface="Segoe UI Symbol"/>
              </a:rPr>
              <a:t>need </a:t>
            </a:r>
            <a:r>
              <a:rPr sz="1500" spc="-20" dirty="0">
                <a:solidFill>
                  <a:srgbClr val="FAEACF"/>
                </a:solidFill>
                <a:latin typeface="Segoe UI Symbol"/>
                <a:cs typeface="Segoe UI Symbol"/>
              </a:rPr>
              <a:t>them</a:t>
            </a:r>
            <a:endParaRPr sz="1500" dirty="0">
              <a:latin typeface="Segoe UI Symbol"/>
              <a:cs typeface="Segoe UI Symbol"/>
            </a:endParaRPr>
          </a:p>
          <a:p>
            <a:pPr marL="12700" marR="110489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Nutrient</a:t>
            </a:r>
            <a:r>
              <a:rPr sz="1500" spc="85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80" dirty="0">
                <a:solidFill>
                  <a:srgbClr val="FAEACF"/>
                </a:solidFill>
                <a:latin typeface="Segoe UI Symbol"/>
                <a:cs typeface="Segoe UI Symbol"/>
              </a:rPr>
              <a:t>(NPK) </a:t>
            </a:r>
            <a:r>
              <a:rPr sz="1500" spc="60" dirty="0">
                <a:solidFill>
                  <a:srgbClr val="FAEACF"/>
                </a:solidFill>
                <a:latin typeface="Segoe UI Symbol"/>
                <a:cs typeface="Segoe UI Symbol"/>
              </a:rPr>
              <a:t>sensing</a:t>
            </a:r>
            <a:r>
              <a:rPr sz="1500" spc="8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and</a:t>
            </a:r>
            <a:r>
              <a:rPr sz="1500" spc="65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25" dirty="0">
                <a:solidFill>
                  <a:srgbClr val="FAEACF"/>
                </a:solidFill>
                <a:latin typeface="Segoe UI Symbol"/>
                <a:cs typeface="Segoe UI Symbol"/>
              </a:rPr>
              <a:t>a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field</a:t>
            </a:r>
            <a:r>
              <a:rPr sz="1500" spc="175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heat</a:t>
            </a:r>
            <a:r>
              <a:rPr sz="1500" spc="175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FAEACF"/>
                </a:solidFill>
                <a:latin typeface="Segoe UI Symbol"/>
                <a:cs typeface="Segoe UI Symbol"/>
              </a:rPr>
              <a:t>map</a:t>
            </a:r>
            <a:endParaRPr sz="150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spc="65" dirty="0">
                <a:solidFill>
                  <a:srgbClr val="FAEACF"/>
                </a:solidFill>
                <a:latin typeface="Segoe UI Symbol"/>
                <a:cs typeface="Segoe UI Symbol"/>
              </a:rPr>
              <a:t>Several</a:t>
            </a:r>
            <a:r>
              <a:rPr sz="1500" spc="114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robots</a:t>
            </a:r>
            <a:r>
              <a:rPr sz="1500" spc="12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FAEACF"/>
                </a:solidFill>
                <a:latin typeface="Segoe UI Symbol"/>
                <a:cs typeface="Segoe UI Symbol"/>
              </a:rPr>
              <a:t>per</a:t>
            </a:r>
            <a:r>
              <a:rPr sz="1500" spc="120" dirty="0">
                <a:solidFill>
                  <a:srgbClr val="FAEACF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FAEACF"/>
                </a:solidFill>
                <a:latin typeface="Segoe UI Symbol"/>
                <a:cs typeface="Segoe UI Symbol"/>
              </a:rPr>
              <a:t>field</a:t>
            </a:r>
            <a:endParaRPr sz="15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4462145" cy="532765"/>
          </a:xfrm>
          <a:custGeom>
            <a:avLst/>
            <a:gdLst/>
            <a:ahLst/>
            <a:cxnLst/>
            <a:rect l="l" t="t" r="r" b="b"/>
            <a:pathLst>
              <a:path w="4462145" h="532765">
                <a:moveTo>
                  <a:pt x="4461840" y="0"/>
                </a:moveTo>
                <a:lnTo>
                  <a:pt x="0" y="0"/>
                </a:lnTo>
                <a:lnTo>
                  <a:pt x="0" y="532434"/>
                </a:lnTo>
                <a:lnTo>
                  <a:pt x="2230920" y="532434"/>
                </a:lnTo>
                <a:lnTo>
                  <a:pt x="4461840" y="532434"/>
                </a:lnTo>
                <a:lnTo>
                  <a:pt x="4461840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100"/>
              </a:spcBef>
            </a:pPr>
            <a:r>
              <a:rPr spc="120"/>
              <a:t>Broader</a:t>
            </a:r>
            <a:r>
              <a:rPr spc="50"/>
              <a:t> </a:t>
            </a:r>
            <a:r>
              <a:rPr spc="90"/>
              <a:t>Impact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8035" y="1416964"/>
            <a:ext cx="5619115" cy="2377440"/>
            <a:chOff x="338035" y="1416964"/>
            <a:chExt cx="5619115" cy="2377440"/>
          </a:xfrm>
        </p:grpSpPr>
        <p:sp>
          <p:nvSpPr>
            <p:cNvPr id="5" name="object 5"/>
            <p:cNvSpPr/>
            <p:nvPr/>
          </p:nvSpPr>
          <p:spPr>
            <a:xfrm>
              <a:off x="338035" y="1416964"/>
              <a:ext cx="5619115" cy="2377440"/>
            </a:xfrm>
            <a:custGeom>
              <a:avLst/>
              <a:gdLst/>
              <a:ahLst/>
              <a:cxnLst/>
              <a:rect l="l" t="t" r="r" b="b"/>
              <a:pathLst>
                <a:path w="5619115" h="2377440">
                  <a:moveTo>
                    <a:pt x="5380926" y="0"/>
                  </a:moveTo>
                  <a:lnTo>
                    <a:pt x="237604" y="0"/>
                  </a:lnTo>
                  <a:lnTo>
                    <a:pt x="205767" y="2062"/>
                  </a:lnTo>
                  <a:lnTo>
                    <a:pt x="206285" y="2062"/>
                  </a:lnTo>
                  <a:lnTo>
                    <a:pt x="176182" y="8007"/>
                  </a:lnTo>
                  <a:lnTo>
                    <a:pt x="118808" y="31673"/>
                  </a:lnTo>
                  <a:lnTo>
                    <a:pt x="69575" y="69429"/>
                  </a:lnTo>
                  <a:lnTo>
                    <a:pt x="31686" y="118795"/>
                  </a:lnTo>
                  <a:lnTo>
                    <a:pt x="8147" y="176036"/>
                  </a:lnTo>
                  <a:lnTo>
                    <a:pt x="0" y="237591"/>
                  </a:lnTo>
                  <a:lnTo>
                    <a:pt x="0" y="2139835"/>
                  </a:lnTo>
                  <a:lnTo>
                    <a:pt x="1995" y="2170595"/>
                  </a:lnTo>
                  <a:lnTo>
                    <a:pt x="2014" y="2170900"/>
                  </a:lnTo>
                  <a:lnTo>
                    <a:pt x="7969" y="2201035"/>
                  </a:lnTo>
                  <a:lnTo>
                    <a:pt x="8013" y="2201257"/>
                  </a:lnTo>
                  <a:lnTo>
                    <a:pt x="17857" y="2230396"/>
                  </a:lnTo>
                  <a:lnTo>
                    <a:pt x="48994" y="2284497"/>
                  </a:lnTo>
                  <a:lnTo>
                    <a:pt x="92792" y="2328395"/>
                  </a:lnTo>
                  <a:lnTo>
                    <a:pt x="146682" y="2359362"/>
                  </a:lnTo>
                  <a:lnTo>
                    <a:pt x="206487" y="2375375"/>
                  </a:lnTo>
                  <a:lnTo>
                    <a:pt x="237604" y="2377440"/>
                  </a:lnTo>
                  <a:lnTo>
                    <a:pt x="5381282" y="2377071"/>
                  </a:lnTo>
                  <a:lnTo>
                    <a:pt x="5442704" y="2369064"/>
                  </a:lnTo>
                  <a:lnTo>
                    <a:pt x="5500077" y="2345397"/>
                  </a:lnTo>
                  <a:lnTo>
                    <a:pt x="5549311" y="2307642"/>
                  </a:lnTo>
                  <a:lnTo>
                    <a:pt x="5587199" y="2258275"/>
                  </a:lnTo>
                  <a:lnTo>
                    <a:pt x="5600708" y="2230602"/>
                  </a:lnTo>
                  <a:lnTo>
                    <a:pt x="5600809" y="2230396"/>
                  </a:lnTo>
                  <a:lnTo>
                    <a:pt x="5616760" y="2170900"/>
                  </a:lnTo>
                  <a:lnTo>
                    <a:pt x="5618886" y="2139480"/>
                  </a:lnTo>
                  <a:lnTo>
                    <a:pt x="5618518" y="237591"/>
                  </a:lnTo>
                  <a:lnTo>
                    <a:pt x="5610510" y="176169"/>
                  </a:lnTo>
                  <a:lnTo>
                    <a:pt x="5586844" y="118795"/>
                  </a:lnTo>
                  <a:lnTo>
                    <a:pt x="5549088" y="69562"/>
                  </a:lnTo>
                  <a:lnTo>
                    <a:pt x="5499722" y="31673"/>
                  </a:lnTo>
                  <a:lnTo>
                    <a:pt x="5442481" y="8140"/>
                  </a:lnTo>
                  <a:lnTo>
                    <a:pt x="5412041" y="2062"/>
                  </a:lnTo>
                  <a:lnTo>
                    <a:pt x="538092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3795" y="210276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19" y="0"/>
                  </a:moveTo>
                  <a:lnTo>
                    <a:pt x="450241" y="2784"/>
                  </a:lnTo>
                  <a:lnTo>
                    <a:pt x="398325" y="11045"/>
                  </a:lnTo>
                  <a:lnTo>
                    <a:pt x="347583" y="24644"/>
                  </a:lnTo>
                  <a:lnTo>
                    <a:pt x="298431" y="43445"/>
                  </a:lnTo>
                  <a:lnTo>
                    <a:pt x="251282" y="67310"/>
                  </a:lnTo>
                  <a:lnTo>
                    <a:pt x="207097" y="96123"/>
                  </a:lnTo>
                  <a:lnTo>
                    <a:pt x="166314" y="129239"/>
                  </a:lnTo>
                  <a:lnTo>
                    <a:pt x="129229" y="166381"/>
                  </a:lnTo>
                  <a:lnTo>
                    <a:pt x="96133" y="207272"/>
                  </a:lnTo>
                  <a:lnTo>
                    <a:pt x="67322" y="251637"/>
                  </a:lnTo>
                  <a:lnTo>
                    <a:pt x="43552" y="298419"/>
                  </a:lnTo>
                  <a:lnTo>
                    <a:pt x="24653" y="347654"/>
                  </a:lnTo>
                  <a:lnTo>
                    <a:pt x="11049" y="398344"/>
                  </a:lnTo>
                  <a:lnTo>
                    <a:pt x="2785" y="450243"/>
                  </a:lnTo>
                  <a:lnTo>
                    <a:pt x="0" y="502920"/>
                  </a:lnTo>
                  <a:lnTo>
                    <a:pt x="2785" y="555598"/>
                  </a:lnTo>
                  <a:lnTo>
                    <a:pt x="11049" y="607514"/>
                  </a:lnTo>
                  <a:lnTo>
                    <a:pt x="24653" y="658256"/>
                  </a:lnTo>
                  <a:lnTo>
                    <a:pt x="43457" y="707408"/>
                  </a:lnTo>
                  <a:lnTo>
                    <a:pt x="67322" y="754557"/>
                  </a:lnTo>
                  <a:lnTo>
                    <a:pt x="96136" y="798742"/>
                  </a:lnTo>
                  <a:lnTo>
                    <a:pt x="129251" y="839525"/>
                  </a:lnTo>
                  <a:lnTo>
                    <a:pt x="166391" y="876610"/>
                  </a:lnTo>
                  <a:lnTo>
                    <a:pt x="207279" y="909706"/>
                  </a:lnTo>
                  <a:lnTo>
                    <a:pt x="251637" y="938517"/>
                  </a:lnTo>
                  <a:lnTo>
                    <a:pt x="298613" y="962382"/>
                  </a:lnTo>
                  <a:lnTo>
                    <a:pt x="347660" y="981186"/>
                  </a:lnTo>
                  <a:lnTo>
                    <a:pt x="398347" y="994790"/>
                  </a:lnTo>
                  <a:lnTo>
                    <a:pt x="450244" y="1003054"/>
                  </a:lnTo>
                  <a:lnTo>
                    <a:pt x="502919" y="1005839"/>
                  </a:lnTo>
                  <a:lnTo>
                    <a:pt x="555596" y="1003054"/>
                  </a:lnTo>
                  <a:lnTo>
                    <a:pt x="607495" y="994790"/>
                  </a:lnTo>
                  <a:lnTo>
                    <a:pt x="658185" y="981186"/>
                  </a:lnTo>
                  <a:lnTo>
                    <a:pt x="707231" y="962382"/>
                  </a:lnTo>
                  <a:lnTo>
                    <a:pt x="754202" y="938517"/>
                  </a:lnTo>
                  <a:lnTo>
                    <a:pt x="798567" y="909706"/>
                  </a:lnTo>
                  <a:lnTo>
                    <a:pt x="839458" y="876610"/>
                  </a:lnTo>
                  <a:lnTo>
                    <a:pt x="876600" y="839525"/>
                  </a:lnTo>
                  <a:lnTo>
                    <a:pt x="909716" y="798742"/>
                  </a:lnTo>
                  <a:lnTo>
                    <a:pt x="938530" y="754557"/>
                  </a:lnTo>
                  <a:lnTo>
                    <a:pt x="962394" y="707408"/>
                  </a:lnTo>
                  <a:lnTo>
                    <a:pt x="981195" y="658256"/>
                  </a:lnTo>
                  <a:lnTo>
                    <a:pt x="994794" y="607514"/>
                  </a:lnTo>
                  <a:lnTo>
                    <a:pt x="1003055" y="555598"/>
                  </a:lnTo>
                  <a:lnTo>
                    <a:pt x="1005839" y="502920"/>
                  </a:lnTo>
                  <a:lnTo>
                    <a:pt x="1003055" y="450243"/>
                  </a:lnTo>
                  <a:lnTo>
                    <a:pt x="994798" y="398344"/>
                  </a:lnTo>
                  <a:lnTo>
                    <a:pt x="981216" y="347654"/>
                  </a:lnTo>
                  <a:lnTo>
                    <a:pt x="962466" y="298608"/>
                  </a:lnTo>
                  <a:lnTo>
                    <a:pt x="938530" y="251269"/>
                  </a:lnTo>
                  <a:lnTo>
                    <a:pt x="909839" y="207272"/>
                  </a:lnTo>
                  <a:lnTo>
                    <a:pt x="909716" y="207084"/>
                  </a:lnTo>
                  <a:lnTo>
                    <a:pt x="876664" y="166381"/>
                  </a:lnTo>
                  <a:lnTo>
                    <a:pt x="839482" y="129239"/>
                  </a:lnTo>
                  <a:lnTo>
                    <a:pt x="798570" y="96123"/>
                  </a:lnTo>
                  <a:lnTo>
                    <a:pt x="754202" y="67310"/>
                  </a:lnTo>
                  <a:lnTo>
                    <a:pt x="707231" y="43445"/>
                  </a:lnTo>
                  <a:lnTo>
                    <a:pt x="658185" y="24644"/>
                  </a:lnTo>
                  <a:lnTo>
                    <a:pt x="607495" y="11045"/>
                  </a:lnTo>
                  <a:lnTo>
                    <a:pt x="555596" y="2784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wheat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5362" y="2344318"/>
              <a:ext cx="522719" cy="5227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71255" y="1775127"/>
            <a:ext cx="3559175" cy="15341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b="1">
                <a:solidFill>
                  <a:srgbClr val="FFFFFF"/>
                </a:solidFill>
                <a:latin typeface="Aptos Black"/>
                <a:cs typeface="Aptos Black"/>
              </a:rPr>
              <a:t>Farmers</a:t>
            </a:r>
            <a:r>
              <a:rPr sz="2000" b="1" spc="235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2000" b="1">
                <a:solidFill>
                  <a:srgbClr val="FFFFFF"/>
                </a:solidFill>
                <a:latin typeface="Aptos Black"/>
                <a:cs typeface="Aptos Black"/>
              </a:rPr>
              <a:t>and</a:t>
            </a:r>
            <a:r>
              <a:rPr sz="2000" b="1" spc="240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2000" b="1" spc="-20">
                <a:solidFill>
                  <a:srgbClr val="FFFFFF"/>
                </a:solidFill>
                <a:latin typeface="Aptos Black"/>
                <a:cs typeface="Aptos Black"/>
              </a:rPr>
              <a:t>labs</a:t>
            </a:r>
            <a:endParaRPr sz="20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sz="16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45">
                <a:solidFill>
                  <a:srgbClr val="D3ECE3"/>
                </a:solidFill>
                <a:latin typeface="Segoe UI Symbol"/>
                <a:cs typeface="Segoe UI Symbol"/>
              </a:rPr>
              <a:t>~$1,000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robot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puts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field-</a:t>
            </a:r>
            <a:r>
              <a:rPr sz="1600" spc="100">
                <a:solidFill>
                  <a:srgbClr val="D3ECE3"/>
                </a:solidFill>
                <a:latin typeface="Segoe UI Symbol"/>
                <a:cs typeface="Segoe UI Symbol"/>
              </a:rPr>
              <a:t>scale</a:t>
            </a:r>
            <a:r>
              <a:rPr sz="16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-20">
                <a:solidFill>
                  <a:srgbClr val="D3ECE3"/>
                </a:solidFill>
                <a:latin typeface="Segoe UI Symbol"/>
                <a:cs typeface="Segoe UI Symbol"/>
              </a:rPr>
              <a:t>soil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data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within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reach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of</a:t>
            </a:r>
            <a:r>
              <a:rPr sz="1600" spc="1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small</a:t>
            </a:r>
            <a:r>
              <a:rPr sz="1600" spc="1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farms</a:t>
            </a:r>
            <a:r>
              <a:rPr sz="1600" spc="11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25">
                <a:solidFill>
                  <a:srgbClr val="D3ECE3"/>
                </a:solidFill>
                <a:latin typeface="Segoe UI Symbol"/>
                <a:cs typeface="Segoe UI Symbol"/>
              </a:rPr>
              <a:t>and 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research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 labs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that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can't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0">
                <a:solidFill>
                  <a:srgbClr val="D3ECE3"/>
                </a:solidFill>
                <a:latin typeface="Segoe UI Symbol"/>
                <a:cs typeface="Segoe UI Symbol"/>
              </a:rPr>
              <a:t>pay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per-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acre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sampling</a:t>
            </a:r>
            <a:r>
              <a:rPr sz="1600" spc="3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95">
                <a:solidFill>
                  <a:srgbClr val="D3ECE3"/>
                </a:solidFill>
                <a:latin typeface="Segoe UI Symbol"/>
                <a:cs typeface="Segoe UI Symbol"/>
              </a:rPr>
              <a:t>services.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31242" y="1416964"/>
            <a:ext cx="5619115" cy="2377440"/>
            <a:chOff x="6231242" y="1416964"/>
            <a:chExt cx="5619115" cy="2377440"/>
          </a:xfrm>
        </p:grpSpPr>
        <p:sp>
          <p:nvSpPr>
            <p:cNvPr id="10" name="object 10"/>
            <p:cNvSpPr/>
            <p:nvPr/>
          </p:nvSpPr>
          <p:spPr>
            <a:xfrm>
              <a:off x="6231242" y="1416964"/>
              <a:ext cx="5619115" cy="2377440"/>
            </a:xfrm>
            <a:custGeom>
              <a:avLst/>
              <a:gdLst/>
              <a:ahLst/>
              <a:cxnLst/>
              <a:rect l="l" t="t" r="r" b="b"/>
              <a:pathLst>
                <a:path w="5619115" h="2377440">
                  <a:moveTo>
                    <a:pt x="5380913" y="0"/>
                  </a:moveTo>
                  <a:lnTo>
                    <a:pt x="237591" y="0"/>
                  </a:lnTo>
                  <a:lnTo>
                    <a:pt x="205754" y="2062"/>
                  </a:lnTo>
                  <a:lnTo>
                    <a:pt x="206273" y="2062"/>
                  </a:lnTo>
                  <a:lnTo>
                    <a:pt x="176169" y="8007"/>
                  </a:lnTo>
                  <a:lnTo>
                    <a:pt x="118795" y="31673"/>
                  </a:lnTo>
                  <a:lnTo>
                    <a:pt x="69567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0" y="2139835"/>
                  </a:lnTo>
                  <a:lnTo>
                    <a:pt x="7963" y="2201035"/>
                  </a:lnTo>
                  <a:lnTo>
                    <a:pt x="31673" y="2258631"/>
                  </a:lnTo>
                  <a:lnTo>
                    <a:pt x="69429" y="2307864"/>
                  </a:lnTo>
                  <a:lnTo>
                    <a:pt x="118795" y="2345753"/>
                  </a:lnTo>
                  <a:lnTo>
                    <a:pt x="176036" y="2369292"/>
                  </a:lnTo>
                  <a:lnTo>
                    <a:pt x="237591" y="2377440"/>
                  </a:lnTo>
                  <a:lnTo>
                    <a:pt x="5381282" y="2377071"/>
                  </a:lnTo>
                  <a:lnTo>
                    <a:pt x="5442704" y="2369064"/>
                  </a:lnTo>
                  <a:lnTo>
                    <a:pt x="5500077" y="2345397"/>
                  </a:lnTo>
                  <a:lnTo>
                    <a:pt x="5549311" y="2307642"/>
                  </a:lnTo>
                  <a:lnTo>
                    <a:pt x="5587199" y="2258275"/>
                  </a:lnTo>
                  <a:lnTo>
                    <a:pt x="5610657" y="2201257"/>
                  </a:lnTo>
                  <a:lnTo>
                    <a:pt x="5610733" y="2201035"/>
                  </a:lnTo>
                  <a:lnTo>
                    <a:pt x="5616749" y="2170900"/>
                  </a:lnTo>
                  <a:lnTo>
                    <a:pt x="5616810" y="2170595"/>
                  </a:lnTo>
                  <a:lnTo>
                    <a:pt x="5618850" y="2139835"/>
                  </a:lnTo>
                  <a:lnTo>
                    <a:pt x="5618518" y="237591"/>
                  </a:lnTo>
                  <a:lnTo>
                    <a:pt x="5610509" y="176169"/>
                  </a:lnTo>
                  <a:lnTo>
                    <a:pt x="5586831" y="118795"/>
                  </a:lnTo>
                  <a:lnTo>
                    <a:pt x="5549082" y="69562"/>
                  </a:lnTo>
                  <a:lnTo>
                    <a:pt x="5499722" y="31673"/>
                  </a:lnTo>
                  <a:lnTo>
                    <a:pt x="5442475" y="8140"/>
                  </a:lnTo>
                  <a:lnTo>
                    <a:pt x="5412030" y="2062"/>
                  </a:lnTo>
                  <a:lnTo>
                    <a:pt x="5380913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7002" y="210276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0243" y="2784"/>
                  </a:lnTo>
                  <a:lnTo>
                    <a:pt x="398344" y="11045"/>
                  </a:lnTo>
                  <a:lnTo>
                    <a:pt x="347654" y="24644"/>
                  </a:lnTo>
                  <a:lnTo>
                    <a:pt x="298608" y="43445"/>
                  </a:lnTo>
                  <a:lnTo>
                    <a:pt x="251637" y="67310"/>
                  </a:lnTo>
                  <a:lnTo>
                    <a:pt x="207273" y="96123"/>
                  </a:lnTo>
                  <a:lnTo>
                    <a:pt x="166382" y="129239"/>
                  </a:lnTo>
                  <a:lnTo>
                    <a:pt x="129242" y="166381"/>
                  </a:lnTo>
                  <a:lnTo>
                    <a:pt x="96130" y="207272"/>
                  </a:lnTo>
                  <a:lnTo>
                    <a:pt x="67322" y="251637"/>
                  </a:lnTo>
                  <a:lnTo>
                    <a:pt x="43548" y="298419"/>
                  </a:lnTo>
                  <a:lnTo>
                    <a:pt x="24647" y="347654"/>
                  </a:lnTo>
                  <a:lnTo>
                    <a:pt x="11045" y="398344"/>
                  </a:lnTo>
                  <a:lnTo>
                    <a:pt x="2784" y="450243"/>
                  </a:lnTo>
                  <a:lnTo>
                    <a:pt x="0" y="502920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7" y="658256"/>
                  </a:lnTo>
                  <a:lnTo>
                    <a:pt x="43452" y="707408"/>
                  </a:lnTo>
                  <a:lnTo>
                    <a:pt x="67322" y="754557"/>
                  </a:lnTo>
                  <a:lnTo>
                    <a:pt x="96130" y="798742"/>
                  </a:lnTo>
                  <a:lnTo>
                    <a:pt x="129242" y="839525"/>
                  </a:lnTo>
                  <a:lnTo>
                    <a:pt x="166382" y="876610"/>
                  </a:lnTo>
                  <a:lnTo>
                    <a:pt x="207273" y="909706"/>
                  </a:lnTo>
                  <a:lnTo>
                    <a:pt x="251637" y="938517"/>
                  </a:lnTo>
                  <a:lnTo>
                    <a:pt x="298608" y="962382"/>
                  </a:lnTo>
                  <a:lnTo>
                    <a:pt x="347654" y="981186"/>
                  </a:lnTo>
                  <a:lnTo>
                    <a:pt x="398344" y="994790"/>
                  </a:lnTo>
                  <a:lnTo>
                    <a:pt x="450243" y="1003054"/>
                  </a:lnTo>
                  <a:lnTo>
                    <a:pt x="502920" y="1005839"/>
                  </a:lnTo>
                  <a:lnTo>
                    <a:pt x="555598" y="1003054"/>
                  </a:lnTo>
                  <a:lnTo>
                    <a:pt x="607514" y="994790"/>
                  </a:lnTo>
                  <a:lnTo>
                    <a:pt x="658256" y="981186"/>
                  </a:lnTo>
                  <a:lnTo>
                    <a:pt x="707408" y="962382"/>
                  </a:lnTo>
                  <a:lnTo>
                    <a:pt x="754557" y="938517"/>
                  </a:lnTo>
                  <a:lnTo>
                    <a:pt x="798742" y="909706"/>
                  </a:lnTo>
                  <a:lnTo>
                    <a:pt x="839525" y="876610"/>
                  </a:lnTo>
                  <a:lnTo>
                    <a:pt x="876610" y="839525"/>
                  </a:lnTo>
                  <a:lnTo>
                    <a:pt x="909706" y="798742"/>
                  </a:lnTo>
                  <a:lnTo>
                    <a:pt x="938517" y="754557"/>
                  </a:lnTo>
                  <a:lnTo>
                    <a:pt x="962382" y="707408"/>
                  </a:lnTo>
                  <a:lnTo>
                    <a:pt x="981186" y="658256"/>
                  </a:lnTo>
                  <a:lnTo>
                    <a:pt x="994790" y="607514"/>
                  </a:lnTo>
                  <a:lnTo>
                    <a:pt x="1003054" y="555598"/>
                  </a:lnTo>
                  <a:lnTo>
                    <a:pt x="1005840" y="502920"/>
                  </a:lnTo>
                  <a:lnTo>
                    <a:pt x="1003054" y="450243"/>
                  </a:lnTo>
                  <a:lnTo>
                    <a:pt x="994794" y="398344"/>
                  </a:lnTo>
                  <a:lnTo>
                    <a:pt x="981208" y="347654"/>
                  </a:lnTo>
                  <a:lnTo>
                    <a:pt x="962454" y="298608"/>
                  </a:lnTo>
                  <a:lnTo>
                    <a:pt x="938517" y="251269"/>
                  </a:lnTo>
                  <a:lnTo>
                    <a:pt x="909829" y="207272"/>
                  </a:lnTo>
                  <a:lnTo>
                    <a:pt x="876675" y="166381"/>
                  </a:lnTo>
                  <a:lnTo>
                    <a:pt x="839548" y="129239"/>
                  </a:lnTo>
                  <a:lnTo>
                    <a:pt x="798746" y="96123"/>
                  </a:lnTo>
                  <a:lnTo>
                    <a:pt x="754557" y="67310"/>
                  </a:lnTo>
                  <a:lnTo>
                    <a:pt x="707408" y="43445"/>
                  </a:lnTo>
                  <a:lnTo>
                    <a:pt x="658256" y="24644"/>
                  </a:lnTo>
                  <a:lnTo>
                    <a:pt x="607514" y="11045"/>
                  </a:lnTo>
                  <a:lnTo>
                    <a:pt x="555598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leaf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8924" y="2344318"/>
              <a:ext cx="522719" cy="52271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864462" y="1775127"/>
            <a:ext cx="3547110" cy="15341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b="1" spc="-10">
                <a:solidFill>
                  <a:srgbClr val="FFFFFF"/>
                </a:solidFill>
                <a:latin typeface="Aptos Black"/>
                <a:cs typeface="Aptos Black"/>
              </a:rPr>
              <a:t>Environment</a:t>
            </a:r>
            <a:endParaRPr sz="20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 spc="45">
                <a:solidFill>
                  <a:srgbClr val="D3ECE3"/>
                </a:solidFill>
                <a:latin typeface="Segoe UI Symbol"/>
                <a:cs typeface="Segoe UI Symbol"/>
              </a:rPr>
              <a:t>Knowing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0">
                <a:solidFill>
                  <a:srgbClr val="D3ECE3"/>
                </a:solidFill>
                <a:latin typeface="Segoe UI Symbol"/>
                <a:cs typeface="Segoe UI Symbol"/>
              </a:rPr>
              <a:t>where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 needs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help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30">
                <a:solidFill>
                  <a:srgbClr val="D3ECE3"/>
                </a:solidFill>
                <a:latin typeface="Segoe UI Symbol"/>
                <a:cs typeface="Segoe UI Symbol"/>
              </a:rPr>
              <a:t>lets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farmers</a:t>
            </a:r>
            <a:r>
              <a:rPr sz="16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apply</a:t>
            </a:r>
            <a:r>
              <a:rPr sz="16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fertilizer</a:t>
            </a:r>
            <a:r>
              <a:rPr sz="16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6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lime</a:t>
            </a:r>
            <a:r>
              <a:rPr sz="16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-20">
                <a:solidFill>
                  <a:srgbClr val="D3ECE3"/>
                </a:solidFill>
                <a:latin typeface="Segoe UI Symbol"/>
                <a:cs typeface="Segoe UI Symbol"/>
              </a:rPr>
              <a:t>only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where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it's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needed,</a:t>
            </a:r>
            <a:r>
              <a:rPr sz="16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cutting</a:t>
            </a:r>
            <a:r>
              <a:rPr sz="16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85">
                <a:solidFill>
                  <a:srgbClr val="D3ECE3"/>
                </a:solidFill>
                <a:latin typeface="Segoe UI Symbol"/>
                <a:cs typeface="Segoe UI Symbol"/>
              </a:rPr>
              <a:t>waste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25">
                <a:solidFill>
                  <a:srgbClr val="D3ECE3"/>
                </a:solidFill>
                <a:latin typeface="Segoe UI Symbol"/>
                <a:cs typeface="Segoe UI Symbol"/>
              </a:rPr>
              <a:t>and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nutrient</a:t>
            </a:r>
            <a:r>
              <a:rPr sz="1600" spc="2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-10">
                <a:solidFill>
                  <a:srgbClr val="D3ECE3"/>
                </a:solidFill>
                <a:latin typeface="Segoe UI Symbol"/>
                <a:cs typeface="Segoe UI Symbol"/>
              </a:rPr>
              <a:t>runoff.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8035" y="4068724"/>
            <a:ext cx="5619115" cy="2377440"/>
            <a:chOff x="338035" y="4068724"/>
            <a:chExt cx="5619115" cy="2377440"/>
          </a:xfrm>
        </p:grpSpPr>
        <p:sp>
          <p:nvSpPr>
            <p:cNvPr id="15" name="object 15"/>
            <p:cNvSpPr/>
            <p:nvPr/>
          </p:nvSpPr>
          <p:spPr>
            <a:xfrm>
              <a:off x="338035" y="4068724"/>
              <a:ext cx="5619115" cy="2377440"/>
            </a:xfrm>
            <a:custGeom>
              <a:avLst/>
              <a:gdLst/>
              <a:ahLst/>
              <a:cxnLst/>
              <a:rect l="l" t="t" r="r" b="b"/>
              <a:pathLst>
                <a:path w="5619115" h="2377440">
                  <a:moveTo>
                    <a:pt x="5380926" y="0"/>
                  </a:moveTo>
                  <a:lnTo>
                    <a:pt x="237604" y="0"/>
                  </a:lnTo>
                  <a:lnTo>
                    <a:pt x="205767" y="2062"/>
                  </a:lnTo>
                  <a:lnTo>
                    <a:pt x="206285" y="2062"/>
                  </a:lnTo>
                  <a:lnTo>
                    <a:pt x="176182" y="8007"/>
                  </a:lnTo>
                  <a:lnTo>
                    <a:pt x="118808" y="31673"/>
                  </a:lnTo>
                  <a:lnTo>
                    <a:pt x="69575" y="69429"/>
                  </a:lnTo>
                  <a:lnTo>
                    <a:pt x="31686" y="118795"/>
                  </a:lnTo>
                  <a:lnTo>
                    <a:pt x="8147" y="176036"/>
                  </a:lnTo>
                  <a:lnTo>
                    <a:pt x="0" y="237591"/>
                  </a:lnTo>
                  <a:lnTo>
                    <a:pt x="0" y="2139835"/>
                  </a:lnTo>
                  <a:lnTo>
                    <a:pt x="1995" y="2170595"/>
                  </a:lnTo>
                  <a:lnTo>
                    <a:pt x="2014" y="2170900"/>
                  </a:lnTo>
                  <a:lnTo>
                    <a:pt x="7969" y="2201035"/>
                  </a:lnTo>
                  <a:lnTo>
                    <a:pt x="8013" y="2201257"/>
                  </a:lnTo>
                  <a:lnTo>
                    <a:pt x="17857" y="2230396"/>
                  </a:lnTo>
                  <a:lnTo>
                    <a:pt x="48994" y="2284497"/>
                  </a:lnTo>
                  <a:lnTo>
                    <a:pt x="92792" y="2328395"/>
                  </a:lnTo>
                  <a:lnTo>
                    <a:pt x="146682" y="2359362"/>
                  </a:lnTo>
                  <a:lnTo>
                    <a:pt x="206487" y="2375375"/>
                  </a:lnTo>
                  <a:lnTo>
                    <a:pt x="237604" y="2377440"/>
                  </a:lnTo>
                  <a:lnTo>
                    <a:pt x="5381282" y="2377071"/>
                  </a:lnTo>
                  <a:lnTo>
                    <a:pt x="5442704" y="2369064"/>
                  </a:lnTo>
                  <a:lnTo>
                    <a:pt x="5500077" y="2345397"/>
                  </a:lnTo>
                  <a:lnTo>
                    <a:pt x="5549311" y="2307642"/>
                  </a:lnTo>
                  <a:lnTo>
                    <a:pt x="5587199" y="2258275"/>
                  </a:lnTo>
                  <a:lnTo>
                    <a:pt x="5600708" y="2230602"/>
                  </a:lnTo>
                  <a:lnTo>
                    <a:pt x="5600809" y="2230396"/>
                  </a:lnTo>
                  <a:lnTo>
                    <a:pt x="5610664" y="2201257"/>
                  </a:lnTo>
                  <a:lnTo>
                    <a:pt x="5610739" y="2201035"/>
                  </a:lnTo>
                  <a:lnTo>
                    <a:pt x="5616760" y="2170900"/>
                  </a:lnTo>
                  <a:lnTo>
                    <a:pt x="5616821" y="2170595"/>
                  </a:lnTo>
                  <a:lnTo>
                    <a:pt x="5618862" y="2139835"/>
                  </a:lnTo>
                  <a:lnTo>
                    <a:pt x="5618886" y="2139480"/>
                  </a:lnTo>
                  <a:lnTo>
                    <a:pt x="5618518" y="237591"/>
                  </a:lnTo>
                  <a:lnTo>
                    <a:pt x="5610510" y="176169"/>
                  </a:lnTo>
                  <a:lnTo>
                    <a:pt x="5586844" y="118795"/>
                  </a:lnTo>
                  <a:lnTo>
                    <a:pt x="5549088" y="69562"/>
                  </a:lnTo>
                  <a:lnTo>
                    <a:pt x="5499722" y="31673"/>
                  </a:lnTo>
                  <a:lnTo>
                    <a:pt x="5442481" y="8140"/>
                  </a:lnTo>
                  <a:lnTo>
                    <a:pt x="5412041" y="2062"/>
                  </a:lnTo>
                  <a:lnTo>
                    <a:pt x="5380926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3795" y="4754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19" y="0"/>
                  </a:moveTo>
                  <a:lnTo>
                    <a:pt x="450241" y="2784"/>
                  </a:lnTo>
                  <a:lnTo>
                    <a:pt x="398325" y="11045"/>
                  </a:lnTo>
                  <a:lnTo>
                    <a:pt x="347583" y="24644"/>
                  </a:lnTo>
                  <a:lnTo>
                    <a:pt x="298431" y="43445"/>
                  </a:lnTo>
                  <a:lnTo>
                    <a:pt x="251282" y="67309"/>
                  </a:lnTo>
                  <a:lnTo>
                    <a:pt x="207097" y="96123"/>
                  </a:lnTo>
                  <a:lnTo>
                    <a:pt x="166314" y="129239"/>
                  </a:lnTo>
                  <a:lnTo>
                    <a:pt x="129229" y="166381"/>
                  </a:lnTo>
                  <a:lnTo>
                    <a:pt x="96133" y="207272"/>
                  </a:lnTo>
                  <a:lnTo>
                    <a:pt x="67322" y="251637"/>
                  </a:lnTo>
                  <a:lnTo>
                    <a:pt x="43457" y="298608"/>
                  </a:lnTo>
                  <a:lnTo>
                    <a:pt x="24653" y="347654"/>
                  </a:lnTo>
                  <a:lnTo>
                    <a:pt x="11049" y="398344"/>
                  </a:lnTo>
                  <a:lnTo>
                    <a:pt x="2785" y="450243"/>
                  </a:lnTo>
                  <a:lnTo>
                    <a:pt x="0" y="502919"/>
                  </a:lnTo>
                  <a:lnTo>
                    <a:pt x="2785" y="555598"/>
                  </a:lnTo>
                  <a:lnTo>
                    <a:pt x="11049" y="607514"/>
                  </a:lnTo>
                  <a:lnTo>
                    <a:pt x="24653" y="658256"/>
                  </a:lnTo>
                  <a:lnTo>
                    <a:pt x="43457" y="707408"/>
                  </a:lnTo>
                  <a:lnTo>
                    <a:pt x="67322" y="754557"/>
                  </a:lnTo>
                  <a:lnTo>
                    <a:pt x="96136" y="798742"/>
                  </a:lnTo>
                  <a:lnTo>
                    <a:pt x="129251" y="839525"/>
                  </a:lnTo>
                  <a:lnTo>
                    <a:pt x="166391" y="876610"/>
                  </a:lnTo>
                  <a:lnTo>
                    <a:pt x="207279" y="909706"/>
                  </a:lnTo>
                  <a:lnTo>
                    <a:pt x="251637" y="938517"/>
                  </a:lnTo>
                  <a:lnTo>
                    <a:pt x="298613" y="962382"/>
                  </a:lnTo>
                  <a:lnTo>
                    <a:pt x="347660" y="981186"/>
                  </a:lnTo>
                  <a:lnTo>
                    <a:pt x="398347" y="994790"/>
                  </a:lnTo>
                  <a:lnTo>
                    <a:pt x="450244" y="1003054"/>
                  </a:lnTo>
                  <a:lnTo>
                    <a:pt x="502919" y="1005839"/>
                  </a:lnTo>
                  <a:lnTo>
                    <a:pt x="555596" y="1003054"/>
                  </a:lnTo>
                  <a:lnTo>
                    <a:pt x="607495" y="994790"/>
                  </a:lnTo>
                  <a:lnTo>
                    <a:pt x="658185" y="981186"/>
                  </a:lnTo>
                  <a:lnTo>
                    <a:pt x="707231" y="962382"/>
                  </a:lnTo>
                  <a:lnTo>
                    <a:pt x="754202" y="938517"/>
                  </a:lnTo>
                  <a:lnTo>
                    <a:pt x="798567" y="909706"/>
                  </a:lnTo>
                  <a:lnTo>
                    <a:pt x="839458" y="876610"/>
                  </a:lnTo>
                  <a:lnTo>
                    <a:pt x="876600" y="839525"/>
                  </a:lnTo>
                  <a:lnTo>
                    <a:pt x="909716" y="798742"/>
                  </a:lnTo>
                  <a:lnTo>
                    <a:pt x="938530" y="754557"/>
                  </a:lnTo>
                  <a:lnTo>
                    <a:pt x="962394" y="707408"/>
                  </a:lnTo>
                  <a:lnTo>
                    <a:pt x="981195" y="658256"/>
                  </a:lnTo>
                  <a:lnTo>
                    <a:pt x="994794" y="607514"/>
                  </a:lnTo>
                  <a:lnTo>
                    <a:pt x="1003055" y="555598"/>
                  </a:lnTo>
                  <a:lnTo>
                    <a:pt x="1005839" y="502919"/>
                  </a:lnTo>
                  <a:lnTo>
                    <a:pt x="1003055" y="450243"/>
                  </a:lnTo>
                  <a:lnTo>
                    <a:pt x="994794" y="398344"/>
                  </a:lnTo>
                  <a:lnTo>
                    <a:pt x="981195" y="347654"/>
                  </a:lnTo>
                  <a:lnTo>
                    <a:pt x="962394" y="298608"/>
                  </a:lnTo>
                  <a:lnTo>
                    <a:pt x="938530" y="251637"/>
                  </a:lnTo>
                  <a:lnTo>
                    <a:pt x="909716" y="207272"/>
                  </a:lnTo>
                  <a:lnTo>
                    <a:pt x="876600" y="166381"/>
                  </a:lnTo>
                  <a:lnTo>
                    <a:pt x="839458" y="129239"/>
                  </a:lnTo>
                  <a:lnTo>
                    <a:pt x="798567" y="96123"/>
                  </a:lnTo>
                  <a:lnTo>
                    <a:pt x="754202" y="67309"/>
                  </a:lnTo>
                  <a:lnTo>
                    <a:pt x="707231" y="43445"/>
                  </a:lnTo>
                  <a:lnTo>
                    <a:pt x="658185" y="24644"/>
                  </a:lnTo>
                  <a:lnTo>
                    <a:pt x="607495" y="11045"/>
                  </a:lnTo>
                  <a:lnTo>
                    <a:pt x="555596" y="2784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earth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362" y="4996078"/>
              <a:ext cx="522719" cy="52271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971255" y="4426888"/>
            <a:ext cx="3552825" cy="15341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2000" b="1">
                <a:solidFill>
                  <a:srgbClr val="FFFFFF"/>
                </a:solidFill>
                <a:latin typeface="Aptos Black"/>
                <a:cs typeface="Aptos Black"/>
              </a:rPr>
              <a:t>Food</a:t>
            </a:r>
            <a:r>
              <a:rPr sz="2000" b="1" spc="229">
                <a:solidFill>
                  <a:srgbClr val="FFFFFF"/>
                </a:solidFill>
                <a:latin typeface="Aptos Black"/>
                <a:cs typeface="Aptos Black"/>
              </a:rPr>
              <a:t> </a:t>
            </a:r>
            <a:r>
              <a:rPr sz="2000" b="1" spc="-10">
                <a:solidFill>
                  <a:srgbClr val="FFFFFF"/>
                </a:solidFill>
                <a:latin typeface="Aptos Black"/>
                <a:cs typeface="Aptos Black"/>
              </a:rPr>
              <a:t>security</a:t>
            </a:r>
            <a:endParaRPr sz="2000">
              <a:latin typeface="Aptos Black"/>
              <a:cs typeface="Aptos Black"/>
            </a:endParaRPr>
          </a:p>
          <a:p>
            <a:pPr marL="12700" marR="5080" algn="just">
              <a:lnSpc>
                <a:spcPct val="100000"/>
              </a:lnSpc>
              <a:spcBef>
                <a:spcPts val="800"/>
              </a:spcBef>
            </a:pP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Better-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managed</a:t>
            </a:r>
            <a:r>
              <a:rPr sz="1600" spc="1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600" spc="1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supports</a:t>
            </a:r>
            <a:r>
              <a:rPr sz="1600" spc="1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-10">
                <a:solidFill>
                  <a:srgbClr val="D3ECE3"/>
                </a:solidFill>
                <a:latin typeface="Segoe UI Symbol"/>
                <a:cs typeface="Segoe UI Symbol"/>
              </a:rPr>
              <a:t>better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yields,</a:t>
            </a:r>
            <a:r>
              <a:rPr sz="1600" spc="1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part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of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feeding</a:t>
            </a:r>
            <a:r>
              <a:rPr sz="1600" spc="11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a</a:t>
            </a:r>
            <a:r>
              <a:rPr sz="1600" spc="1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world</a:t>
            </a:r>
            <a:r>
              <a:rPr sz="1600" spc="1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where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hunger</a:t>
            </a:r>
            <a:r>
              <a:rPr sz="1600" spc="1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still</a:t>
            </a:r>
            <a:r>
              <a:rPr sz="1600" spc="13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kills</a:t>
            </a:r>
            <a:r>
              <a:rPr sz="1600" spc="1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thousands</a:t>
            </a:r>
            <a:r>
              <a:rPr sz="1600" spc="13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80">
                <a:solidFill>
                  <a:srgbClr val="D3ECE3"/>
                </a:solidFill>
                <a:latin typeface="Segoe UI Symbol"/>
                <a:cs typeface="Segoe UI Symbol"/>
              </a:rPr>
              <a:t>every</a:t>
            </a:r>
            <a:r>
              <a:rPr sz="1600" spc="1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40">
                <a:solidFill>
                  <a:srgbClr val="D3ECE3"/>
                </a:solidFill>
                <a:latin typeface="Segoe UI Symbol"/>
                <a:cs typeface="Segoe UI Symbol"/>
              </a:rPr>
              <a:t>day </a:t>
            </a:r>
            <a:r>
              <a:rPr sz="1600" spc="-20">
                <a:solidFill>
                  <a:srgbClr val="D3ECE3"/>
                </a:solidFill>
                <a:latin typeface="Segoe UI Symbol"/>
                <a:cs typeface="Segoe UI Symbol"/>
              </a:rPr>
              <a:t>[1].</a:t>
            </a:r>
            <a:endParaRPr sz="160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31242" y="4068724"/>
            <a:ext cx="5619115" cy="2377440"/>
            <a:chOff x="6231242" y="4068724"/>
            <a:chExt cx="5619115" cy="2377440"/>
          </a:xfrm>
        </p:grpSpPr>
        <p:sp>
          <p:nvSpPr>
            <p:cNvPr id="20" name="object 20"/>
            <p:cNvSpPr/>
            <p:nvPr/>
          </p:nvSpPr>
          <p:spPr>
            <a:xfrm>
              <a:off x="6231242" y="4068724"/>
              <a:ext cx="5619115" cy="2377440"/>
            </a:xfrm>
            <a:custGeom>
              <a:avLst/>
              <a:gdLst/>
              <a:ahLst/>
              <a:cxnLst/>
              <a:rect l="l" t="t" r="r" b="b"/>
              <a:pathLst>
                <a:path w="5619115" h="2377440">
                  <a:moveTo>
                    <a:pt x="5380913" y="0"/>
                  </a:moveTo>
                  <a:lnTo>
                    <a:pt x="237591" y="0"/>
                  </a:lnTo>
                  <a:lnTo>
                    <a:pt x="205754" y="2062"/>
                  </a:lnTo>
                  <a:lnTo>
                    <a:pt x="206273" y="2062"/>
                  </a:lnTo>
                  <a:lnTo>
                    <a:pt x="176169" y="8007"/>
                  </a:lnTo>
                  <a:lnTo>
                    <a:pt x="118795" y="31673"/>
                  </a:lnTo>
                  <a:lnTo>
                    <a:pt x="69567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0" y="2139835"/>
                  </a:lnTo>
                  <a:lnTo>
                    <a:pt x="1993" y="2170595"/>
                  </a:lnTo>
                  <a:lnTo>
                    <a:pt x="2012" y="2170900"/>
                  </a:lnTo>
                  <a:lnTo>
                    <a:pt x="7963" y="2201035"/>
                  </a:lnTo>
                  <a:lnTo>
                    <a:pt x="8007" y="2201257"/>
                  </a:lnTo>
                  <a:lnTo>
                    <a:pt x="31673" y="2258631"/>
                  </a:lnTo>
                  <a:lnTo>
                    <a:pt x="69429" y="2307864"/>
                  </a:lnTo>
                  <a:lnTo>
                    <a:pt x="118795" y="2345753"/>
                  </a:lnTo>
                  <a:lnTo>
                    <a:pt x="176036" y="2369292"/>
                  </a:lnTo>
                  <a:lnTo>
                    <a:pt x="237591" y="2377440"/>
                  </a:lnTo>
                  <a:lnTo>
                    <a:pt x="5381282" y="2377071"/>
                  </a:lnTo>
                  <a:lnTo>
                    <a:pt x="5442704" y="2369064"/>
                  </a:lnTo>
                  <a:lnTo>
                    <a:pt x="5500077" y="2345397"/>
                  </a:lnTo>
                  <a:lnTo>
                    <a:pt x="5549311" y="2307642"/>
                  </a:lnTo>
                  <a:lnTo>
                    <a:pt x="5587199" y="2258275"/>
                  </a:lnTo>
                  <a:lnTo>
                    <a:pt x="5610657" y="2201257"/>
                  </a:lnTo>
                  <a:lnTo>
                    <a:pt x="5610733" y="2201035"/>
                  </a:lnTo>
                  <a:lnTo>
                    <a:pt x="5616749" y="2170900"/>
                  </a:lnTo>
                  <a:lnTo>
                    <a:pt x="5616810" y="2170595"/>
                  </a:lnTo>
                  <a:lnTo>
                    <a:pt x="5618850" y="2139835"/>
                  </a:lnTo>
                  <a:lnTo>
                    <a:pt x="5618518" y="237591"/>
                  </a:lnTo>
                  <a:lnTo>
                    <a:pt x="5610509" y="176169"/>
                  </a:lnTo>
                  <a:lnTo>
                    <a:pt x="5586831" y="118795"/>
                  </a:lnTo>
                  <a:lnTo>
                    <a:pt x="5549082" y="69562"/>
                  </a:lnTo>
                  <a:lnTo>
                    <a:pt x="5499722" y="31673"/>
                  </a:lnTo>
                  <a:lnTo>
                    <a:pt x="5442475" y="8140"/>
                  </a:lnTo>
                  <a:lnTo>
                    <a:pt x="5412030" y="2062"/>
                  </a:lnTo>
                  <a:lnTo>
                    <a:pt x="5380913" y="0"/>
                  </a:lnTo>
                  <a:close/>
                </a:path>
              </a:pathLst>
            </a:custGeom>
            <a:solidFill>
              <a:srgbClr val="3C8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97002" y="4754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0243" y="2784"/>
                  </a:lnTo>
                  <a:lnTo>
                    <a:pt x="398344" y="11045"/>
                  </a:lnTo>
                  <a:lnTo>
                    <a:pt x="347654" y="24644"/>
                  </a:lnTo>
                  <a:lnTo>
                    <a:pt x="298608" y="43445"/>
                  </a:lnTo>
                  <a:lnTo>
                    <a:pt x="251637" y="67309"/>
                  </a:lnTo>
                  <a:lnTo>
                    <a:pt x="207273" y="96123"/>
                  </a:lnTo>
                  <a:lnTo>
                    <a:pt x="166382" y="129239"/>
                  </a:lnTo>
                  <a:lnTo>
                    <a:pt x="129242" y="166381"/>
                  </a:lnTo>
                  <a:lnTo>
                    <a:pt x="96130" y="207272"/>
                  </a:lnTo>
                  <a:lnTo>
                    <a:pt x="67322" y="251637"/>
                  </a:lnTo>
                  <a:lnTo>
                    <a:pt x="43452" y="298608"/>
                  </a:lnTo>
                  <a:lnTo>
                    <a:pt x="24647" y="347654"/>
                  </a:lnTo>
                  <a:lnTo>
                    <a:pt x="11045" y="398344"/>
                  </a:lnTo>
                  <a:lnTo>
                    <a:pt x="2784" y="450243"/>
                  </a:lnTo>
                  <a:lnTo>
                    <a:pt x="0" y="502919"/>
                  </a:lnTo>
                  <a:lnTo>
                    <a:pt x="2784" y="555598"/>
                  </a:lnTo>
                  <a:lnTo>
                    <a:pt x="11045" y="607514"/>
                  </a:lnTo>
                  <a:lnTo>
                    <a:pt x="24647" y="658256"/>
                  </a:lnTo>
                  <a:lnTo>
                    <a:pt x="43452" y="707408"/>
                  </a:lnTo>
                  <a:lnTo>
                    <a:pt x="67322" y="754557"/>
                  </a:lnTo>
                  <a:lnTo>
                    <a:pt x="96130" y="798742"/>
                  </a:lnTo>
                  <a:lnTo>
                    <a:pt x="129242" y="839525"/>
                  </a:lnTo>
                  <a:lnTo>
                    <a:pt x="166382" y="876610"/>
                  </a:lnTo>
                  <a:lnTo>
                    <a:pt x="207273" y="909706"/>
                  </a:lnTo>
                  <a:lnTo>
                    <a:pt x="251637" y="938517"/>
                  </a:lnTo>
                  <a:lnTo>
                    <a:pt x="298608" y="962382"/>
                  </a:lnTo>
                  <a:lnTo>
                    <a:pt x="347654" y="981186"/>
                  </a:lnTo>
                  <a:lnTo>
                    <a:pt x="398344" y="994790"/>
                  </a:lnTo>
                  <a:lnTo>
                    <a:pt x="450243" y="1003054"/>
                  </a:lnTo>
                  <a:lnTo>
                    <a:pt x="502920" y="1005839"/>
                  </a:lnTo>
                  <a:lnTo>
                    <a:pt x="555598" y="1003054"/>
                  </a:lnTo>
                  <a:lnTo>
                    <a:pt x="607514" y="994790"/>
                  </a:lnTo>
                  <a:lnTo>
                    <a:pt x="658256" y="981186"/>
                  </a:lnTo>
                  <a:lnTo>
                    <a:pt x="707408" y="962382"/>
                  </a:lnTo>
                  <a:lnTo>
                    <a:pt x="754557" y="938517"/>
                  </a:lnTo>
                  <a:lnTo>
                    <a:pt x="798742" y="909706"/>
                  </a:lnTo>
                  <a:lnTo>
                    <a:pt x="839525" y="876610"/>
                  </a:lnTo>
                  <a:lnTo>
                    <a:pt x="876610" y="839525"/>
                  </a:lnTo>
                  <a:lnTo>
                    <a:pt x="909706" y="798742"/>
                  </a:lnTo>
                  <a:lnTo>
                    <a:pt x="938517" y="754557"/>
                  </a:lnTo>
                  <a:lnTo>
                    <a:pt x="962382" y="707408"/>
                  </a:lnTo>
                  <a:lnTo>
                    <a:pt x="981186" y="658256"/>
                  </a:lnTo>
                  <a:lnTo>
                    <a:pt x="994790" y="607514"/>
                  </a:lnTo>
                  <a:lnTo>
                    <a:pt x="1003054" y="555598"/>
                  </a:lnTo>
                  <a:lnTo>
                    <a:pt x="1005840" y="502919"/>
                  </a:lnTo>
                  <a:lnTo>
                    <a:pt x="1003054" y="450243"/>
                  </a:lnTo>
                  <a:lnTo>
                    <a:pt x="994790" y="398344"/>
                  </a:lnTo>
                  <a:lnTo>
                    <a:pt x="981186" y="347654"/>
                  </a:lnTo>
                  <a:lnTo>
                    <a:pt x="962382" y="298608"/>
                  </a:lnTo>
                  <a:lnTo>
                    <a:pt x="938517" y="251637"/>
                  </a:lnTo>
                  <a:lnTo>
                    <a:pt x="909706" y="207272"/>
                  </a:lnTo>
                  <a:lnTo>
                    <a:pt x="876610" y="166381"/>
                  </a:lnTo>
                  <a:lnTo>
                    <a:pt x="839525" y="129239"/>
                  </a:lnTo>
                  <a:lnTo>
                    <a:pt x="798742" y="96123"/>
                  </a:lnTo>
                  <a:lnTo>
                    <a:pt x="754557" y="67309"/>
                  </a:lnTo>
                  <a:lnTo>
                    <a:pt x="707408" y="43445"/>
                  </a:lnTo>
                  <a:lnTo>
                    <a:pt x="658256" y="24644"/>
                  </a:lnTo>
                  <a:lnTo>
                    <a:pt x="607514" y="11045"/>
                  </a:lnTo>
                  <a:lnTo>
                    <a:pt x="555598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D3E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users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8924" y="4996078"/>
              <a:ext cx="522719" cy="52271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844764" y="4426888"/>
            <a:ext cx="3543300" cy="129032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b="1" spc="-10">
                <a:solidFill>
                  <a:srgbClr val="FFFFFF"/>
                </a:solidFill>
                <a:latin typeface="Aptos Black"/>
                <a:cs typeface="Aptos Black"/>
              </a:rPr>
              <a:t>Workforce</a:t>
            </a:r>
            <a:endParaRPr sz="2000">
              <a:latin typeface="Aptos Black"/>
              <a:cs typeface="Aptos Black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It</a:t>
            </a:r>
            <a:r>
              <a:rPr sz="1600" spc="2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automates</a:t>
            </a:r>
            <a:r>
              <a:rPr sz="1600" spc="2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600" spc="2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repetitive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walk-</a:t>
            </a:r>
            <a:r>
              <a:rPr sz="1600" spc="35">
                <a:solidFill>
                  <a:srgbClr val="D3ECE3"/>
                </a:solidFill>
                <a:latin typeface="Segoe UI Symbol"/>
                <a:cs typeface="Segoe UI Symbol"/>
              </a:rPr>
              <a:t>and-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probe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work,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85">
                <a:solidFill>
                  <a:srgbClr val="D3ECE3"/>
                </a:solidFill>
                <a:latin typeface="Segoe UI Symbol"/>
                <a:cs typeface="Segoe UI Symbol"/>
              </a:rPr>
              <a:t>so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technicians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45">
                <a:solidFill>
                  <a:srgbClr val="D3ECE3"/>
                </a:solidFill>
                <a:latin typeface="Segoe UI Symbol"/>
                <a:cs typeface="Segoe UI Symbol"/>
              </a:rPr>
              <a:t>spend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their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time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>
                <a:solidFill>
                  <a:srgbClr val="D3ECE3"/>
                </a:solidFill>
                <a:latin typeface="Segoe UI Symbol"/>
                <a:cs typeface="Segoe UI Symbol"/>
              </a:rPr>
              <a:t>on</a:t>
            </a:r>
            <a:r>
              <a:rPr sz="16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75">
                <a:solidFill>
                  <a:srgbClr val="D3ECE3"/>
                </a:solidFill>
                <a:latin typeface="Segoe UI Symbol"/>
                <a:cs typeface="Segoe UI Symbol"/>
              </a:rPr>
              <a:t>analysis</a:t>
            </a:r>
            <a:r>
              <a:rPr sz="16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D3ECE3"/>
                </a:solidFill>
                <a:latin typeface="Segoe UI Symbol"/>
                <a:cs typeface="Segoe UI Symbol"/>
              </a:rPr>
              <a:t>and </a:t>
            </a:r>
            <a:r>
              <a:rPr sz="1600" spc="65">
                <a:solidFill>
                  <a:srgbClr val="D3ECE3"/>
                </a:solidFill>
                <a:latin typeface="Segoe UI Symbol"/>
                <a:cs typeface="Segoe UI Symbol"/>
              </a:rPr>
              <a:t>decisions.</a:t>
            </a:r>
            <a:endParaRPr sz="16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724" y="548640"/>
            <a:ext cx="3474720" cy="532765"/>
          </a:xfrm>
          <a:custGeom>
            <a:avLst/>
            <a:gdLst/>
            <a:ahLst/>
            <a:cxnLst/>
            <a:rect l="l" t="t" r="r" b="b"/>
            <a:pathLst>
              <a:path w="3474720" h="532765">
                <a:moveTo>
                  <a:pt x="3474351" y="0"/>
                </a:moveTo>
                <a:lnTo>
                  <a:pt x="0" y="0"/>
                </a:lnTo>
                <a:lnTo>
                  <a:pt x="0" y="532434"/>
                </a:lnTo>
                <a:lnTo>
                  <a:pt x="1737359" y="532434"/>
                </a:lnTo>
                <a:lnTo>
                  <a:pt x="3474351" y="532434"/>
                </a:lnTo>
                <a:lnTo>
                  <a:pt x="3474351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0"/>
              </a:spcBef>
            </a:pPr>
            <a:r>
              <a:rPr spc="16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338404" y="1371600"/>
            <a:ext cx="11512550" cy="5166360"/>
          </a:xfrm>
          <a:custGeom>
            <a:avLst/>
            <a:gdLst/>
            <a:ahLst/>
            <a:cxnLst/>
            <a:rect l="l" t="t" r="r" b="b"/>
            <a:pathLst>
              <a:path w="11512550" h="5166359">
                <a:moveTo>
                  <a:pt x="11305438" y="0"/>
                </a:moveTo>
                <a:lnTo>
                  <a:pt x="206641" y="0"/>
                </a:lnTo>
                <a:lnTo>
                  <a:pt x="178787" y="1799"/>
                </a:lnTo>
                <a:lnTo>
                  <a:pt x="179308" y="1799"/>
                </a:lnTo>
                <a:lnTo>
                  <a:pt x="153087" y="6975"/>
                </a:lnTo>
                <a:lnTo>
                  <a:pt x="103314" y="27724"/>
                </a:lnTo>
                <a:lnTo>
                  <a:pt x="60521" y="60523"/>
                </a:lnTo>
                <a:lnTo>
                  <a:pt x="27711" y="103314"/>
                </a:lnTo>
                <a:lnTo>
                  <a:pt x="7107" y="153092"/>
                </a:lnTo>
                <a:lnTo>
                  <a:pt x="0" y="206641"/>
                </a:lnTo>
                <a:lnTo>
                  <a:pt x="0" y="4959718"/>
                </a:lnTo>
                <a:lnTo>
                  <a:pt x="6903" y="5012910"/>
                </a:lnTo>
                <a:lnTo>
                  <a:pt x="27711" y="5063045"/>
                </a:lnTo>
                <a:lnTo>
                  <a:pt x="60521" y="5105836"/>
                </a:lnTo>
                <a:lnTo>
                  <a:pt x="103314" y="5138635"/>
                </a:lnTo>
                <a:lnTo>
                  <a:pt x="153087" y="5159251"/>
                </a:lnTo>
                <a:lnTo>
                  <a:pt x="206641" y="5166360"/>
                </a:lnTo>
                <a:lnTo>
                  <a:pt x="11305794" y="5166004"/>
                </a:lnTo>
                <a:lnTo>
                  <a:pt x="11359343" y="5159028"/>
                </a:lnTo>
                <a:lnTo>
                  <a:pt x="11409121" y="5138280"/>
                </a:lnTo>
                <a:lnTo>
                  <a:pt x="11451912" y="5105474"/>
                </a:lnTo>
                <a:lnTo>
                  <a:pt x="11484711" y="5062677"/>
                </a:lnTo>
                <a:lnTo>
                  <a:pt x="11505205" y="5013267"/>
                </a:lnTo>
                <a:lnTo>
                  <a:pt x="11510564" y="4986796"/>
                </a:lnTo>
                <a:lnTo>
                  <a:pt x="11510636" y="4986440"/>
                </a:lnTo>
                <a:lnTo>
                  <a:pt x="11512412" y="4959718"/>
                </a:lnTo>
                <a:lnTo>
                  <a:pt x="11512435" y="4959362"/>
                </a:lnTo>
                <a:lnTo>
                  <a:pt x="11512080" y="206641"/>
                </a:lnTo>
                <a:lnTo>
                  <a:pt x="11505104" y="153092"/>
                </a:lnTo>
                <a:lnTo>
                  <a:pt x="11484356" y="103314"/>
                </a:lnTo>
                <a:lnTo>
                  <a:pt x="11451550" y="60523"/>
                </a:lnTo>
                <a:lnTo>
                  <a:pt x="11408752" y="27724"/>
                </a:lnTo>
                <a:lnTo>
                  <a:pt x="11358986" y="7108"/>
                </a:lnTo>
                <a:lnTo>
                  <a:pt x="11332516" y="1799"/>
                </a:lnTo>
                <a:lnTo>
                  <a:pt x="11305438" y="0"/>
                </a:lnTo>
                <a:close/>
              </a:path>
            </a:pathLst>
          </a:custGeom>
          <a:solidFill>
            <a:srgbClr val="3C8F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5744" y="1632864"/>
            <a:ext cx="10878820" cy="391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7030" indent="249554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262255" algn="l"/>
              </a:tabLst>
            </a:pP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World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Food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Programme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(via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Xinhua),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“WFP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 says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hunger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kills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more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than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AIDS,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malaria,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tuberculosis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combined,”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-10">
                <a:solidFill>
                  <a:srgbClr val="D3ECE3"/>
                </a:solidFill>
                <a:latin typeface="Segoe UI Symbol"/>
                <a:cs typeface="Segoe UI Symbol"/>
              </a:rPr>
              <a:t>ReliefWeb, </a:t>
            </a:r>
            <a:r>
              <a:rPr sz="1400" spc="114">
                <a:solidFill>
                  <a:srgbClr val="D3ECE3"/>
                </a:solidFill>
                <a:latin typeface="Segoe UI Symbol"/>
                <a:cs typeface="Segoe UI Symbol"/>
              </a:rPr>
              <a:t>Jun.</a:t>
            </a:r>
            <a:r>
              <a:rPr sz="1400" spc="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4,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2009.</a:t>
            </a:r>
            <a:endParaRPr sz="1400">
              <a:latin typeface="Segoe UI Symbol"/>
              <a:cs typeface="Segoe UI Symbol"/>
            </a:endParaRPr>
          </a:p>
          <a:p>
            <a:pPr marL="12700" marR="438784" indent="287020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299720" algn="l"/>
              </a:tabLst>
            </a:pP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R.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Hanrahan,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“USDA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projects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ag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trade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deficit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will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fall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$41.5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billion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in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2026,”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Farm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Policy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News,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Univ.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of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Illinois,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Aug.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29,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2025.</a:t>
            </a:r>
            <a:endParaRPr sz="1400">
              <a:latin typeface="Segoe UI Symbol"/>
              <a:cs typeface="Segoe UI Symbol"/>
            </a:endParaRPr>
          </a:p>
          <a:p>
            <a:pPr marL="300355" indent="-28765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00355" algn="l"/>
              </a:tabLst>
            </a:pP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Source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55">
                <a:solidFill>
                  <a:srgbClr val="D3ECE3"/>
                </a:solidFill>
                <a:latin typeface="Segoe UI Symbol"/>
                <a:cs typeface="Segoe UI Symbol"/>
              </a:rPr>
              <a:t>49%</a:t>
            </a:r>
            <a:r>
              <a:rPr sz="1400" spc="10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crop-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field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figure: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team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400" spc="1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add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before</a:t>
            </a:r>
            <a:r>
              <a:rPr sz="1400" spc="1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-10">
                <a:solidFill>
                  <a:srgbClr val="D3ECE3"/>
                </a:solidFill>
                <a:latin typeface="Segoe UI Symbol"/>
                <a:cs typeface="Segoe UI Symbol"/>
              </a:rPr>
              <a:t>presenting.</a:t>
            </a:r>
            <a:endParaRPr sz="1400">
              <a:latin typeface="Segoe UI Symbol"/>
              <a:cs typeface="Segoe UI Symbol"/>
            </a:endParaRPr>
          </a:p>
          <a:p>
            <a:pPr marL="305435" indent="-292735">
              <a:lnSpc>
                <a:spcPct val="100000"/>
              </a:lnSpc>
              <a:spcBef>
                <a:spcPts val="1105"/>
              </a:spcBef>
              <a:buAutoNum type="arabicPlain"/>
              <a:tabLst>
                <a:tab pos="305435" algn="l"/>
              </a:tabLst>
            </a:pP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“Robotic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soil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sampler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is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slow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but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consistent”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(Rogo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Ag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SmartCore),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The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Western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Producer,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20">
                <a:solidFill>
                  <a:srgbClr val="D3ECE3"/>
                </a:solidFill>
                <a:latin typeface="Segoe UI Symbol"/>
                <a:cs typeface="Segoe UI Symbol"/>
              </a:rPr>
              <a:t>Jan.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2020.</a:t>
            </a:r>
            <a:endParaRPr sz="1400">
              <a:latin typeface="Segoe UI Symbol"/>
              <a:cs typeface="Segoe UI Symbol"/>
            </a:endParaRPr>
          </a:p>
          <a:p>
            <a:pPr marL="299085" indent="-28638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299085" algn="l"/>
              </a:tabLst>
            </a:pP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PiShop.us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Newark,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Raspberry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Pi </a:t>
            </a:r>
            <a:r>
              <a:rPr sz="1400" spc="110">
                <a:solidFill>
                  <a:srgbClr val="D3ECE3"/>
                </a:solidFill>
                <a:latin typeface="Segoe UI Symbol"/>
                <a:cs typeface="Segoe UI Symbol"/>
              </a:rPr>
              <a:t>3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Model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A+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product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pages,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accessed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 Oct.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2026.</a:t>
            </a:r>
            <a:endParaRPr sz="1400">
              <a:latin typeface="Segoe UI Symbol"/>
              <a:cs typeface="Segoe UI Symbol"/>
            </a:endParaRPr>
          </a:p>
          <a:p>
            <a:pPr marL="12700" marR="5080" indent="288290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00990" algn="l"/>
              </a:tabLst>
            </a:pP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raspberry.tips,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“Raspberry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Zero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2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W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sold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out: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why,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for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how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long,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which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alternative,”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Sep.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14,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10">
                <a:solidFill>
                  <a:srgbClr val="D3ECE3"/>
                </a:solidFill>
                <a:latin typeface="Segoe UI Symbol"/>
                <a:cs typeface="Segoe UI Symbol"/>
              </a:rPr>
              <a:t>2026;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power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-10">
                <a:solidFill>
                  <a:srgbClr val="D3ECE3"/>
                </a:solidFill>
                <a:latin typeface="Segoe UI Symbol"/>
                <a:cs typeface="Segoe UI Symbol"/>
              </a:rPr>
              <a:t>consumption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data,</a:t>
            </a:r>
            <a:r>
              <a:rPr sz="1400" spc="254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2026.</a:t>
            </a:r>
            <a:endParaRPr sz="1400">
              <a:latin typeface="Segoe UI Symbol"/>
              <a:cs typeface="Segoe UI Symbol"/>
            </a:endParaRPr>
          </a:p>
          <a:p>
            <a:pPr marL="292100" indent="-279400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292100" algn="l"/>
              </a:tabLst>
            </a:pP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M.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Larabel,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“Raspberry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Pi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5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2GB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price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increases</a:t>
            </a:r>
            <a:r>
              <a:rPr sz="1400" spc="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to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$77.50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USD,”</a:t>
            </a:r>
            <a:r>
              <a:rPr sz="1400" spc="1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Phoronix,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Oct.</a:t>
            </a:r>
            <a:r>
              <a:rPr sz="1400" spc="1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1,</a:t>
            </a:r>
            <a:r>
              <a:rPr sz="1400" spc="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2026.</a:t>
            </a:r>
            <a:endParaRPr sz="1400">
              <a:latin typeface="Segoe UI Symbol"/>
              <a:cs typeface="Segoe UI Symbol"/>
            </a:endParaRPr>
          </a:p>
          <a:p>
            <a:pPr marL="12700" marR="587375" indent="287655">
              <a:lnSpc>
                <a:spcPct val="100000"/>
              </a:lnSpc>
              <a:spcBef>
                <a:spcPts val="1100"/>
              </a:spcBef>
              <a:buAutoNum type="arabicPlain"/>
              <a:tabLst>
                <a:tab pos="300355" algn="l"/>
              </a:tabLst>
            </a:pP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RaceDayQuads,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0">
                <a:solidFill>
                  <a:srgbClr val="D3ECE3"/>
                </a:solidFill>
                <a:latin typeface="Segoe UI Symbol"/>
                <a:cs typeface="Segoe UI Symbol"/>
              </a:rPr>
              <a:t>SpeedyBee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25">
                <a:solidFill>
                  <a:srgbClr val="D3ECE3"/>
                </a:solidFill>
                <a:latin typeface="Segoe UI Symbol"/>
                <a:cs typeface="Segoe UI Symbol"/>
              </a:rPr>
              <a:t>F405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WING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95">
                <a:solidFill>
                  <a:srgbClr val="D3ECE3"/>
                </a:solidFill>
                <a:latin typeface="Segoe UI Symbol"/>
                <a:cs typeface="Segoe UI Symbol"/>
              </a:rPr>
              <a:t>APP;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Pyrodrone,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Holybro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Pixhawk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35">
                <a:solidFill>
                  <a:srgbClr val="D3ECE3"/>
                </a:solidFill>
                <a:latin typeface="Segoe UI Symbol"/>
                <a:cs typeface="Segoe UI Symbol"/>
              </a:rPr>
              <a:t>6C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Mini;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ArduPilot,</a:t>
            </a:r>
            <a:r>
              <a:rPr sz="1400" spc="7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5">
                <a:solidFill>
                  <a:srgbClr val="D3ECE3"/>
                </a:solidFill>
                <a:latin typeface="Segoe UI Symbol"/>
                <a:cs typeface="Segoe UI Symbol"/>
              </a:rPr>
              <a:t>“Firmware </a:t>
            </a:r>
            <a:r>
              <a:rPr sz="1400" spc="20">
                <a:solidFill>
                  <a:srgbClr val="D3ECE3"/>
                </a:solidFill>
                <a:latin typeface="Segoe UI Symbol"/>
                <a:cs typeface="Segoe UI Symbol"/>
              </a:rPr>
              <a:t>limitations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-25">
                <a:solidFill>
                  <a:srgbClr val="D3ECE3"/>
                </a:solidFill>
                <a:latin typeface="Segoe UI Symbol"/>
                <a:cs typeface="Segoe UI Symbol"/>
              </a:rPr>
              <a:t>on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autopilot</a:t>
            </a:r>
            <a:r>
              <a:rPr sz="14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hardware”;</a:t>
            </a:r>
            <a:r>
              <a:rPr sz="1400" spc="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accessed</a:t>
            </a:r>
            <a:r>
              <a:rPr sz="1400" spc="55">
                <a:solidFill>
                  <a:srgbClr val="D3ECE3"/>
                </a:solidFill>
                <a:latin typeface="Segoe UI Symbol"/>
                <a:cs typeface="Segoe UI Symbol"/>
              </a:rPr>
              <a:t> Oct.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75">
                <a:solidFill>
                  <a:srgbClr val="D3ECE3"/>
                </a:solidFill>
                <a:latin typeface="Segoe UI Symbol"/>
                <a:cs typeface="Segoe UI Symbol"/>
              </a:rPr>
              <a:t>2026.</a:t>
            </a:r>
            <a:endParaRPr sz="1400">
              <a:latin typeface="Segoe UI Symbol"/>
              <a:cs typeface="Segoe UI Symbol"/>
            </a:endParaRPr>
          </a:p>
          <a:p>
            <a:pPr marL="300990" indent="-288290">
              <a:lnSpc>
                <a:spcPct val="100000"/>
              </a:lnSpc>
              <a:spcBef>
                <a:spcPts val="1105"/>
              </a:spcBef>
              <a:buAutoNum type="arabicPlain"/>
              <a:tabLst>
                <a:tab pos="300990" algn="l"/>
              </a:tabLst>
            </a:pPr>
            <a:r>
              <a:rPr sz="1400" spc="45">
                <a:solidFill>
                  <a:srgbClr val="D3ECE3"/>
                </a:solidFill>
                <a:latin typeface="Segoe UI Symbol"/>
                <a:cs typeface="Segoe UI Symbol"/>
              </a:rPr>
              <a:t>Actuonix</a:t>
            </a:r>
            <a:r>
              <a:rPr sz="1400" spc="13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L16-140-150-</a:t>
            </a:r>
            <a:r>
              <a:rPr sz="1400" spc="-10">
                <a:solidFill>
                  <a:srgbClr val="D3ECE3"/>
                </a:solidFill>
                <a:latin typeface="Segoe UI Symbol"/>
                <a:cs typeface="Segoe UI Symbol"/>
              </a:rPr>
              <a:t>12-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P</a:t>
            </a:r>
            <a:r>
              <a:rPr sz="1400" spc="1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400" spc="1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P16-150-</a:t>
            </a:r>
            <a:r>
              <a:rPr sz="1400" spc="90">
                <a:solidFill>
                  <a:srgbClr val="D3ECE3"/>
                </a:solidFill>
                <a:latin typeface="Segoe UI Symbol"/>
                <a:cs typeface="Segoe UI Symbol"/>
              </a:rPr>
              <a:t>256-</a:t>
            </a:r>
            <a:r>
              <a:rPr sz="1400" spc="-10">
                <a:solidFill>
                  <a:srgbClr val="D3ECE3"/>
                </a:solidFill>
                <a:latin typeface="Segoe UI Symbol"/>
                <a:cs typeface="Segoe UI Symbol"/>
              </a:rPr>
              <a:t>12-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P</a:t>
            </a:r>
            <a:r>
              <a:rPr sz="1400" spc="1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specifications,</a:t>
            </a:r>
            <a:r>
              <a:rPr sz="1400" spc="1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50">
                <a:solidFill>
                  <a:srgbClr val="D3ECE3"/>
                </a:solidFill>
                <a:latin typeface="Segoe UI Symbol"/>
                <a:cs typeface="Segoe UI Symbol"/>
              </a:rPr>
              <a:t>ThingBits</a:t>
            </a:r>
            <a:r>
              <a:rPr sz="1400" spc="14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and</a:t>
            </a:r>
            <a:r>
              <a:rPr sz="1400" spc="12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>
                <a:solidFill>
                  <a:srgbClr val="D3ECE3"/>
                </a:solidFill>
                <a:latin typeface="Segoe UI Symbol"/>
                <a:cs typeface="Segoe UI Symbol"/>
              </a:rPr>
              <a:t>RobotShop,</a:t>
            </a:r>
            <a:r>
              <a:rPr sz="1400" spc="14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100">
                <a:solidFill>
                  <a:srgbClr val="D3ECE3"/>
                </a:solidFill>
                <a:latin typeface="Segoe UI Symbol"/>
                <a:cs typeface="Segoe UI Symbol"/>
              </a:rPr>
              <a:t>accessed</a:t>
            </a:r>
            <a:r>
              <a:rPr sz="1400" spc="130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60">
                <a:solidFill>
                  <a:srgbClr val="D3ECE3"/>
                </a:solidFill>
                <a:latin typeface="Segoe UI Symbol"/>
                <a:cs typeface="Segoe UI Symbol"/>
              </a:rPr>
              <a:t>Oct.</a:t>
            </a:r>
            <a:r>
              <a:rPr sz="1400" spc="135">
                <a:solidFill>
                  <a:srgbClr val="D3ECE3"/>
                </a:solidFill>
                <a:latin typeface="Segoe UI Symbol"/>
                <a:cs typeface="Segoe UI Symbol"/>
              </a:rPr>
              <a:t> </a:t>
            </a:r>
            <a:r>
              <a:rPr sz="1400" spc="85">
                <a:solidFill>
                  <a:srgbClr val="D3ECE3"/>
                </a:solidFill>
                <a:latin typeface="Segoe UI Symbol"/>
                <a:cs typeface="Segoe UI Symbol"/>
              </a:rPr>
              <a:t>2026.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5892381"/>
            <a:ext cx="2838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0">
                <a:solidFill>
                  <a:srgbClr val="FFFFFF"/>
                </a:solidFill>
                <a:latin typeface="Aptos Black"/>
                <a:cs typeface="Aptos Black"/>
              </a:rPr>
              <a:t>Questions?</a:t>
            </a:r>
            <a:endParaRPr sz="4000">
              <a:latin typeface="Aptos Black"/>
              <a:cs typeface="Aptos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0454" y="5966477"/>
            <a:ext cx="2846705" cy="5607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85"/>
              </a:spcBef>
            </a:pPr>
            <a:r>
              <a:rPr sz="1600">
                <a:solidFill>
                  <a:srgbClr val="FFFFFF"/>
                </a:solidFill>
                <a:latin typeface="Segoe UI Symbol"/>
                <a:cs typeface="Segoe UI Symbol"/>
              </a:rPr>
              <a:t>Mid-</a:t>
            </a:r>
            <a:r>
              <a:rPr sz="1600" spc="70">
                <a:solidFill>
                  <a:srgbClr val="FFFFFF"/>
                </a:solidFill>
                <a:latin typeface="Segoe UI Symbol"/>
                <a:cs typeface="Segoe UI Symbol"/>
              </a:rPr>
              <a:t>Semester</a:t>
            </a:r>
            <a:r>
              <a:rPr sz="1600" spc="9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50">
                <a:solidFill>
                  <a:srgbClr val="FFFFFF"/>
                </a:solidFill>
                <a:latin typeface="Segoe UI Symbol"/>
                <a:cs typeface="Segoe UI Symbol"/>
              </a:rPr>
              <a:t>Design</a:t>
            </a:r>
            <a:r>
              <a:rPr sz="1600" spc="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55">
                <a:solidFill>
                  <a:srgbClr val="FFFFFF"/>
                </a:solidFill>
                <a:latin typeface="Segoe UI Symbol"/>
                <a:cs typeface="Segoe UI Symbol"/>
              </a:rPr>
              <a:t>Review</a:t>
            </a:r>
            <a:endParaRPr sz="1600">
              <a:latin typeface="Segoe UI Symbol"/>
              <a:cs typeface="Segoe UI Symbol"/>
            </a:endParaRPr>
          </a:p>
          <a:p>
            <a:pPr marR="5080" algn="r">
              <a:lnSpc>
                <a:spcPct val="100000"/>
              </a:lnSpc>
              <a:spcBef>
                <a:spcPts val="185"/>
              </a:spcBef>
            </a:pPr>
            <a:r>
              <a:rPr sz="1600">
                <a:solidFill>
                  <a:srgbClr val="FFFFFF"/>
                </a:solidFill>
                <a:latin typeface="Segoe UI Symbol"/>
                <a:cs typeface="Segoe UI Symbol"/>
              </a:rPr>
              <a:t>Fall</a:t>
            </a:r>
            <a:r>
              <a:rPr sz="1600" spc="16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600" spc="90">
                <a:solidFill>
                  <a:srgbClr val="FFFFFF"/>
                </a:solidFill>
                <a:latin typeface="Segoe UI Symbol"/>
                <a:cs typeface="Segoe UI Symbol"/>
              </a:rPr>
              <a:t>2026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303" y="6456133"/>
            <a:ext cx="4842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Digital</a:t>
            </a:r>
            <a:r>
              <a:rPr sz="1800" spc="1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Instrument</a:t>
            </a:r>
            <a:r>
              <a:rPr sz="1800" spc="17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for</a:t>
            </a:r>
            <a:r>
              <a:rPr sz="1800" spc="185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>
                <a:solidFill>
                  <a:srgbClr val="FFFFFF"/>
                </a:solidFill>
                <a:latin typeface="Segoe UI Symbol"/>
                <a:cs typeface="Segoe UI Symbol"/>
              </a:rPr>
              <a:t>Remote</a:t>
            </a:r>
            <a:r>
              <a:rPr sz="1800" spc="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 spc="60">
                <a:solidFill>
                  <a:srgbClr val="FFFFFF"/>
                </a:solidFill>
                <a:latin typeface="Segoe UI Symbol"/>
                <a:cs typeface="Segoe UI Symbol"/>
              </a:rPr>
              <a:t>Terrain</a:t>
            </a:r>
            <a:r>
              <a:rPr sz="1800" spc="18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800" spc="45">
                <a:solidFill>
                  <a:srgbClr val="FFFFFF"/>
                </a:solidFill>
                <a:latin typeface="Segoe UI Symbol"/>
                <a:cs typeface="Segoe UI Symbol"/>
              </a:rPr>
              <a:t>Testing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d4f9c4-691a-4cfc-8794-bcdaec4218e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68F44BA4F17D49BAFF7B0F13CB86EE" ma:contentTypeVersion="8" ma:contentTypeDescription="Create a new document." ma:contentTypeScope="" ma:versionID="cc9227049978749e4265c9a9d63e4b34">
  <xsd:schema xmlns:xsd="http://www.w3.org/2001/XMLSchema" xmlns:xs="http://www.w3.org/2001/XMLSchema" xmlns:p="http://schemas.microsoft.com/office/2006/metadata/properties" xmlns:ns3="9ad4f9c4-691a-4cfc-8794-bcdaec4218ec" xmlns:ns4="6a80222d-8d00-469b-8b0c-bd83c4235313" targetNamespace="http://schemas.microsoft.com/office/2006/metadata/properties" ma:root="true" ma:fieldsID="3b86bb83492e756446c4011ecfcaa867" ns3:_="" ns4:_="">
    <xsd:import namespace="9ad4f9c4-691a-4cfc-8794-bcdaec4218ec"/>
    <xsd:import namespace="6a80222d-8d00-469b-8b0c-bd83c42353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d4f9c4-691a-4cfc-8794-bcdaec4218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80222d-8d00-469b-8b0c-bd83c423531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37A091-A0A2-4045-83F7-E20F06DFE2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5085DC-2BAE-48E5-94D1-7AE2363A5CE0}">
  <ds:schemaRefs>
    <ds:schemaRef ds:uri="http://schemas.microsoft.com/office/2006/documentManagement/types"/>
    <ds:schemaRef ds:uri="http://purl.org/dc/dcmitype/"/>
    <ds:schemaRef ds:uri="http://www.w3.org/XML/1998/namespace"/>
    <ds:schemaRef ds:uri="9ad4f9c4-691a-4cfc-8794-bcdaec4218ec"/>
    <ds:schemaRef ds:uri="http://schemas.microsoft.com/office/2006/metadata/properties"/>
    <ds:schemaRef ds:uri="http://purl.org/dc/elements/1.1/"/>
    <ds:schemaRef ds:uri="6a80222d-8d00-469b-8b0c-bd83c4235313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B2FABF2-F6F5-480E-97C8-16C1F2F5F7DB}">
  <ds:schemaRefs>
    <ds:schemaRef ds:uri="6a80222d-8d00-469b-8b0c-bd83c4235313"/>
    <ds:schemaRef ds:uri="9ad4f9c4-691a-4cfc-8794-bcdaec4218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2695</Words>
  <Application>Microsoft Office PowerPoint</Application>
  <PresentationFormat>Widescreen</PresentationFormat>
  <Paragraphs>445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Black</vt:lpstr>
      <vt:lpstr>Arial</vt:lpstr>
      <vt:lpstr>Calibri</vt:lpstr>
      <vt:lpstr>Segoe UI</vt:lpstr>
      <vt:lpstr>Segoe UI Symbol</vt:lpstr>
      <vt:lpstr>Times New Roman</vt:lpstr>
      <vt:lpstr>Office Theme</vt:lpstr>
      <vt:lpstr>PowerPoint Presentation</vt:lpstr>
      <vt:lpstr>Team Members</vt:lpstr>
      <vt:lpstr>The Problem</vt:lpstr>
      <vt:lpstr>Competitive Advantage</vt:lpstr>
      <vt:lpstr>System Diagram</vt:lpstr>
      <vt:lpstr>Features</vt:lpstr>
      <vt:lpstr>Constraints</vt:lpstr>
      <vt:lpstr>Requirements</vt:lpstr>
      <vt:lpstr>Standards</vt:lpstr>
      <vt:lpstr>Component 1: Flight Controller</vt:lpstr>
      <vt:lpstr>Component 2: Robot Computer</vt:lpstr>
      <vt:lpstr>Component 3: Probe Actuator</vt:lpstr>
      <vt:lpstr>Gantt Chart: Capstone I</vt:lpstr>
      <vt:lpstr>Capstone I Deliverables</vt:lpstr>
      <vt:lpstr>Future Work</vt:lpstr>
      <vt:lpstr>Broader Impact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Nolan Brechtel</dc:creator>
  <cp:lastModifiedBy>Brechtel, Nolan</cp:lastModifiedBy>
  <cp:revision>1</cp:revision>
  <dcterms:created xsi:type="dcterms:W3CDTF">2026-10-13T21:16:26Z</dcterms:created>
  <dcterms:modified xsi:type="dcterms:W3CDTF">2026-10-18T19:01:13Z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2026-10-13T00:00:00Z</vt:filetime>
  </property>
  <property fmtid="{D5CDD505-2E9C-101B-9397-08002B2CF9AE}" pid="7" name="ContentTypeId">
    <vt:lpwstr>0x010100DB68F44BA4F17D49BAFF7B0F13CB86EE</vt:lpwstr>
  </property>
</Properties>
</file>